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deck: the headline on each slide is the one-sentence takeaway for executives. The body is the level of detail for SEs and technical buyers. Speaker notes carry developer detail (directories, ports, flags). The appendix (ports, flags) is for developer onboarding.
Companion FAQ: docs/FAQ.md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 detail:
- 62 use cases: demo_api_server/config/useCases.js, served by GET /api/use-cases. Sign-in gates: demo_api_server/config/auth-requirements.json.
- 11 verticals (VERTICALS in useCases.js): banking, healthcare, retail, abercrombie-fitch, government, university, workforce, sporting-goods (Super Sports), manufacturing, investment, airlines.
- Agent frameworks, selected by the llm_framework setting: langchain (default), openai_agents, mastra, pydantic_ai.
- Zero tokens in the browser: docs/adr/0006-bff-only-token-custody.md.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 detail:
- Core services start with ./run-docker.sh (list in run-docker.sh CORE_SERVICES, plus the rag group by default).
- Opt-in groups: ./run-docker.sh optional start &lt;group&gt; with demo-auth (Node MCP gateway :3005, Authorize mock :9001), agents (openai :8891, mastra :8892, pydantic :8893), tracing (Jaeger), observability (Prometheus, Loki, Grafana, Alertmanager), mcpgw (self-hosted Privilege gateway).
- PingGateway is the default MCP gateway (ff_mcp_gateway_pinggateway ON). Inside the stack it listens on 8080; the host port is 3036.
- The BFF also exposes a loopback MCP facade on 3002.
- Directories: BFF demo_api_server/, UI demo_api_ui/, banking MCP oauth-mcp/, invest MCP demo_mcp_resource_server/, mortgage demo_api_resource_server/, HITL demo_hitl_service/, LLM proxy demo_llm_proxy/.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 detail:
- In-app agent: demo_api_server/services/demoAgentLangGraphService.js drives agent-service; tool calls go runMcpToolPipeline, then callToolViaGateway.
- Other frameworks: openai_agent/, mastra_agent/, pydantic_agent/ expose POST /run (BFF_INTERNAL_SECRET); they call tools back through the BFF, which holds the delegated token.
- A2A: demo_api_server/config/a2aSpecialists.js, flag ff_a2a_delegation.
- Standalone public repos (canonical copies live in this repo): github.com/curtismu7/ai-gateway-client (standalone/ai-gateway-client/), github.com/curtismu7/mcp-inspector (standalone/mcp-inspector/), github.com/curtismu7/llm-gateway (demo_llm_proxy/).
- LibreChat: librechat/ has its own compose file, port 3080. Its local config reaches the banking MCP server with auth disabled, so it is a convenience path, not a security demo.
- Copilot Studio token broker: agent_token_service (:8097), scope agent:invoke.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 detail (use case IDs are in demo_api_server/config/useCases.js; each has docs/use-cases/&lt;slug&gt;.md):
- Sign-in: routes/oauthUser.js (PKCE, S256 required), components/FidoStepUpModal.js, routes/davinciLogin.js, /davinci-sdk-login, /sdk-login.
- Delegation: UC1 delegated access, UC3 may_act gate, UC17 short-lived credentials, UC33 mortgage.
- Intent: PAR (RFC 9126) plus RAR (RFC 9396); a transfer over the approved amount or payee is denied. UC14 and UC14b need ff_rar plus the RarMaxAmount rule imported into PingOne Authorize.
- Step-up: UC7 ($500 threshold) needs step_up_enabled. CIBA: UC22, needs ciba_enabled; approval page /ciba-approve.
- Token attacks: UC5 scope, UC10 cross-owner, UC11 audience, UC12 replay (DPoP needs ff_dpop), UC13 actor injection, UC16 impersonation. UC15 and UC29 are still marked needs-build.
- Enterprise MCP: UC25, UC39, UC40 need ff_enterprise_managed_mcp_auth. PingOne does not yet issue native ID-JAG; routes/xaaIdJagDemo.js is a mock.
- The Protocol Playground (/protocol-playground) PKCE, PAR and DPoP steps are self-contained mocks with no PingOne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 detail:
- Agent chat to MCP tools: SPA, then BFF, then gateway, then banking MCP (8080), invest (8081), mortgage (8082). UC34 free-form reasoning uses the same exchange, gateway and Authorize path as a chip.
- HITL: UC8 raises a 428 from the BFF; the consent modal plus email OTP produces a single-use receipt (demo_hitl_service). UC27 shows a client claiming prior consent being refused. UC23 walks progressive trust. ff_hitl_enabled defaults ON.
- The $250 / $500 / $2,000 thresholds are the simulated Authorize engine defaults (demo_authz_server); a real PingOne Authorize policy can differ.
- A2A: UC2 nested act chain from two exchanges; UC2.5 orchestrator (a2aOrchestratorService.js); UC2.6 unregistered generalist denied; UC2.7 the Linux Foundation A2A wire protocol side by side (/a2a-protocol-learning, public).
- Third-party tools: UC32 flips ff_weather_mcp_allowed_state live with no restart. UC26 gives a live verdict for every use case.
- Governance: UC-NHI1 inventory, UC-NHI2 lifecycle export (admin), UC19 credential retirement, ADMIN1–13 PingOne admin agent on the hosted PingOne MCP (config/admin/demoSteps.js).
- Flag-gated: UC37 Verified Trust (ff_verified_trust_a2a, not demo-ready), UC38 concierge (ff_personal_agent_concierge, airlines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 detail:
- Sign-in: PKCE S256 required, the customer app has no client secret (routes/oauthUser.js). Token custody: docs/adr/0006-bff-only-token-custody.md.
- Before the model: services/promptGuard.js (ff_prompt_injection_guard, default ON). LLM token custody rules: REGRESSION_PLAN.md section 1; services/agentReasoningClient.js, routes/agentTool.js. JWTs are stripped from every tool result the model sees.
- Exchange: services/mcpToolPipeline.js. UC16 enforcement (ff_require_act_for_agent_tools) at the Node gateway also needs REQUIRE_ACT_FOR_AGENT_TOOLS=true.
- Gateway: demo_mcp_gateway/src/auth/GatewayTokenPolicy.ts and ping-gateway/. mTLS to MCP servers: MCP_MTLS_ON in the root .env (recreate containers to change it).
- Policy: authorize_mode is pingone, simulated or pingone_with_fallback; ff_authorize_fail_open is OFF by default.
- Human and audit: demo_hitl_service single-use receipts; routes/ciba.js; step_up_enabled; ff_transaction_ledger; RFC 7009 revocation; Grafana, Loki, Jaeger; docs/incident-response/README.md.
- Honest gaps to acknowledge if asked: the agent-to-agent hop has no proof-of-possession (PingOne cannot yet issue sender-constrained tokens, see TECH_DEBT.md), and tool poisoning isn't detected. Live probe, 2026-09-13: a create_transfer carrying injected [SYSTEM: ...] text got PingGateway's standard 428 consent challenge with real PingOne Authorize, no money moved, and nothing flagged the injected text. Approving would run it with the text intact (from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 detail:
- The browser sends only a session cookie; the BFF holds every token.
- Exchange #1 (BFF): user token as subject, agent as actor, gives a token for the gateway with act = agent.
- Exchange #2 (gateway): gives a token scoped to one backend. MCP_GW_PASSTHROUGH_TO_MCP_SERVER=false in docker-compose.yml; PingGateway does an IG-native RFC 8693 exchange. Weather and Brave get the token forwarded unchanged. Some older docs (ARCHITECTURE.md, ARCHITECTURE-TRUTHS T-2/T-5) still describe a single exchange; compose is the source of truth.
- Gateway default is PingGateway; the Node gateway (demo_mcp_gateway, :3005) is the opt-in alternative.
- Authorize answers PERMIT, DENY or INDETERMINATE; INDETERMINATE from the demo engine means pause for consent or step-up.
- MCP servers re-check audience and scope as the last line. The mortgage backend takes an API key instead.
- Optional: the PingOne Agent Privilege can sit in front of the Agent Gateway (ff_mcp_gateway_privilege_first, SE cluster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it runs: one agentless Agent Privilege (Helm release agentless-mcpgw, namespace ping-devops-curtismuir) on the Ping SE cluster, in PingOne tenant 0428ba4f, federated into the demo tenant. MCP doors: https://mcpgw.ai-demo.ping-devops.com/&lt;App&gt;/mcp; LLM lanes /llm/{openai,anthropic,google}/v1 on the same host (privilege/CURRENT-CONFIGURATION.md).
MCP gateway: a JSON-RPC POST gets a 401 pointing at RFC 9728 metadata; the client registers (POST /&lt;app&gt;/register) and runs PKCE. The gateway keeps registrations in memory, so a restart forgets them; the BFF re-registers via isDcrClientStillKnown (routes/privilegeMcpClient.js). Doors on /privilege-mcp-client: Direct (no Privilege), Privilege (policy enforced), Facade (same policy, client registered with the demo's own auth server).
Policy traps (privilege/LESSONS-LEARNED.md): policies union, so delete extras instead of editing; a new app denies everything; an expired policy looks like a missing one; clients only see a bare 403.
Privilege first: ff_mcp_gateway_privilege_first puts Privilege in front of the Agent Gateway, with the user token in X-Subject-Token (services/mcpGatewayTransport.js). ff_privilege_llm_first sends google and anthropic calls through Privilege virtual keys (services/llmProviderResolver.js, privilegeLlmProxyService.js).
Guardrails: prompt injection, jailbreak and hidden instructions scan the input; malicious content, PII and data exfiltration scan the output, so a model that refuses gives nothing to catch. Alert and Sanitize verdicts appear only on the gateway dashboard. Optional ML sidecar: demo_mcp_promptguard.
Also: PingOne Privilege PAM for just-in-time access to AWS, S3 and Kubernetes (UC-PAM-SETUP / UC-PAM-SCRIPT; the in-app tab links are stale, the demo runs in the Privilege console). ADMIN13 governs PingOne MCP with Privilege.
Not demo-ready: banking-mcp through the Privilege door (tools/call fails with token_not_found, a vendor issue). Demo risks: expired policies, gateway restarts, and privilege-first MCP needs a sign-in at /privilege-mcp-client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Simulator: demo_api_server/services/attackSimulatorService.js (sim IDs mapped to use cases at lines 54-65), run via POST /api/demo/attack-sim/run (routes/attackSimulator.js). The route returns 403 when NODE_ENV=production or ff_use_cases_launcher is false, and always answers HTTP 200 with the sim's real status in the body.
Only rogue-actor (UC13) and cross-owner-account (UC10) run the full BFF pipeline; the others probe the gateway perimeter. UC5 and UC18 always target the Node Demo Agent Gateway, even when PingGateway is active, so they need that container up.
Caveats: UC12 tests audience binding only, never DPoP, even though its flag is ff_dpop. UC14 needs ff_rar. UC16 returns 403 by design while the catalog still expects 401. The simulator leaves ff_mcp_rate_limit and ff_rar switched on afterwards.
AI layer: the BFF prompt guard (services/promptGuard.js, promptSanitizer.js, 7 regexes, default on) is keyword-based and easy to phrase around. The Agent Privilege is the stronger layer: prompt injection and jailbreak return HTTP 400; PII and exfiltration are redacted in a 200. Malicious content, tool abuse, tool poisoning, schema violation and inter-agent abuse presets get no verdict there (demo_api_ui/src/config/guardrailAttackCatalog.js). The ML promptguard sidecar runs only in the SE cluster.
Red team, nothing blocks: argument-level tool poisoning (only the normal 428 approval gate, confirmed live on 2026-09-13 with nothing flagging the injected text; approving executes it, toolAttackCatalog.js), the hostile MCP server (standalone/hostile-mcp-server, deliberately not behind the gateway), and the ungoverned OpenCLI agent (UC-LEARN7, compose profile demo-attack). Present these as the contrast, not as blocked.
Framework mapping: every use case carries OWASP Agentic (ASI) threat tags; see OwaspLearnerPage.js. MITRE ATLAS and NIST labels appear only in Privilege's own verdict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sources and who can see what:
- Token chain panel: TokenChainContext plus /api/token-chain, scoped to the signed-in user.
- /transaction-trace: routes/transactionTrace.js reads the LMDB ledger (500 records); non-admins see only their own PingOne sub. Returns 403 when ff_transaction_ledger is off. A decision is labelled 'inferred' when the gateway guessed it from the HTTP status.
- Gateway decisions: ping-gateway/scripts/groovy/p1az-decision.groovy posts each decision trail to /internal/gateway-decision (needs BFF_TRANSACTION_HOP_URL and BFF_INTERNAL_SECRET) into a 50-entry in-memory buffer (services/agentGatewayDecisions.js). Shown on /agent-gateway-inspector below the inspector; scroll down.
- /audit (UC20): LMDB mcpAuditStore, fed by the Node gateway.
- /monitoring/p1az reads New Relic, not PingGateway; blank without New Relic.
- Grafana dashboards in monitoring/grafana/dashboards/: agent-gateway, agents, mcp-servers, p1az-decisions, pinggateway, pingone-webhook, server-events. Alertmanager's receiver is a no-op.
Gaps to know before showing it:
- The decision feed is lost on restart, has no correlation id (can't be joined to the trace), and only PingGateway posts to it; the Node gateway path leaves it empty.
- The raw log window on /agent-gateway-inspector is open to any signed-in user and not filtered by user.
- /api/app-events has no auth; /api/token-chain/events and /llm/guardrail-attempts are not filtered by user.
- The Grafana P1AZ dashboard counts only PERMIT and DENY, so INDETERMINATE is dropped.
- The trace page's Jaeger link points at a route that no longer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registries: oauth-mcp/src/tools/BankingToolRegistry.ts; demo_mcp_resource_server/src/tools/*Tools.ts; demo_mcp_gateway/src/router.ts (weather, Brave, audit). mcp-tool-schemas.json is the generated union of 252 tools (copy in ping-gateway/config/).
Gateways: PingGateway is the default (host :3036). Its main routes introspect tokens; the *-jwks.json twins are used when a request sends X-Token-Validation: jwks. Every route runs request validation, audit and the P1AZ decision script. The Node gateway (:3005, demo-auth group) validates with JWKS only. The Agent Privilege runs as Agentic Apps on the SE cluster (local ping-mcpgw is the opt-in mcpgw group).
Transports: oauth-mcp speaks WebSocket and Streamable HTTP /mcp; Brave, Grafana and the PingOne bridge also answer the SSE handshake Privilege uses for discovery; weather and the PingOne bridge wrap stdio-only upstreams. MCP_MTLS_ON is unset in the root .env, so the gateway to oauth-mcp hop is plaintext.
Start-up: oauth-mcp, resource server, weather, Brave and the MCP proxy are core; code search is the rag group (on by default) and is plain REST, not MCP; jwt-verifier is demo-auth; opensearch is mcpgw; the hostile server runs with npm start, outside compose. mcp-audit has no compose profile but isn't in run-docker.sh's core list.
Also: the BFF MCP facade (:3002, routes/mcpFacade.js) is a recording proxy with doors for outside clients such as LM Studio and LibreChat. demo_mcp_proxy (:8895) turns REST calls into MCP calls for simple agents.
Stale docs: README still names demo_mcp_server and describes the Node gateway as the live path; docs/MCP_SERVER_EDUCATION.md still shows WebSocket on :3001.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Widget (/davinci-login-guide, DavinciLoginGuidePage.jsx; routes/davinciLogin.js): the BFF's /sdk-token posts to orchestrate-api.pingone.com/v1/company/{id}/sdktoken with the DaVinci API key (read from configStore and the vault), keeps nonce, state and PKCE verifier in the session, and the page loads assets.pingone.com/davinci/latest/davinci.js to render DaVinci's screens. Config keys: PINGONE_DAVINCI_LOGIN_COMPANY_ID, PINGONE_DAVINCI_LOGIN_POLICY_ID_V1/_V2, PINGONE_DAVINCI_API_KEY; config davinci_login_flow_version. Gotcha: successCallback gets whatever the flow's last node returns, not an authorization code. Open PR #3245 replaces today's hand-off (a DV-ST cookie plus an /authorize hop that doesn't sign the user in unless a PingOne session already exists) with POST /api/davinci-login/widget-session, which verifies the flow's returned tokens; widget sessions will then end when the access token expires.
Orchestration SDK (/davinci-sdk-login, DavinciSdkLoginPage.jsx, lib/davinciSdkClient.js, routes/davinciSdkLogin.js): @forgerock/davinci-client calls /as/authorize with response_mode=pi.flow and gets JSON nodes; the page renders collectors (Text, Password, Submit, Flow) and calls next(); the code comes back in the JSON body and the BFF exchanges it as a public client with PKCE, no secret. Key: PINGONE_DAVINCI_LOGIN_APP_ID. Request the Demo API scopes: OIDC-only scopes gave a token for api.pingone.com and every later call 401'd (#3224). An existing PingOne session shows a 'reused' panel (#3228). The flow policy must be assigned to the app, or /as/authorize returns 500. UC-LEARN10 points at the static /orchestration-sdk explainer.
Transaction step-up (ff_davinci_orchestration, off): routes/transactions.js calls confirmChallengeViaDaVinci (services/transactionConsentChallenge.js). Errors fall back to the built-in OTP/MFA path, but a non-PERMIT decision returns 403 davinci_denied. Not demo-ready: services/davinciFlowClient.js sends clientId:clientSecret as the bearer, a placeholder that will 401 against a real tenant. Mid-flow callbacks hit POST /webhook/davinci, unauthenticated by design (the same accepted trade-off as the PingOne webhook). Flow exports: docs/Super_Banking_Transaction_Authorization_DaVinci.json, docs/Super_Banking_MCP_Tool_Authorization_DaVinci.json.
Also: Verified Trust (UC37, ff_verified_trust_a2a, off) starts a DaVinci flow by API key; there is no flow for it on the tenant yet. 'Demo AI App - CIBA (DaVinci)' exists only as manual setup steps. ADMIN10–12 use the hosted PingOne MCP, with no offline mock data.
In flight: PR #3245 (widget), and another session is building a shared lesson layout so the widget and SDK lessons look alike. Stale: docs/DAVINCI_ORCHESTRATION_STATUS.md describes pages that no longer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Diagrams: SequenceReelDiagram.jsx draws the live sequence diagram from the token-chain trace (tokenChainTraceStore, deriveLifelineSteps.js); lane names repeat at the foot (#3231) and it draws only steps that ran. Pages: /transaction-trace, /architecture/* (token-flow, token-chain, system). Sources: docs/diagrams/*.mmd built by npm run build:diagrams; 24 drawio files in docs/.
Secret rotation: /secret-rotation (pages/SecretRotationPage.jsx, routes/secretRotation.js) runs scripts/rotate-app-secret.js detached: regenerate in PingOne, write the vault, then .env; the page prints the k8s step rather than patching k8s itself. PingOne keeps no previous secret, so the old one dies at once. The worker app is refused; 20 apps are rotatable (refresh-service-envs.js). The API is gated at user level, not admin (a recorded owner decision). Never rotate 'PingOne Privilege' (a6219652): nothing in code blocks it by hand. Recreate containers after .env changes; a restart keeps the old value.
Light/dark: THEMING.md; dark is :root[data-theme="dark"], never prefers-color-scheme. ThemeContext.js stores ba_dark_mode; the toggle is in TopNav. themingRatchet.test.js caps unthemed stylesheets at 136 of 314. /sdk-login and the Protocol Playground keep their own themes.
Sessions: LMDB session store (services/lmdb/sessionStore.js), not Redis, despite leftover connect-redis dependencies and k8s docs. Cookie connect.sid, httpOnly, 24h, no cookie domain (single host). Tokens refresh within 5 minutes of expiry (middleware/tokenRefresh.js). Logout revokes tokens (RFC 7009), ends PingOne SSO and clears auth cookies. Kill switch: services/killSwitchService.js, shown at /ai-control-plane, resets after 10 minutes. Known issue: a long request can overwrite concurrent session saves (TECH_DEBT.md).
User login: Demo AI App - User Login, PKCE-only since 2026-08-24 (routes/oauthUser.js). Passkeys via routes/mfa.js; step-up on a 428. Pages: /davinci-login-guide (widget), /davinci-sdk-login (Orchestration SDK), /sdk-login (OIDC SDK, tokens in the browser). The passkey rp.id needs a public TLD, hence local.ping-devops.com:4000.
Admin login: Demo AI App - Admin Login. Admin is granted at login by any of four checks (username allowlist, population, custom claim, role-claim resolver; routes/oauthUser.js:565-607) and re-checked per request via the token's azp or session role (middleware/auth.js). auth-requirements.json marks 18 routes and 14 use cases admin; npm run authz:verify keeps App.js guards in line. Note: a failed login lands on the saved page or / with ?error=, not the login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SECRETS VAULT. secrets.vault at the repo root is homegrown code, not sops, age or HashiCorp Vault: Argon2id key derivation (argon2 npm package, demo_api_server/lib/vault/crypto.js), AES-256-GCM per entry (Node crypto), an HMAC over the whole file, a seq counter against the audit log, atomic saves. Gitignored (.gitignore:195-209), mode 0600; two old encrypted copies remain in git history (docs/incident-response/vault-history-exposure.md).
Flow: npm run vault:set NAME reads the value from stdin. VAULT_PASSWORD comes from demo_api_server/.env; the BFF exits if the vault exists but the password is missing, loads entries into configStore memory, then deletes VAULT_PASSWORD from the process. configStore reads .env first, then the vault, then LMDB (BFF_INTERNAL_SECRET and INTENT_TOKEN_SECRET are forced from the vault). refresh-service-envs.js writes per-service .env files; k8s/create-secrets.sh ships vault values and aborts on drift. /secret-rotation runs scripts/rotate-app-secret.js, which regenerates in PingOne and writes the vault back.
Traps: a stale .env line silently overrides the vault. dotenvx is replacing the vault service by service (docs/superpowers/plans/2026-08-18-vault-dotenvx-full-replace.md). Commands: vault:create, vault:get, vault:set, vault:list, vault:delete, vault:rotate (demo_api_server/package.json). Docs: docs/vault.md (partly stale).
OPEN SOURCE. Agents: LangChain/LangGraph, OpenAI Agents SDK, Pydantic AI, Mastra (with Vercel AI SDK), LlamaIndex, Guardrails AI. Protocols: @modelcontextprotocol/sdk, FastMCP, @a2a-js/sdk, AG-UI, weather-mcp, OpenSearch MCP. Models and runtime: llama.cpp, oMLX/mlx_lm, Phi-4-mini-instruct, gpt-oss-20b, nomic-embed-text-v1.5, ProtectAI DeBERTa prompt-injection classifier. Data and security: Weaviate, LMDB, SQLite, argon2, jose, dotenvx, Sealed Secrets. Observability and test: Prometheus, Alertmanager, Grafana, Loki, Alloy, Jaeger, OpenTelemetry, promptfoo, Playwright, Jest, Vitest. Web and infra: React, Vite, Express, Mermaid, React Flow, Docker Compose, Kubernetes, Helm, nginx, mkcert, LibreChat, OpenCLI, ForgeRock davinci-client.
Our spin-outs: github.com/curtismu7/llm-gateway, mcp-inspector, ai-gateway-client.
Not open source, though easy to mistake: the PingGateway image, the Privilege gateway images and chart, PingOne and Helix, New Relic's service, OrbStack, LM Studio, the Brave Search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services run from the main checkout's docker-compose.yml. Never run docker compose up from a git worktree: a worktree has no .env files, so services start unconfigured while PingGateway still reports healthy. Use npm run serve:worktree to try worktree code in the running stack.
Each service directory has its own CLAUDE.md with versions and hard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Flags live in FLAG_REGISTRY in demo_api_server/routes/featureFlags.js; defaults in demo_api_server/services/configStore.js. Change them from the admin Feature Flags page.
Some flags are pinned by environment variables (for example FF_MCP_GATEWAY_PINGGATEWAY). While the variable is set, the UI toggle has no effect.
After switching gateways, run ./run-docker.sh demo-sync so the containers match the flags.
Full list, plus environment switches (LLM_BACKEND, MCP_MTLS_ON, authorize_mode): docs/FAQ.md.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apps are in the main demo environment (01d89b06) unless noted. App names verified against the live app list on 2026-09-13.
Full table, with the config keys each app is read from and which services use it: docs/FAQ.md, section 'Which PingOne app does what'.
Two traps:
- The live environment has no dedicated 'Demo AI App - CIBA' app, so CIBA falls back to the Admin Login app.
- Management API calls try PINGONE_MGMT_* and PINGONE_MANAGEMENT_* first, then the Admin Login app, and only then the worker (services/configStore.js). A Management API failure can therefore be the Admin Login app.
Agent Privilege sign-in uses a client in the Privilege tenant (0428ba4f), not this environment; its secret lives in the vault.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24 Demo Steps are the same for all 11 customer verticals (demo_api_ui/src/config/demoUseCaseSteps.js); details come from demo_api_server/config/useCases.js.
- UC7: the PingOne MFA client used for step-up wasn't traced.
- UC14b: the PAR push uses the AI Agent Actor app (routes/intentBinding.js). UC14 sends the actor and admin client IDs in the context header; Authorize applies the RarMaxAmount rule.
- UC12: the simulation replays a token at the gateway; it doesn't send a DPoP proof.
- UC2 / UC2.5: the second agent is that vertical's Specialist Agent app (banking = Demo AI App - Investment Advisor Agent). Authorize checks the act chain depth.
- UC22: CIBA uses PINGONE_CIBA_CLIENT_ID if set; the environment has no CIBA app, so it falls back to Admin Login, then to simulated CIBA.
Symptom-to-app lookup and the full app inventory: docs/FAQ.md, 'Which PingOne app does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UC11: the exchange client oauthService uses by default wasn't traced.
- UC5 and UC18 run against the Node Demo Agent Gateway.
- UC30–UC32: the PingGateway weather route has no OAuth filter, so no PingOne app is involved.
- UC40: PingOne doesn't issue native ID-JAG yet; routes/enterpriseIdp.js signs the grant after a PingOne group check done with the worker. Needs ff_enterprise_managed_mcp_auth, which Demo Steps doesn't auto-arm for public steps.
- UC38: the worker creates the agent app through the Management API (agentBuilderService.js); the exchange client wasn't traced. Only airlines gets the chip.
- The other 38 catalog use cases aren't Demo Steps; most of them run the standard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ADMIN1–13 are admin-gated and pass through neither the gateway nor Authorize (demo_api_server/config/admin/demoSteps.js, pingone-admin/tools.js).
They sign in with PingOne's built-in pingone-mcp-server client over a loopback redirect and call https://mcp.pingone.&lt;region&gt;/admin/&lt;envId&gt;/mcp. When that fails, most fall back to the Management API with the worker, then to a mock.
ADMIN13 links to /privilege-mcp-client; what that page calls wasn't traced.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https://github.com/curtismu7/AI-DEMO2 (public).
FAQ: https://github.com/curtismu7/AI-DEMO2/blob/main/docs/FAQ.md
Install: the FAQ's 'Download and install' section (https://github.com/curtismu7/AI-DEMO2/blob/main/docs/FAQ.md#download-and-install) and docs/user-guide/getting-started.md. The README's one-line install points at a retired repo URL until PR #3247 merges, so send people to the FAQ for now.
Demo guide: the in-app Guided Demo Track at /demo-track (https://local.ping-devops.com:4000/demo-track locally, or the SE cluster's /demo-track when deployed) and the click-by-click walkthroughs in docs/user-guide/AGENT_SHOWCASE_DEMO_SCENARIOS.md.
The three standalone tools run with no PingOne tenant and no demo stack; their canonical source is in this repo (standalone/ and demo_llm_proxy/).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2E"/>
        </a:solidFill>
      </p:bgPr>
    </p:bg>
    <p:spTree>
      <p:nvGrpSpPr>
        <p:cNvPr id="1" name=""/>
        <p:cNvGrpSpPr/>
        <p:nvPr/>
      </p:nvGrpSpPr>
      <p:grpSpPr>
        <a:xfrm>
          <a:off x="0" y="0"/>
          <a:ext cx="0" cy="0"/>
          <a:chOff x="0" y="0"/>
          <a:chExt cx="0" cy="0"/>
        </a:xfrm>
      </p:grpSpPr>
      <p:sp>
        <p:nvSpPr>
          <p:cNvPr id="2" name="Shape 0"/>
          <p:cNvSpPr/>
          <p:nvPr/>
        </p:nvSpPr>
        <p:spPr>
          <a:xfrm>
            <a:off x="502920" y="502920"/>
            <a:ext cx="457200" cy="0"/>
          </a:xfrm>
          <a:prstGeom prst="line">
            <a:avLst/>
          </a:prstGeom>
          <a:noFill/>
          <a:ln w="22225">
            <a:solidFill>
              <a:srgbClr val="C8102E"/>
            </a:solidFill>
            <a:prstDash val="solid"/>
          </a:ln>
        </p:spPr>
      </p:sp>
      <p:sp>
        <p:nvSpPr>
          <p:cNvPr id="3" name="Shape 1"/>
          <p:cNvSpPr/>
          <p:nvPr/>
        </p:nvSpPr>
        <p:spPr>
          <a:xfrm>
            <a:off x="502920" y="502920"/>
            <a:ext cx="0" cy="457200"/>
          </a:xfrm>
          <a:prstGeom prst="line">
            <a:avLst/>
          </a:prstGeom>
          <a:noFill/>
          <a:ln w="22225">
            <a:solidFill>
              <a:srgbClr val="C8102E"/>
            </a:solidFill>
            <a:prstDash val="solid"/>
          </a:ln>
        </p:spPr>
      </p:sp>
      <p:sp>
        <p:nvSpPr>
          <p:cNvPr id="4" name="Shape 2"/>
          <p:cNvSpPr/>
          <p:nvPr/>
        </p:nvSpPr>
        <p:spPr>
          <a:xfrm>
            <a:off x="8183880" y="4636008"/>
            <a:ext cx="457200" cy="0"/>
          </a:xfrm>
          <a:prstGeom prst="line">
            <a:avLst/>
          </a:prstGeom>
          <a:noFill/>
          <a:ln w="22225">
            <a:solidFill>
              <a:srgbClr val="C8102E"/>
            </a:solidFill>
            <a:prstDash val="solid"/>
          </a:ln>
        </p:spPr>
      </p:sp>
      <p:sp>
        <p:nvSpPr>
          <p:cNvPr id="5" name="Shape 3"/>
          <p:cNvSpPr/>
          <p:nvPr/>
        </p:nvSpPr>
        <p:spPr>
          <a:xfrm>
            <a:off x="8641080" y="4178808"/>
            <a:ext cx="0" cy="457200"/>
          </a:xfrm>
          <a:prstGeom prst="line">
            <a:avLst/>
          </a:prstGeom>
          <a:noFill/>
          <a:ln w="22225">
            <a:solidFill>
              <a:srgbClr val="C8102E"/>
            </a:solidFill>
            <a:prstDash val="solid"/>
          </a:ln>
        </p:spPr>
      </p:sp>
      <p:sp>
        <p:nvSpPr>
          <p:cNvPr id="6" name="Shape 4"/>
          <p:cNvSpPr/>
          <p:nvPr/>
        </p:nvSpPr>
        <p:spPr>
          <a:xfrm>
            <a:off x="914400" y="1481328"/>
            <a:ext cx="118872" cy="118872"/>
          </a:xfrm>
          <a:prstGeom prst="rect">
            <a:avLst/>
          </a:prstGeom>
          <a:solidFill>
            <a:srgbClr val="C8102E"/>
          </a:solidFill>
          <a:ln/>
        </p:spPr>
      </p:sp>
      <p:sp>
        <p:nvSpPr>
          <p:cNvPr id="7" name="Text 5"/>
          <p:cNvSpPr/>
          <p:nvPr/>
        </p:nvSpPr>
        <p:spPr>
          <a:xfrm>
            <a:off x="1115568" y="1389888"/>
            <a:ext cx="6400800" cy="292608"/>
          </a:xfrm>
          <a:prstGeom prst="rect">
            <a:avLst/>
          </a:prstGeom>
          <a:noFill/>
          <a:ln/>
        </p:spPr>
        <p:txBody>
          <a:bodyPr wrap="square" lIns="0" tIns="0" rIns="0" bIns="0" rtlCol="0" anchor="ctr"/>
          <a:lstStyle/>
          <a:p>
            <a:pPr indent="0" marL="0">
              <a:buNone/>
            </a:pPr>
            <a:r>
              <a:rPr lang="en-US" sz="1100" b="1" spc="400" kern="0" dirty="0">
                <a:solidFill>
                  <a:srgbClr val="B9C6D6"/>
                </a:solidFill>
                <a:latin typeface="Montserrat" pitchFamily="34" charset="0"/>
                <a:ea typeface="Montserrat" pitchFamily="34" charset="-122"/>
                <a:cs typeface="Montserrat" pitchFamily="34" charset="-120"/>
              </a:rPr>
              <a:t>PINGONE  ·  IDENTITY FOR AI AGENTS</a:t>
            </a:r>
            <a:endParaRPr lang="en-US" sz="1100" dirty="0"/>
          </a:p>
        </p:txBody>
      </p:sp>
      <p:sp>
        <p:nvSpPr>
          <p:cNvPr id="8" name="Text 6"/>
          <p:cNvSpPr/>
          <p:nvPr/>
        </p:nvSpPr>
        <p:spPr>
          <a:xfrm>
            <a:off x="914400" y="1783080"/>
            <a:ext cx="7315200" cy="868680"/>
          </a:xfrm>
          <a:prstGeom prst="rect">
            <a:avLst/>
          </a:prstGeom>
          <a:noFill/>
          <a:ln/>
        </p:spPr>
        <p:txBody>
          <a:bodyPr wrap="square" lIns="0" tIns="0" rIns="0" bIns="0" rtlCol="0" anchor="ctr"/>
          <a:lstStyle/>
          <a:p>
            <a:pPr indent="0" marL="0">
              <a:buNone/>
            </a:pPr>
            <a:r>
              <a:rPr lang="en-US" sz="3800" b="1" dirty="0">
                <a:solidFill>
                  <a:srgbClr val="FFFFFF"/>
                </a:solidFill>
                <a:latin typeface="Montserrat" pitchFamily="34" charset="0"/>
                <a:ea typeface="Montserrat" pitchFamily="34" charset="-122"/>
                <a:cs typeface="Montserrat" pitchFamily="34" charset="-120"/>
              </a:rPr>
              <a:t>The Super Banking AI Demo</a:t>
            </a:r>
            <a:endParaRPr lang="en-US" sz="3800" dirty="0"/>
          </a:p>
        </p:txBody>
      </p:sp>
      <p:sp>
        <p:nvSpPr>
          <p:cNvPr id="9" name="Text 7"/>
          <p:cNvSpPr/>
          <p:nvPr/>
        </p:nvSpPr>
        <p:spPr>
          <a:xfrm>
            <a:off x="914400" y="2670048"/>
            <a:ext cx="6949440" cy="411480"/>
          </a:xfrm>
          <a:prstGeom prst="rect">
            <a:avLst/>
          </a:prstGeom>
          <a:noFill/>
          <a:ln/>
        </p:spPr>
        <p:txBody>
          <a:bodyPr wrap="square" lIns="0" tIns="0" rIns="0" bIns="0" rtlCol="0" anchor="t"/>
          <a:lstStyle/>
          <a:p>
            <a:pPr indent="0" marL="0">
              <a:buNone/>
            </a:pPr>
            <a:r>
              <a:rPr lang="en-US" sz="1700" dirty="0">
                <a:solidFill>
                  <a:srgbClr val="B9C6D6"/>
                </a:solidFill>
                <a:latin typeface="Calibri" pitchFamily="34" charset="0"/>
                <a:ea typeface="Calibri" pitchFamily="34" charset="-122"/>
                <a:cs typeface="Calibri" pitchFamily="34" charset="-120"/>
              </a:rPr>
              <a:t>What it runs, what it proves, and how it keeps the agent in bounds</a:t>
            </a:r>
            <a:endParaRPr lang="en-US" sz="1700" dirty="0"/>
          </a:p>
        </p:txBody>
      </p:sp>
      <p:sp>
        <p:nvSpPr>
          <p:cNvPr id="10" name="Text 8"/>
          <p:cNvSpPr/>
          <p:nvPr/>
        </p:nvSpPr>
        <p:spPr>
          <a:xfrm>
            <a:off x="914400" y="3474720"/>
            <a:ext cx="6400800" cy="274320"/>
          </a:xfrm>
          <a:prstGeom prst="rect">
            <a:avLst/>
          </a:prstGeom>
          <a:noFill/>
          <a:ln/>
        </p:spPr>
        <p:txBody>
          <a:bodyPr wrap="square" lIns="0" tIns="0" rIns="0" bIns="0" rtlCol="0" anchor="t"/>
          <a:lstStyle/>
          <a:p>
            <a:pPr indent="0" marL="0">
              <a:buNone/>
            </a:pPr>
            <a:r>
              <a:rPr lang="en-US" sz="1200" dirty="0">
                <a:solidFill>
                  <a:srgbClr val="B9C6D6"/>
                </a:solidFill>
                <a:latin typeface="Calibri" pitchFamily="34" charset="0"/>
                <a:ea typeface="Calibri" pitchFamily="34" charset="-122"/>
                <a:cs typeface="Calibri" pitchFamily="34" charset="-120"/>
              </a:rPr>
              <a:t>September 2026  ·  github.com/curtismu7/AI-DEMO2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AT A GLANCE</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A working bank where AI agents act for customers, and PingOne decides what they may do</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457200" y="1572768"/>
            <a:ext cx="1851660" cy="1417320"/>
          </a:xfrm>
          <a:prstGeom prst="rect">
            <a:avLst/>
          </a:prstGeom>
          <a:solidFill>
            <a:srgbClr val="FFFFFF"/>
          </a:solidFill>
          <a:ln w="9525">
            <a:solidFill>
              <a:srgbClr val="D5DBE3"/>
            </a:solidFill>
            <a:prstDash val="solid"/>
          </a:ln>
        </p:spPr>
      </p:sp>
      <p:sp>
        <p:nvSpPr>
          <p:cNvPr id="8" name="Text 5"/>
          <p:cNvSpPr/>
          <p:nvPr/>
        </p:nvSpPr>
        <p:spPr>
          <a:xfrm>
            <a:off x="640080" y="1664208"/>
            <a:ext cx="1485900" cy="777240"/>
          </a:xfrm>
          <a:prstGeom prst="rect">
            <a:avLst/>
          </a:prstGeom>
          <a:noFill/>
          <a:ln/>
        </p:spPr>
        <p:txBody>
          <a:bodyPr wrap="square" lIns="0" tIns="0" rIns="0" bIns="0" rtlCol="0" anchor="ctr"/>
          <a:lstStyle/>
          <a:p>
            <a:pPr indent="0" marL="0">
              <a:buNone/>
            </a:pPr>
            <a:r>
              <a:rPr lang="en-US" sz="4400" b="1" dirty="0">
                <a:solidFill>
                  <a:srgbClr val="C8102E"/>
                </a:solidFill>
                <a:latin typeface="Montserrat" pitchFamily="34" charset="0"/>
                <a:ea typeface="Montserrat" pitchFamily="34" charset="-122"/>
                <a:cs typeface="Montserrat" pitchFamily="34" charset="-120"/>
              </a:rPr>
              <a:t>62</a:t>
            </a:r>
            <a:endParaRPr lang="en-US" sz="4400" dirty="0"/>
          </a:p>
        </p:txBody>
      </p:sp>
      <p:sp>
        <p:nvSpPr>
          <p:cNvPr id="9" name="Text 6"/>
          <p:cNvSpPr/>
          <p:nvPr/>
        </p:nvSpPr>
        <p:spPr>
          <a:xfrm>
            <a:off x="640080" y="2432304"/>
            <a:ext cx="1485900" cy="411480"/>
          </a:xfrm>
          <a:prstGeom prst="rect">
            <a:avLst/>
          </a:prstGeom>
          <a:noFill/>
          <a:ln/>
        </p:spPr>
        <p:txBody>
          <a:bodyPr wrap="square" lIns="0" tIns="0" rIns="0" bIns="0" rtlCol="0" anchor="t"/>
          <a:lstStyle/>
          <a:p>
            <a:pPr indent="0" marL="0">
              <a:buNone/>
            </a:pPr>
            <a:r>
              <a:rPr lang="en-US" sz="1200" dirty="0">
                <a:solidFill>
                  <a:srgbClr val="4F5E71"/>
                </a:solidFill>
                <a:latin typeface="Calibri" pitchFamily="34" charset="0"/>
                <a:ea typeface="Calibri" pitchFamily="34" charset="-122"/>
                <a:cs typeface="Calibri" pitchFamily="34" charset="-120"/>
              </a:rPr>
              <a:t>use cases in the catalog</a:t>
            </a:r>
            <a:endParaRPr lang="en-US" sz="1200" dirty="0"/>
          </a:p>
        </p:txBody>
      </p:sp>
      <p:sp>
        <p:nvSpPr>
          <p:cNvPr id="10" name="Shape 7"/>
          <p:cNvSpPr/>
          <p:nvPr/>
        </p:nvSpPr>
        <p:spPr>
          <a:xfrm>
            <a:off x="2583180" y="1572768"/>
            <a:ext cx="1851660" cy="1417320"/>
          </a:xfrm>
          <a:prstGeom prst="rect">
            <a:avLst/>
          </a:prstGeom>
          <a:solidFill>
            <a:srgbClr val="FFFFFF"/>
          </a:solidFill>
          <a:ln w="9525">
            <a:solidFill>
              <a:srgbClr val="D5DBE3"/>
            </a:solidFill>
            <a:prstDash val="solid"/>
          </a:ln>
        </p:spPr>
      </p:sp>
      <p:sp>
        <p:nvSpPr>
          <p:cNvPr id="11" name="Text 8"/>
          <p:cNvSpPr/>
          <p:nvPr/>
        </p:nvSpPr>
        <p:spPr>
          <a:xfrm>
            <a:off x="2766060" y="1664208"/>
            <a:ext cx="1485900" cy="777240"/>
          </a:xfrm>
          <a:prstGeom prst="rect">
            <a:avLst/>
          </a:prstGeom>
          <a:noFill/>
          <a:ln/>
        </p:spPr>
        <p:txBody>
          <a:bodyPr wrap="square" lIns="0" tIns="0" rIns="0" bIns="0" rtlCol="0" anchor="ctr"/>
          <a:lstStyle/>
          <a:p>
            <a:pPr indent="0" marL="0">
              <a:buNone/>
            </a:pPr>
            <a:r>
              <a:rPr lang="en-US" sz="4400" b="1" dirty="0">
                <a:solidFill>
                  <a:srgbClr val="C8102E"/>
                </a:solidFill>
                <a:latin typeface="Montserrat" pitchFamily="34" charset="0"/>
                <a:ea typeface="Montserrat" pitchFamily="34" charset="-122"/>
                <a:cs typeface="Montserrat" pitchFamily="34" charset="-120"/>
              </a:rPr>
              <a:t>11</a:t>
            </a:r>
            <a:endParaRPr lang="en-US" sz="4400" dirty="0"/>
          </a:p>
        </p:txBody>
      </p:sp>
      <p:sp>
        <p:nvSpPr>
          <p:cNvPr id="12" name="Text 9"/>
          <p:cNvSpPr/>
          <p:nvPr/>
        </p:nvSpPr>
        <p:spPr>
          <a:xfrm>
            <a:off x="2766060" y="2432304"/>
            <a:ext cx="1485900" cy="411480"/>
          </a:xfrm>
          <a:prstGeom prst="rect">
            <a:avLst/>
          </a:prstGeom>
          <a:noFill/>
          <a:ln/>
        </p:spPr>
        <p:txBody>
          <a:bodyPr wrap="square" lIns="0" tIns="0" rIns="0" bIns="0" rtlCol="0" anchor="t"/>
          <a:lstStyle/>
          <a:p>
            <a:pPr indent="0" marL="0">
              <a:buNone/>
            </a:pPr>
            <a:r>
              <a:rPr lang="en-US" sz="1200" dirty="0">
                <a:solidFill>
                  <a:srgbClr val="4F5E71"/>
                </a:solidFill>
                <a:latin typeface="Calibri" pitchFamily="34" charset="0"/>
                <a:ea typeface="Calibri" pitchFamily="34" charset="-122"/>
                <a:cs typeface="Calibri" pitchFamily="34" charset="-120"/>
              </a:rPr>
              <a:t>industry verticals on one platform</a:t>
            </a:r>
            <a:endParaRPr lang="en-US" sz="1200" dirty="0"/>
          </a:p>
        </p:txBody>
      </p:sp>
      <p:sp>
        <p:nvSpPr>
          <p:cNvPr id="13" name="Shape 10"/>
          <p:cNvSpPr/>
          <p:nvPr/>
        </p:nvSpPr>
        <p:spPr>
          <a:xfrm>
            <a:off x="4709160" y="1572768"/>
            <a:ext cx="1851660" cy="1417320"/>
          </a:xfrm>
          <a:prstGeom prst="rect">
            <a:avLst/>
          </a:prstGeom>
          <a:solidFill>
            <a:srgbClr val="FFFFFF"/>
          </a:solidFill>
          <a:ln w="9525">
            <a:solidFill>
              <a:srgbClr val="D5DBE3"/>
            </a:solidFill>
            <a:prstDash val="solid"/>
          </a:ln>
        </p:spPr>
      </p:sp>
      <p:sp>
        <p:nvSpPr>
          <p:cNvPr id="14" name="Text 11"/>
          <p:cNvSpPr/>
          <p:nvPr/>
        </p:nvSpPr>
        <p:spPr>
          <a:xfrm>
            <a:off x="4892040" y="1664208"/>
            <a:ext cx="1485900" cy="777240"/>
          </a:xfrm>
          <a:prstGeom prst="rect">
            <a:avLst/>
          </a:prstGeom>
          <a:noFill/>
          <a:ln/>
        </p:spPr>
        <p:txBody>
          <a:bodyPr wrap="square" lIns="0" tIns="0" rIns="0" bIns="0" rtlCol="0" anchor="ctr"/>
          <a:lstStyle/>
          <a:p>
            <a:pPr indent="0" marL="0">
              <a:buNone/>
            </a:pPr>
            <a:r>
              <a:rPr lang="en-US" sz="4400" b="1" dirty="0">
                <a:solidFill>
                  <a:srgbClr val="C8102E"/>
                </a:solidFill>
                <a:latin typeface="Montserrat" pitchFamily="34" charset="0"/>
                <a:ea typeface="Montserrat" pitchFamily="34" charset="-122"/>
                <a:cs typeface="Montserrat" pitchFamily="34" charset="-120"/>
              </a:rPr>
              <a:t>4</a:t>
            </a:r>
            <a:endParaRPr lang="en-US" sz="4400" dirty="0"/>
          </a:p>
        </p:txBody>
      </p:sp>
      <p:sp>
        <p:nvSpPr>
          <p:cNvPr id="15" name="Text 12"/>
          <p:cNvSpPr/>
          <p:nvPr/>
        </p:nvSpPr>
        <p:spPr>
          <a:xfrm>
            <a:off x="4892040" y="2432304"/>
            <a:ext cx="1485900" cy="411480"/>
          </a:xfrm>
          <a:prstGeom prst="rect">
            <a:avLst/>
          </a:prstGeom>
          <a:noFill/>
          <a:ln/>
        </p:spPr>
        <p:txBody>
          <a:bodyPr wrap="square" lIns="0" tIns="0" rIns="0" bIns="0" rtlCol="0" anchor="t"/>
          <a:lstStyle/>
          <a:p>
            <a:pPr indent="0" marL="0">
              <a:buNone/>
            </a:pPr>
            <a:r>
              <a:rPr lang="en-US" sz="1200" dirty="0">
                <a:solidFill>
                  <a:srgbClr val="4F5E71"/>
                </a:solidFill>
                <a:latin typeface="Calibri" pitchFamily="34" charset="0"/>
                <a:ea typeface="Calibri" pitchFamily="34" charset="-122"/>
                <a:cs typeface="Calibri" pitchFamily="34" charset="-120"/>
              </a:rPr>
              <a:t>agent frameworks, one security model</a:t>
            </a:r>
            <a:endParaRPr lang="en-US" sz="1200" dirty="0"/>
          </a:p>
        </p:txBody>
      </p:sp>
      <p:sp>
        <p:nvSpPr>
          <p:cNvPr id="16" name="Shape 13"/>
          <p:cNvSpPr/>
          <p:nvPr/>
        </p:nvSpPr>
        <p:spPr>
          <a:xfrm>
            <a:off x="6835140" y="1572768"/>
            <a:ext cx="1851660" cy="1417320"/>
          </a:xfrm>
          <a:prstGeom prst="rect">
            <a:avLst/>
          </a:prstGeom>
          <a:solidFill>
            <a:srgbClr val="FFFFFF"/>
          </a:solidFill>
          <a:ln w="9525">
            <a:solidFill>
              <a:srgbClr val="D5DBE3"/>
            </a:solidFill>
            <a:prstDash val="solid"/>
          </a:ln>
        </p:spPr>
      </p:sp>
      <p:sp>
        <p:nvSpPr>
          <p:cNvPr id="17" name="Text 14"/>
          <p:cNvSpPr/>
          <p:nvPr/>
        </p:nvSpPr>
        <p:spPr>
          <a:xfrm>
            <a:off x="7018020" y="1664208"/>
            <a:ext cx="1485900" cy="777240"/>
          </a:xfrm>
          <a:prstGeom prst="rect">
            <a:avLst/>
          </a:prstGeom>
          <a:noFill/>
          <a:ln/>
        </p:spPr>
        <p:txBody>
          <a:bodyPr wrap="square" lIns="0" tIns="0" rIns="0" bIns="0" rtlCol="0" anchor="ctr"/>
          <a:lstStyle/>
          <a:p>
            <a:pPr indent="0" marL="0">
              <a:buNone/>
            </a:pPr>
            <a:r>
              <a:rPr lang="en-US" sz="4400" b="1" dirty="0">
                <a:solidFill>
                  <a:srgbClr val="C8102E"/>
                </a:solidFill>
                <a:latin typeface="Montserrat" pitchFamily="34" charset="0"/>
                <a:ea typeface="Montserrat" pitchFamily="34" charset="-122"/>
                <a:cs typeface="Montserrat" pitchFamily="34" charset="-120"/>
              </a:rPr>
              <a:t>0</a:t>
            </a:r>
            <a:endParaRPr lang="en-US" sz="4400" dirty="0"/>
          </a:p>
        </p:txBody>
      </p:sp>
      <p:sp>
        <p:nvSpPr>
          <p:cNvPr id="18" name="Text 15"/>
          <p:cNvSpPr/>
          <p:nvPr/>
        </p:nvSpPr>
        <p:spPr>
          <a:xfrm>
            <a:off x="7018020" y="2432304"/>
            <a:ext cx="1485900" cy="411480"/>
          </a:xfrm>
          <a:prstGeom prst="rect">
            <a:avLst/>
          </a:prstGeom>
          <a:noFill/>
          <a:ln/>
        </p:spPr>
        <p:txBody>
          <a:bodyPr wrap="square" lIns="0" tIns="0" rIns="0" bIns="0" rtlCol="0" anchor="t"/>
          <a:lstStyle/>
          <a:p>
            <a:pPr indent="0" marL="0">
              <a:buNone/>
            </a:pPr>
            <a:r>
              <a:rPr lang="en-US" sz="1200" dirty="0">
                <a:solidFill>
                  <a:srgbClr val="4F5E71"/>
                </a:solidFill>
                <a:latin typeface="Calibri" pitchFamily="34" charset="0"/>
                <a:ea typeface="Calibri" pitchFamily="34" charset="-122"/>
                <a:cs typeface="Calibri" pitchFamily="34" charset="-120"/>
              </a:rPr>
              <a:t>raw tokens ever sent to the browser</a:t>
            </a:r>
            <a:endParaRPr lang="en-US" sz="1200" dirty="0"/>
          </a:p>
        </p:txBody>
      </p:sp>
      <p:sp>
        <p:nvSpPr>
          <p:cNvPr id="19" name="Shape 16"/>
          <p:cNvSpPr/>
          <p:nvPr/>
        </p:nvSpPr>
        <p:spPr>
          <a:xfrm>
            <a:off x="457200" y="3291840"/>
            <a:ext cx="8229600" cy="1280160"/>
          </a:xfrm>
          <a:prstGeom prst="rect">
            <a:avLst/>
          </a:prstGeom>
          <a:solidFill>
            <a:srgbClr val="FFFFFF"/>
          </a:solidFill>
          <a:ln w="9525">
            <a:solidFill>
              <a:srgbClr val="D5DBE3"/>
            </a:solidFill>
            <a:prstDash val="solid"/>
          </a:ln>
        </p:spPr>
      </p:sp>
      <p:sp>
        <p:nvSpPr>
          <p:cNvPr id="20" name="Shape 17"/>
          <p:cNvSpPr/>
          <p:nvPr/>
        </p:nvSpPr>
        <p:spPr>
          <a:xfrm>
            <a:off x="658368" y="3474720"/>
            <a:ext cx="384048" cy="384048"/>
          </a:xfrm>
          <a:prstGeom prst="ellipse">
            <a:avLst/>
          </a:prstGeom>
          <a:solidFill>
            <a:srgbClr val="0B1A2E"/>
          </a:solidFill>
          <a:ln/>
        </p:spPr>
      </p:sp>
      <p:pic>
        <p:nvPicPr>
          <p:cNvPr id="21" name="Image 0" descr="preencoded.png"/>
          <p:cNvPicPr>
            <a:picLocks noChangeAspect="1"/>
          </p:cNvPicPr>
          <p:nvPr/>
        </p:nvPicPr>
        <p:blipFill>
          <a:blip r:embed="rId1"/>
          <a:stretch>
            <a:fillRect/>
          </a:stretch>
        </p:blipFill>
        <p:spPr>
          <a:xfrm>
            <a:off x="762061" y="3578413"/>
            <a:ext cx="176662" cy="176662"/>
          </a:xfrm>
          <a:prstGeom prst="rect">
            <a:avLst/>
          </a:prstGeom>
        </p:spPr>
      </p:pic>
      <p:sp>
        <p:nvSpPr>
          <p:cNvPr id="22" name="Text 18"/>
          <p:cNvSpPr/>
          <p:nvPr/>
        </p:nvSpPr>
        <p:spPr>
          <a:xfrm>
            <a:off x="1188720" y="3474720"/>
            <a:ext cx="914400" cy="384048"/>
          </a:xfrm>
          <a:prstGeom prst="rect">
            <a:avLst/>
          </a:prstGeom>
          <a:noFill/>
          <a:ln/>
        </p:spPr>
        <p:txBody>
          <a:bodyPr wrap="square" lIns="0" tIns="0" rIns="0" bIns="0" rtlCol="0" anchor="ctr"/>
          <a:lstStyle/>
          <a:p>
            <a:pPr indent="0" marL="0">
              <a:buNone/>
            </a:pPr>
            <a:r>
              <a:rPr lang="en-US" sz="1150" b="1" dirty="0">
                <a:solidFill>
                  <a:srgbClr val="0B1A2E"/>
                </a:solidFill>
                <a:latin typeface="Montserrat" pitchFamily="34" charset="0"/>
                <a:ea typeface="Montserrat" pitchFamily="34" charset="-122"/>
                <a:cs typeface="Montserrat" pitchFamily="34" charset="-120"/>
              </a:rPr>
              <a:t>Built on</a:t>
            </a:r>
            <a:endParaRPr lang="en-US" sz="1150" dirty="0"/>
          </a:p>
        </p:txBody>
      </p:sp>
      <p:sp>
        <p:nvSpPr>
          <p:cNvPr id="23" name="Text 19"/>
          <p:cNvSpPr/>
          <p:nvPr/>
        </p:nvSpPr>
        <p:spPr>
          <a:xfrm>
            <a:off x="2103120" y="3474720"/>
            <a:ext cx="6492240" cy="384048"/>
          </a:xfrm>
          <a:prstGeom prst="rect">
            <a:avLst/>
          </a:prstGeom>
          <a:noFill/>
          <a:ln/>
        </p:spPr>
        <p:txBody>
          <a:bodyPr wrap="square" lIns="0" tIns="0" rIns="0" bIns="0" rtlCol="0" anchor="ctr"/>
          <a:lstStyle/>
          <a:p>
            <a:pPr indent="0" marL="0">
              <a:buNone/>
            </a:pPr>
            <a:r>
              <a:rPr lang="en-US" sz="1150" dirty="0">
                <a:solidFill>
                  <a:srgbClr val="0B1A2E"/>
                </a:solidFill>
                <a:latin typeface="Calibri" pitchFamily="34" charset="0"/>
                <a:ea typeface="Calibri" pitchFamily="34" charset="-122"/>
                <a:cs typeface="Calibri" pitchFamily="34" charset="-120"/>
              </a:rPr>
              <a:t>PingOne SSO and MFA · token exchange · PingOne Authorize · PingOne Privilege · DaVinci</a:t>
            </a:r>
            <a:endParaRPr lang="en-US" sz="1150" dirty="0"/>
          </a:p>
        </p:txBody>
      </p:sp>
      <p:sp>
        <p:nvSpPr>
          <p:cNvPr id="24" name="Shape 20"/>
          <p:cNvSpPr/>
          <p:nvPr/>
        </p:nvSpPr>
        <p:spPr>
          <a:xfrm>
            <a:off x="658368" y="4005072"/>
            <a:ext cx="384048" cy="384048"/>
          </a:xfrm>
          <a:prstGeom prst="ellipse">
            <a:avLst/>
          </a:prstGeom>
          <a:solidFill>
            <a:srgbClr val="0B1A2E"/>
          </a:solidFill>
          <a:ln/>
        </p:spPr>
      </p:sp>
      <p:pic>
        <p:nvPicPr>
          <p:cNvPr id="25" name="Image 1" descr="preencoded.png"/>
          <p:cNvPicPr>
            <a:picLocks noChangeAspect="1"/>
          </p:cNvPicPr>
          <p:nvPr/>
        </p:nvPicPr>
        <p:blipFill>
          <a:blip r:embed="rId2"/>
          <a:stretch>
            <a:fillRect/>
          </a:stretch>
        </p:blipFill>
        <p:spPr>
          <a:xfrm>
            <a:off x="762061" y="4108765"/>
            <a:ext cx="176662" cy="176662"/>
          </a:xfrm>
          <a:prstGeom prst="rect">
            <a:avLst/>
          </a:prstGeom>
        </p:spPr>
      </p:pic>
      <p:sp>
        <p:nvSpPr>
          <p:cNvPr id="26" name="Text 21"/>
          <p:cNvSpPr/>
          <p:nvPr/>
        </p:nvSpPr>
        <p:spPr>
          <a:xfrm>
            <a:off x="1188720" y="4005072"/>
            <a:ext cx="914400" cy="384048"/>
          </a:xfrm>
          <a:prstGeom prst="rect">
            <a:avLst/>
          </a:prstGeom>
          <a:noFill/>
          <a:ln/>
        </p:spPr>
        <p:txBody>
          <a:bodyPr wrap="square" lIns="0" tIns="0" rIns="0" bIns="0" rtlCol="0" anchor="ctr"/>
          <a:lstStyle/>
          <a:p>
            <a:pPr indent="0" marL="0">
              <a:buNone/>
            </a:pPr>
            <a:r>
              <a:rPr lang="en-US" sz="1150" b="1" dirty="0">
                <a:solidFill>
                  <a:srgbClr val="0B1A2E"/>
                </a:solidFill>
                <a:latin typeface="Montserrat" pitchFamily="34" charset="0"/>
                <a:ea typeface="Montserrat" pitchFamily="34" charset="-122"/>
                <a:cs typeface="Montserrat" pitchFamily="34" charset="-120"/>
              </a:rPr>
              <a:t>Runs on</a:t>
            </a:r>
            <a:endParaRPr lang="en-US" sz="1150" dirty="0"/>
          </a:p>
        </p:txBody>
      </p:sp>
      <p:sp>
        <p:nvSpPr>
          <p:cNvPr id="27" name="Text 22"/>
          <p:cNvSpPr/>
          <p:nvPr/>
        </p:nvSpPr>
        <p:spPr>
          <a:xfrm>
            <a:off x="2103120" y="4005072"/>
            <a:ext cx="6492240" cy="384048"/>
          </a:xfrm>
          <a:prstGeom prst="rect">
            <a:avLst/>
          </a:prstGeom>
          <a:noFill/>
          <a:ln/>
        </p:spPr>
        <p:txBody>
          <a:bodyPr wrap="square" lIns="0" tIns="0" rIns="0" bIns="0" rtlCol="0" anchor="ctr"/>
          <a:lstStyle/>
          <a:p>
            <a:pPr indent="0" marL="0">
              <a:buNone/>
            </a:pPr>
            <a:r>
              <a:rPr lang="en-US" sz="1150" dirty="0">
                <a:solidFill>
                  <a:srgbClr val="0B1A2E"/>
                </a:solidFill>
                <a:latin typeface="Calibri" pitchFamily="34" charset="0"/>
                <a:ea typeface="Calibri" pitchFamily="34" charset="-122"/>
                <a:cs typeface="Calibri" pitchFamily="34" charset="-120"/>
              </a:rPr>
              <a:t>Docker on a laptop · local Kubernetes (OrbStack) · ai-demo.ping-devops.com (Ping SE cluster)</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1  ·  SERVERS</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A small core stack runs the demo; Ping's cloud services make the security decisions</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457200" y="1481328"/>
            <a:ext cx="1885950" cy="2670048"/>
          </a:xfrm>
          <a:prstGeom prst="rect">
            <a:avLst/>
          </a:prstGeom>
          <a:solidFill>
            <a:srgbClr val="FFFFFF"/>
          </a:solidFill>
          <a:ln w="9525">
            <a:solidFill>
              <a:srgbClr val="D5DBE3"/>
            </a:solidFill>
            <a:prstDash val="solid"/>
          </a:ln>
        </p:spPr>
      </p:sp>
      <p:sp>
        <p:nvSpPr>
          <p:cNvPr id="8" name="Shape 5"/>
          <p:cNvSpPr/>
          <p:nvPr/>
        </p:nvSpPr>
        <p:spPr>
          <a:xfrm>
            <a:off x="594360" y="1591056"/>
            <a:ext cx="365760" cy="365760"/>
          </a:xfrm>
          <a:prstGeom prst="ellipse">
            <a:avLst/>
          </a:prstGeom>
          <a:solidFill>
            <a:srgbClr val="0B1A2E"/>
          </a:solidFill>
          <a:ln/>
        </p:spPr>
      </p:sp>
      <p:pic>
        <p:nvPicPr>
          <p:cNvPr id="9" name="Image 0" descr="preencoded.png"/>
          <p:cNvPicPr>
            <a:picLocks noChangeAspect="1"/>
          </p:cNvPicPr>
          <p:nvPr/>
        </p:nvPicPr>
        <p:blipFill>
          <a:blip r:embed="rId1"/>
          <a:stretch>
            <a:fillRect/>
          </a:stretch>
        </p:blipFill>
        <p:spPr>
          <a:xfrm>
            <a:off x="693115" y="1689811"/>
            <a:ext cx="168250" cy="168250"/>
          </a:xfrm>
          <a:prstGeom prst="rect">
            <a:avLst/>
          </a:prstGeom>
        </p:spPr>
      </p:pic>
      <p:sp>
        <p:nvSpPr>
          <p:cNvPr id="10" name="Text 6"/>
          <p:cNvSpPr/>
          <p:nvPr/>
        </p:nvSpPr>
        <p:spPr>
          <a:xfrm>
            <a:off x="1042416" y="1591056"/>
            <a:ext cx="1209294" cy="365760"/>
          </a:xfrm>
          <a:prstGeom prst="rect">
            <a:avLst/>
          </a:prstGeom>
          <a:noFill/>
          <a:ln/>
        </p:spPr>
        <p:txBody>
          <a:bodyPr wrap="square" lIns="0" tIns="0" rIns="0" bIns="0" rtlCol="0" anchor="ctr"/>
          <a:lstStyle/>
          <a:p>
            <a:pPr indent="0" marL="0">
              <a:buNone/>
            </a:pPr>
            <a:r>
              <a:rPr lang="en-US" sz="1100" b="1" dirty="0">
                <a:solidFill>
                  <a:srgbClr val="0B1A2E"/>
                </a:solidFill>
                <a:latin typeface="Montserrat" pitchFamily="34" charset="0"/>
                <a:ea typeface="Montserrat" pitchFamily="34" charset="-122"/>
                <a:cs typeface="Montserrat" pitchFamily="34" charset="-120"/>
              </a:rPr>
              <a:t>Front door</a:t>
            </a:r>
            <a:endParaRPr lang="en-US" sz="1100" dirty="0"/>
          </a:p>
        </p:txBody>
      </p:sp>
      <p:sp>
        <p:nvSpPr>
          <p:cNvPr id="11" name="Text 7"/>
          <p:cNvSpPr/>
          <p:nvPr/>
        </p:nvSpPr>
        <p:spPr>
          <a:xfrm>
            <a:off x="594360" y="2066544"/>
            <a:ext cx="1657350" cy="182880"/>
          </a:xfrm>
          <a:prstGeom prst="rect">
            <a:avLst/>
          </a:prstGeom>
          <a:noFill/>
          <a:ln/>
        </p:spPr>
        <p:txBody>
          <a:bodyPr wrap="square" lIns="0" tIns="0" rIns="0" bIns="0" rtlCol="0" anchor="t"/>
          <a:lstStyle/>
          <a:p>
            <a:pPr indent="0" marL="0">
              <a:buNone/>
            </a:pPr>
            <a:r>
              <a:rPr lang="en-US" sz="1050" b="1" dirty="0">
                <a:solidFill>
                  <a:srgbClr val="0B1A2E"/>
                </a:solidFill>
                <a:latin typeface="Calibri" pitchFamily="34" charset="0"/>
                <a:ea typeface="Calibri" pitchFamily="34" charset="-122"/>
                <a:cs typeface="Calibri" pitchFamily="34" charset="-120"/>
              </a:rPr>
              <a:t>Web app</a:t>
            </a:r>
            <a:pPr indent="0" marL="0">
              <a:buNone/>
            </a:pPr>
            <a:r>
              <a:rPr lang="en-US" sz="950" b="1" dirty="0">
                <a:solidFill>
                  <a:srgbClr val="C8102E"/>
                </a:solidFill>
                <a:latin typeface="Calibri" pitchFamily="34" charset="0"/>
                <a:ea typeface="Calibri" pitchFamily="34" charset="-122"/>
                <a:cs typeface="Calibri" pitchFamily="34" charset="-120"/>
              </a:rPr>
              <a:t xml:space="preserve">  :4000</a:t>
            </a:r>
            <a:endParaRPr lang="en-US" sz="1050" dirty="0"/>
          </a:p>
        </p:txBody>
      </p:sp>
      <p:sp>
        <p:nvSpPr>
          <p:cNvPr id="12" name="Text 8"/>
          <p:cNvSpPr/>
          <p:nvPr/>
        </p:nvSpPr>
        <p:spPr>
          <a:xfrm>
            <a:off x="594360" y="2240280"/>
            <a:ext cx="1657350" cy="182880"/>
          </a:xfrm>
          <a:prstGeom prst="rect">
            <a:avLst/>
          </a:prstGeom>
          <a:noFill/>
          <a:ln/>
        </p:spPr>
        <p:txBody>
          <a:bodyPr wrap="square" lIns="0" tIns="0" rIns="0" bIns="0" rtlCol="0" anchor="t"/>
          <a:lstStyle/>
          <a:p>
            <a:pPr indent="0" marL="0">
              <a:buNone/>
            </a:pPr>
            <a:r>
              <a:rPr lang="en-US" sz="950" dirty="0">
                <a:solidFill>
                  <a:srgbClr val="4F5E71"/>
                </a:solidFill>
                <a:latin typeface="Calibri" pitchFamily="34" charset="0"/>
                <a:ea typeface="Calibri" pitchFamily="34" charset="-122"/>
                <a:cs typeface="Calibri" pitchFamily="34" charset="-120"/>
              </a:rPr>
              <a:t>React app, cookie session</a:t>
            </a:r>
            <a:endParaRPr lang="en-US" sz="950" dirty="0"/>
          </a:p>
        </p:txBody>
      </p:sp>
      <p:sp>
        <p:nvSpPr>
          <p:cNvPr id="13" name="Text 9"/>
          <p:cNvSpPr/>
          <p:nvPr/>
        </p:nvSpPr>
        <p:spPr>
          <a:xfrm>
            <a:off x="594360" y="2468880"/>
            <a:ext cx="1657350" cy="182880"/>
          </a:xfrm>
          <a:prstGeom prst="rect">
            <a:avLst/>
          </a:prstGeom>
          <a:noFill/>
          <a:ln/>
        </p:spPr>
        <p:txBody>
          <a:bodyPr wrap="square" lIns="0" tIns="0" rIns="0" bIns="0" rtlCol="0" anchor="t"/>
          <a:lstStyle/>
          <a:p>
            <a:pPr indent="0" marL="0">
              <a:buNone/>
            </a:pPr>
            <a:r>
              <a:rPr lang="en-US" sz="1050" b="1" dirty="0">
                <a:solidFill>
                  <a:srgbClr val="0B1A2E"/>
                </a:solidFill>
                <a:latin typeface="Calibri" pitchFamily="34" charset="0"/>
                <a:ea typeface="Calibri" pitchFamily="34" charset="-122"/>
                <a:cs typeface="Calibri" pitchFamily="34" charset="-120"/>
              </a:rPr>
              <a:t>BFF API</a:t>
            </a:r>
            <a:pPr indent="0" marL="0">
              <a:buNone/>
            </a:pPr>
            <a:r>
              <a:rPr lang="en-US" sz="950" b="1" dirty="0">
                <a:solidFill>
                  <a:srgbClr val="C8102E"/>
                </a:solidFill>
                <a:latin typeface="Calibri" pitchFamily="34" charset="0"/>
                <a:ea typeface="Calibri" pitchFamily="34" charset="-122"/>
                <a:cs typeface="Calibri" pitchFamily="34" charset="-120"/>
              </a:rPr>
              <a:t xml:space="preserve">  :3001</a:t>
            </a:r>
            <a:endParaRPr lang="en-US" sz="1050" dirty="0"/>
          </a:p>
        </p:txBody>
      </p:sp>
      <p:sp>
        <p:nvSpPr>
          <p:cNvPr id="14" name="Text 10"/>
          <p:cNvSpPr/>
          <p:nvPr/>
        </p:nvSpPr>
        <p:spPr>
          <a:xfrm>
            <a:off x="594360" y="2642616"/>
            <a:ext cx="1657350" cy="182880"/>
          </a:xfrm>
          <a:prstGeom prst="rect">
            <a:avLst/>
          </a:prstGeom>
          <a:noFill/>
          <a:ln/>
        </p:spPr>
        <p:txBody>
          <a:bodyPr wrap="square" lIns="0" tIns="0" rIns="0" bIns="0" rtlCol="0" anchor="t"/>
          <a:lstStyle/>
          <a:p>
            <a:pPr indent="0" marL="0">
              <a:buNone/>
            </a:pPr>
            <a:r>
              <a:rPr lang="en-US" sz="950" dirty="0">
                <a:solidFill>
                  <a:srgbClr val="4F5E71"/>
                </a:solidFill>
                <a:latin typeface="Calibri" pitchFamily="34" charset="0"/>
                <a:ea typeface="Calibri" pitchFamily="34" charset="-122"/>
                <a:cs typeface="Calibri" pitchFamily="34" charset="-120"/>
              </a:rPr>
              <a:t>Holds tokens, runs sign-in</a:t>
            </a:r>
            <a:endParaRPr lang="en-US" sz="950" dirty="0"/>
          </a:p>
        </p:txBody>
      </p:sp>
      <p:sp>
        <p:nvSpPr>
          <p:cNvPr id="15" name="Shape 11"/>
          <p:cNvSpPr/>
          <p:nvPr/>
        </p:nvSpPr>
        <p:spPr>
          <a:xfrm>
            <a:off x="2571750" y="1481328"/>
            <a:ext cx="1885950" cy="2670048"/>
          </a:xfrm>
          <a:prstGeom prst="rect">
            <a:avLst/>
          </a:prstGeom>
          <a:solidFill>
            <a:srgbClr val="FFFFFF"/>
          </a:solidFill>
          <a:ln w="9525">
            <a:solidFill>
              <a:srgbClr val="D5DBE3"/>
            </a:solidFill>
            <a:prstDash val="solid"/>
          </a:ln>
        </p:spPr>
      </p:sp>
      <p:sp>
        <p:nvSpPr>
          <p:cNvPr id="16" name="Shape 12"/>
          <p:cNvSpPr/>
          <p:nvPr/>
        </p:nvSpPr>
        <p:spPr>
          <a:xfrm>
            <a:off x="2708910" y="1591056"/>
            <a:ext cx="365760" cy="365760"/>
          </a:xfrm>
          <a:prstGeom prst="ellipse">
            <a:avLst/>
          </a:prstGeom>
          <a:solidFill>
            <a:srgbClr val="0B1A2E"/>
          </a:solidFill>
          <a:ln/>
        </p:spPr>
      </p:sp>
      <p:pic>
        <p:nvPicPr>
          <p:cNvPr id="17" name="Image 1" descr="preencoded.png"/>
          <p:cNvPicPr>
            <a:picLocks noChangeAspect="1"/>
          </p:cNvPicPr>
          <p:nvPr/>
        </p:nvPicPr>
        <p:blipFill>
          <a:blip r:embed="rId2"/>
          <a:stretch>
            <a:fillRect/>
          </a:stretch>
        </p:blipFill>
        <p:spPr>
          <a:xfrm>
            <a:off x="2807665" y="1689811"/>
            <a:ext cx="168250" cy="168250"/>
          </a:xfrm>
          <a:prstGeom prst="rect">
            <a:avLst/>
          </a:prstGeom>
        </p:spPr>
      </p:pic>
      <p:sp>
        <p:nvSpPr>
          <p:cNvPr id="18" name="Text 13"/>
          <p:cNvSpPr/>
          <p:nvPr/>
        </p:nvSpPr>
        <p:spPr>
          <a:xfrm>
            <a:off x="3156966" y="1591056"/>
            <a:ext cx="1209294" cy="365760"/>
          </a:xfrm>
          <a:prstGeom prst="rect">
            <a:avLst/>
          </a:prstGeom>
          <a:noFill/>
          <a:ln/>
        </p:spPr>
        <p:txBody>
          <a:bodyPr wrap="square" lIns="0" tIns="0" rIns="0" bIns="0" rtlCol="0" anchor="ctr"/>
          <a:lstStyle/>
          <a:p>
            <a:pPr indent="0" marL="0">
              <a:buNone/>
            </a:pPr>
            <a:r>
              <a:rPr lang="en-US" sz="1100" b="1" dirty="0">
                <a:solidFill>
                  <a:srgbClr val="0B1A2E"/>
                </a:solidFill>
                <a:latin typeface="Montserrat" pitchFamily="34" charset="0"/>
                <a:ea typeface="Montserrat" pitchFamily="34" charset="-122"/>
                <a:cs typeface="Montserrat" pitchFamily="34" charset="-120"/>
              </a:rPr>
              <a:t>Gateway</a:t>
            </a:r>
            <a:endParaRPr lang="en-US" sz="1100" dirty="0"/>
          </a:p>
        </p:txBody>
      </p:sp>
      <p:sp>
        <p:nvSpPr>
          <p:cNvPr id="19" name="Text 14"/>
          <p:cNvSpPr/>
          <p:nvPr/>
        </p:nvSpPr>
        <p:spPr>
          <a:xfrm>
            <a:off x="2708910" y="2066544"/>
            <a:ext cx="1657350" cy="182880"/>
          </a:xfrm>
          <a:prstGeom prst="rect">
            <a:avLst/>
          </a:prstGeom>
          <a:noFill/>
          <a:ln/>
        </p:spPr>
        <p:txBody>
          <a:bodyPr wrap="square" lIns="0" tIns="0" rIns="0" bIns="0" rtlCol="0" anchor="t"/>
          <a:lstStyle/>
          <a:p>
            <a:pPr indent="0" marL="0">
              <a:buNone/>
            </a:pPr>
            <a:r>
              <a:rPr lang="en-US" sz="1050" b="1" dirty="0">
                <a:solidFill>
                  <a:srgbClr val="0B1A2E"/>
                </a:solidFill>
                <a:latin typeface="Calibri" pitchFamily="34" charset="0"/>
                <a:ea typeface="Calibri" pitchFamily="34" charset="-122"/>
                <a:cs typeface="Calibri" pitchFamily="34" charset="-120"/>
              </a:rPr>
              <a:t>Agent Gateway</a:t>
            </a:r>
            <a:pPr indent="0" marL="0">
              <a:buNone/>
            </a:pPr>
            <a:r>
              <a:rPr lang="en-US" sz="950" b="1" dirty="0">
                <a:solidFill>
                  <a:srgbClr val="C8102E"/>
                </a:solidFill>
                <a:latin typeface="Calibri" pitchFamily="34" charset="0"/>
                <a:ea typeface="Calibri" pitchFamily="34" charset="-122"/>
                <a:cs typeface="Calibri" pitchFamily="34" charset="-120"/>
              </a:rPr>
              <a:t xml:space="preserve">  :3036</a:t>
            </a:r>
            <a:endParaRPr lang="en-US" sz="1050" dirty="0"/>
          </a:p>
        </p:txBody>
      </p:sp>
      <p:sp>
        <p:nvSpPr>
          <p:cNvPr id="20" name="Text 15"/>
          <p:cNvSpPr/>
          <p:nvPr/>
        </p:nvSpPr>
        <p:spPr>
          <a:xfrm>
            <a:off x="2708910" y="2240280"/>
            <a:ext cx="1657350" cy="182880"/>
          </a:xfrm>
          <a:prstGeom prst="rect">
            <a:avLst/>
          </a:prstGeom>
          <a:noFill/>
          <a:ln/>
        </p:spPr>
        <p:txBody>
          <a:bodyPr wrap="square" lIns="0" tIns="0" rIns="0" bIns="0" rtlCol="0" anchor="t"/>
          <a:lstStyle/>
          <a:p>
            <a:pPr indent="0" marL="0">
              <a:buNone/>
            </a:pPr>
            <a:r>
              <a:rPr lang="en-US" sz="950" dirty="0">
                <a:solidFill>
                  <a:srgbClr val="4F5E71"/>
                </a:solidFill>
                <a:latin typeface="Calibri" pitchFamily="34" charset="0"/>
                <a:ea typeface="Calibri" pitchFamily="34" charset="-122"/>
                <a:cs typeface="Calibri" pitchFamily="34" charset="-120"/>
              </a:rPr>
              <a:t>Real: PingGateway, default</a:t>
            </a:r>
            <a:endParaRPr lang="en-US" sz="950" dirty="0"/>
          </a:p>
        </p:txBody>
      </p:sp>
      <p:sp>
        <p:nvSpPr>
          <p:cNvPr id="21" name="Text 16"/>
          <p:cNvSpPr/>
          <p:nvPr/>
        </p:nvSpPr>
        <p:spPr>
          <a:xfrm>
            <a:off x="2708910" y="2468880"/>
            <a:ext cx="1657350" cy="182880"/>
          </a:xfrm>
          <a:prstGeom prst="rect">
            <a:avLst/>
          </a:prstGeom>
          <a:noFill/>
          <a:ln/>
        </p:spPr>
        <p:txBody>
          <a:bodyPr wrap="square" lIns="0" tIns="0" rIns="0" bIns="0" rtlCol="0" anchor="t"/>
          <a:lstStyle/>
          <a:p>
            <a:pPr indent="0" marL="0">
              <a:buNone/>
            </a:pPr>
            <a:r>
              <a:rPr lang="en-US" sz="1050" b="1" dirty="0">
                <a:solidFill>
                  <a:srgbClr val="0B1A2E"/>
                </a:solidFill>
                <a:latin typeface="Calibri" pitchFamily="34" charset="0"/>
                <a:ea typeface="Calibri" pitchFamily="34" charset="-122"/>
                <a:cs typeface="Calibri" pitchFamily="34" charset="-120"/>
              </a:rPr>
              <a:t>PingOne Authorize</a:t>
            </a:r>
            <a:pPr indent="0" marL="0">
              <a:buNone/>
            </a:pPr>
            <a:r>
              <a:rPr lang="en-US" sz="950" b="1" dirty="0">
                <a:solidFill>
                  <a:srgbClr val="C8102E"/>
                </a:solidFill>
                <a:latin typeface="Calibri" pitchFamily="34" charset="0"/>
                <a:ea typeface="Calibri" pitchFamily="34" charset="-122"/>
                <a:cs typeface="Calibri" pitchFamily="34" charset="-120"/>
              </a:rPr>
              <a:t xml:space="preserve">  cloud</a:t>
            </a:r>
            <a:endParaRPr lang="en-US" sz="1050" dirty="0"/>
          </a:p>
        </p:txBody>
      </p:sp>
      <p:sp>
        <p:nvSpPr>
          <p:cNvPr id="22" name="Text 17"/>
          <p:cNvSpPr/>
          <p:nvPr/>
        </p:nvSpPr>
        <p:spPr>
          <a:xfrm>
            <a:off x="2708910" y="2642616"/>
            <a:ext cx="1657350" cy="182880"/>
          </a:xfrm>
          <a:prstGeom prst="rect">
            <a:avLst/>
          </a:prstGeom>
          <a:noFill/>
          <a:ln/>
        </p:spPr>
        <p:txBody>
          <a:bodyPr wrap="square" lIns="0" tIns="0" rIns="0" bIns="0" rtlCol="0" anchor="t"/>
          <a:lstStyle/>
          <a:p>
            <a:pPr indent="0" marL="0">
              <a:buNone/>
            </a:pPr>
            <a:r>
              <a:rPr lang="en-US" sz="950" dirty="0">
                <a:solidFill>
                  <a:srgbClr val="4F5E71"/>
                </a:solidFill>
                <a:latin typeface="Calibri" pitchFamily="34" charset="0"/>
                <a:ea typeface="Calibri" pitchFamily="34" charset="-122"/>
                <a:cs typeface="Calibri" pitchFamily="34" charset="-120"/>
              </a:rPr>
              <a:t>Real policy decisions, default</a:t>
            </a:r>
            <a:endParaRPr lang="en-US" sz="950" dirty="0"/>
          </a:p>
        </p:txBody>
      </p:sp>
      <p:sp>
        <p:nvSpPr>
          <p:cNvPr id="23" name="Text 18"/>
          <p:cNvSpPr/>
          <p:nvPr/>
        </p:nvSpPr>
        <p:spPr>
          <a:xfrm>
            <a:off x="2708910" y="2871216"/>
            <a:ext cx="1657350" cy="182880"/>
          </a:xfrm>
          <a:prstGeom prst="rect">
            <a:avLst/>
          </a:prstGeom>
          <a:noFill/>
          <a:ln/>
        </p:spPr>
        <p:txBody>
          <a:bodyPr wrap="square" lIns="0" tIns="0" rIns="0" bIns="0" rtlCol="0" anchor="t"/>
          <a:lstStyle/>
          <a:p>
            <a:pPr indent="0" marL="0">
              <a:buNone/>
            </a:pPr>
            <a:r>
              <a:rPr lang="en-US" sz="1050" b="1" dirty="0">
                <a:solidFill>
                  <a:srgbClr val="0B1A2E"/>
                </a:solidFill>
                <a:latin typeface="Calibri" pitchFamily="34" charset="0"/>
                <a:ea typeface="Calibri" pitchFamily="34" charset="-122"/>
                <a:cs typeface="Calibri" pitchFamily="34" charset="-120"/>
              </a:rPr>
              <a:t>HITL service</a:t>
            </a:r>
            <a:pPr indent="0" marL="0">
              <a:buNone/>
            </a:pPr>
            <a:r>
              <a:rPr lang="en-US" sz="950" b="1" dirty="0">
                <a:solidFill>
                  <a:srgbClr val="C8102E"/>
                </a:solidFill>
                <a:latin typeface="Calibri" pitchFamily="34" charset="0"/>
                <a:ea typeface="Calibri" pitchFamily="34" charset="-122"/>
                <a:cs typeface="Calibri" pitchFamily="34" charset="-120"/>
              </a:rPr>
              <a:t xml:space="preserve">  :3009</a:t>
            </a:r>
            <a:endParaRPr lang="en-US" sz="1050" dirty="0"/>
          </a:p>
        </p:txBody>
      </p:sp>
      <p:sp>
        <p:nvSpPr>
          <p:cNvPr id="24" name="Text 19"/>
          <p:cNvSpPr/>
          <p:nvPr/>
        </p:nvSpPr>
        <p:spPr>
          <a:xfrm>
            <a:off x="2708910" y="3044952"/>
            <a:ext cx="1657350" cy="182880"/>
          </a:xfrm>
          <a:prstGeom prst="rect">
            <a:avLst/>
          </a:prstGeom>
          <a:noFill/>
          <a:ln/>
        </p:spPr>
        <p:txBody>
          <a:bodyPr wrap="square" lIns="0" tIns="0" rIns="0" bIns="0" rtlCol="0" anchor="t"/>
          <a:lstStyle/>
          <a:p>
            <a:pPr indent="0" marL="0">
              <a:buNone/>
            </a:pPr>
            <a:r>
              <a:rPr lang="en-US" sz="950" dirty="0">
                <a:solidFill>
                  <a:srgbClr val="4F5E71"/>
                </a:solidFill>
                <a:latin typeface="Calibri" pitchFamily="34" charset="0"/>
                <a:ea typeface="Calibri" pitchFamily="34" charset="-122"/>
                <a:cs typeface="Calibri" pitchFamily="34" charset="-120"/>
              </a:rPr>
              <a:t>Human approval challenges</a:t>
            </a:r>
            <a:endParaRPr lang="en-US" sz="950" dirty="0"/>
          </a:p>
        </p:txBody>
      </p:sp>
      <p:sp>
        <p:nvSpPr>
          <p:cNvPr id="25" name="Text 20"/>
          <p:cNvSpPr/>
          <p:nvPr/>
        </p:nvSpPr>
        <p:spPr>
          <a:xfrm>
            <a:off x="2708910" y="3273552"/>
            <a:ext cx="1657350" cy="182880"/>
          </a:xfrm>
          <a:prstGeom prst="rect">
            <a:avLst/>
          </a:prstGeom>
          <a:noFill/>
          <a:ln/>
        </p:spPr>
        <p:txBody>
          <a:bodyPr wrap="square" lIns="0" tIns="0" rIns="0" bIns="0" rtlCol="0" anchor="t"/>
          <a:lstStyle/>
          <a:p>
            <a:pPr indent="0" marL="0">
              <a:buNone/>
            </a:pPr>
            <a:r>
              <a:rPr lang="en-US" sz="1050" b="1" dirty="0">
                <a:solidFill>
                  <a:srgbClr val="0B1A2E"/>
                </a:solidFill>
                <a:latin typeface="Calibri" pitchFamily="34" charset="0"/>
                <a:ea typeface="Calibri" pitchFamily="34" charset="-122"/>
                <a:cs typeface="Calibri" pitchFamily="34" charset="-120"/>
              </a:rPr>
              <a:t>Node MCP gateway</a:t>
            </a:r>
            <a:pPr indent="0" marL="0">
              <a:buNone/>
            </a:pPr>
            <a:r>
              <a:rPr lang="en-US" sz="950" b="1" dirty="0">
                <a:solidFill>
                  <a:srgbClr val="C8102E"/>
                </a:solidFill>
                <a:latin typeface="Calibri" pitchFamily="34" charset="0"/>
                <a:ea typeface="Calibri" pitchFamily="34" charset="-122"/>
                <a:cs typeface="Calibri" pitchFamily="34" charset="-120"/>
              </a:rPr>
              <a:t xml:space="preserve">  :3005</a:t>
            </a:r>
            <a:endParaRPr lang="en-US" sz="1050" dirty="0"/>
          </a:p>
        </p:txBody>
      </p:sp>
      <p:sp>
        <p:nvSpPr>
          <p:cNvPr id="26" name="Text 21"/>
          <p:cNvSpPr/>
          <p:nvPr/>
        </p:nvSpPr>
        <p:spPr>
          <a:xfrm>
            <a:off x="2708910" y="3447288"/>
            <a:ext cx="1657350" cy="182880"/>
          </a:xfrm>
          <a:prstGeom prst="rect">
            <a:avLst/>
          </a:prstGeom>
          <a:noFill/>
          <a:ln/>
        </p:spPr>
        <p:txBody>
          <a:bodyPr wrap="square" lIns="0" tIns="0" rIns="0" bIns="0" rtlCol="0" anchor="t"/>
          <a:lstStyle/>
          <a:p>
            <a:pPr indent="0" marL="0">
              <a:buNone/>
            </a:pPr>
            <a:r>
              <a:rPr lang="en-US" sz="950" dirty="0">
                <a:solidFill>
                  <a:srgbClr val="4F5E71"/>
                </a:solidFill>
                <a:latin typeface="Calibri" pitchFamily="34" charset="0"/>
                <a:ea typeface="Calibri" pitchFamily="34" charset="-122"/>
                <a:cs typeface="Calibri" pitchFamily="34" charset="-120"/>
              </a:rPr>
              <a:t>Demo gateway, opt-in</a:t>
            </a:r>
            <a:endParaRPr lang="en-US" sz="950" dirty="0"/>
          </a:p>
        </p:txBody>
      </p:sp>
      <p:sp>
        <p:nvSpPr>
          <p:cNvPr id="27" name="Text 22"/>
          <p:cNvSpPr/>
          <p:nvPr/>
        </p:nvSpPr>
        <p:spPr>
          <a:xfrm>
            <a:off x="2708910" y="3675888"/>
            <a:ext cx="1657350" cy="182880"/>
          </a:xfrm>
          <a:prstGeom prst="rect">
            <a:avLst/>
          </a:prstGeom>
          <a:noFill/>
          <a:ln/>
        </p:spPr>
        <p:txBody>
          <a:bodyPr wrap="square" lIns="0" tIns="0" rIns="0" bIns="0" rtlCol="0" anchor="t"/>
          <a:lstStyle/>
          <a:p>
            <a:pPr indent="0" marL="0">
              <a:buNone/>
            </a:pPr>
            <a:r>
              <a:rPr lang="en-US" sz="1050" b="1" dirty="0">
                <a:solidFill>
                  <a:srgbClr val="0B1A2E"/>
                </a:solidFill>
                <a:latin typeface="Calibri" pitchFamily="34" charset="0"/>
                <a:ea typeface="Calibri" pitchFamily="34" charset="-122"/>
                <a:cs typeface="Calibri" pitchFamily="34" charset="-120"/>
              </a:rPr>
              <a:t>Authorize mock</a:t>
            </a:r>
            <a:pPr indent="0" marL="0">
              <a:buNone/>
            </a:pPr>
            <a:r>
              <a:rPr lang="en-US" sz="950" b="1" dirty="0">
                <a:solidFill>
                  <a:srgbClr val="C8102E"/>
                </a:solidFill>
                <a:latin typeface="Calibri" pitchFamily="34" charset="0"/>
                <a:ea typeface="Calibri" pitchFamily="34" charset="-122"/>
                <a:cs typeface="Calibri" pitchFamily="34" charset="-120"/>
              </a:rPr>
              <a:t xml:space="preserve">  :9001</a:t>
            </a:r>
            <a:endParaRPr lang="en-US" sz="1050" dirty="0"/>
          </a:p>
        </p:txBody>
      </p:sp>
      <p:sp>
        <p:nvSpPr>
          <p:cNvPr id="28" name="Text 23"/>
          <p:cNvSpPr/>
          <p:nvPr/>
        </p:nvSpPr>
        <p:spPr>
          <a:xfrm>
            <a:off x="2708910" y="3849624"/>
            <a:ext cx="1657350" cy="182880"/>
          </a:xfrm>
          <a:prstGeom prst="rect">
            <a:avLst/>
          </a:prstGeom>
          <a:noFill/>
          <a:ln/>
        </p:spPr>
        <p:txBody>
          <a:bodyPr wrap="square" lIns="0" tIns="0" rIns="0" bIns="0" rtlCol="0" anchor="t"/>
          <a:lstStyle/>
          <a:p>
            <a:pPr indent="0" marL="0">
              <a:buNone/>
            </a:pPr>
            <a:r>
              <a:rPr lang="en-US" sz="950" dirty="0">
                <a:solidFill>
                  <a:srgbClr val="4F5E71"/>
                </a:solidFill>
                <a:latin typeface="Calibri" pitchFamily="34" charset="0"/>
                <a:ea typeface="Calibri" pitchFamily="34" charset="-122"/>
                <a:cs typeface="Calibri" pitchFamily="34" charset="-120"/>
              </a:rPr>
              <a:t>Demo Authorize, opt-in</a:t>
            </a:r>
            <a:endParaRPr lang="en-US" sz="950" dirty="0"/>
          </a:p>
        </p:txBody>
      </p:sp>
      <p:sp>
        <p:nvSpPr>
          <p:cNvPr id="29" name="Shape 24"/>
          <p:cNvSpPr/>
          <p:nvPr/>
        </p:nvSpPr>
        <p:spPr>
          <a:xfrm>
            <a:off x="4686300" y="1481328"/>
            <a:ext cx="1885950" cy="2670048"/>
          </a:xfrm>
          <a:prstGeom prst="rect">
            <a:avLst/>
          </a:prstGeom>
          <a:solidFill>
            <a:srgbClr val="FFFFFF"/>
          </a:solidFill>
          <a:ln w="9525">
            <a:solidFill>
              <a:srgbClr val="D5DBE3"/>
            </a:solidFill>
            <a:prstDash val="solid"/>
          </a:ln>
        </p:spPr>
      </p:sp>
      <p:sp>
        <p:nvSpPr>
          <p:cNvPr id="30" name="Shape 25"/>
          <p:cNvSpPr/>
          <p:nvPr/>
        </p:nvSpPr>
        <p:spPr>
          <a:xfrm>
            <a:off x="4823460" y="1591056"/>
            <a:ext cx="365760" cy="365760"/>
          </a:xfrm>
          <a:prstGeom prst="ellipse">
            <a:avLst/>
          </a:prstGeom>
          <a:solidFill>
            <a:srgbClr val="0B1A2E"/>
          </a:solidFill>
          <a:ln/>
        </p:spPr>
      </p:sp>
      <p:pic>
        <p:nvPicPr>
          <p:cNvPr id="31" name="Image 2" descr="preencoded.png"/>
          <p:cNvPicPr>
            <a:picLocks noChangeAspect="1"/>
          </p:cNvPicPr>
          <p:nvPr/>
        </p:nvPicPr>
        <p:blipFill>
          <a:blip r:embed="rId3"/>
          <a:stretch>
            <a:fillRect/>
          </a:stretch>
        </p:blipFill>
        <p:spPr>
          <a:xfrm>
            <a:off x="4922215" y="1689811"/>
            <a:ext cx="168250" cy="168250"/>
          </a:xfrm>
          <a:prstGeom prst="rect">
            <a:avLst/>
          </a:prstGeom>
        </p:spPr>
      </p:pic>
      <p:sp>
        <p:nvSpPr>
          <p:cNvPr id="32" name="Text 26"/>
          <p:cNvSpPr/>
          <p:nvPr/>
        </p:nvSpPr>
        <p:spPr>
          <a:xfrm>
            <a:off x="5271516" y="1591056"/>
            <a:ext cx="1209294" cy="365760"/>
          </a:xfrm>
          <a:prstGeom prst="rect">
            <a:avLst/>
          </a:prstGeom>
          <a:noFill/>
          <a:ln/>
        </p:spPr>
        <p:txBody>
          <a:bodyPr wrap="square" lIns="0" tIns="0" rIns="0" bIns="0" rtlCol="0" anchor="ctr"/>
          <a:lstStyle/>
          <a:p>
            <a:pPr indent="0" marL="0">
              <a:buNone/>
            </a:pPr>
            <a:r>
              <a:rPr lang="en-US" sz="1100" b="1" dirty="0">
                <a:solidFill>
                  <a:srgbClr val="0B1A2E"/>
                </a:solidFill>
                <a:latin typeface="Montserrat" pitchFamily="34" charset="0"/>
                <a:ea typeface="Montserrat" pitchFamily="34" charset="-122"/>
                <a:cs typeface="Montserrat" pitchFamily="34" charset="-120"/>
              </a:rPr>
              <a:t>MCP tools</a:t>
            </a:r>
            <a:endParaRPr lang="en-US" sz="1100" dirty="0"/>
          </a:p>
        </p:txBody>
      </p:sp>
      <p:sp>
        <p:nvSpPr>
          <p:cNvPr id="33" name="Text 27"/>
          <p:cNvSpPr/>
          <p:nvPr/>
        </p:nvSpPr>
        <p:spPr>
          <a:xfrm>
            <a:off x="4823460" y="2066544"/>
            <a:ext cx="1657350" cy="182880"/>
          </a:xfrm>
          <a:prstGeom prst="rect">
            <a:avLst/>
          </a:prstGeom>
          <a:noFill/>
          <a:ln/>
        </p:spPr>
        <p:txBody>
          <a:bodyPr wrap="square" lIns="0" tIns="0" rIns="0" bIns="0" rtlCol="0" anchor="t"/>
          <a:lstStyle/>
          <a:p>
            <a:pPr indent="0" marL="0">
              <a:buNone/>
            </a:pPr>
            <a:r>
              <a:rPr lang="en-US" sz="1050" b="1" dirty="0">
                <a:solidFill>
                  <a:srgbClr val="0B1A2E"/>
                </a:solidFill>
                <a:latin typeface="Calibri" pitchFamily="34" charset="0"/>
                <a:ea typeface="Calibri" pitchFamily="34" charset="-122"/>
                <a:cs typeface="Calibri" pitchFamily="34" charset="-120"/>
              </a:rPr>
              <a:t>Banking MCP</a:t>
            </a:r>
            <a:pPr indent="0" marL="0">
              <a:buNone/>
            </a:pPr>
            <a:r>
              <a:rPr lang="en-US" sz="950" b="1" dirty="0">
                <a:solidFill>
                  <a:srgbClr val="C8102E"/>
                </a:solidFill>
                <a:latin typeface="Calibri" pitchFamily="34" charset="0"/>
                <a:ea typeface="Calibri" pitchFamily="34" charset="-122"/>
                <a:cs typeface="Calibri" pitchFamily="34" charset="-120"/>
              </a:rPr>
              <a:t xml:space="preserve">  :8080</a:t>
            </a:r>
            <a:endParaRPr lang="en-US" sz="1050" dirty="0"/>
          </a:p>
        </p:txBody>
      </p:sp>
      <p:sp>
        <p:nvSpPr>
          <p:cNvPr id="34" name="Text 28"/>
          <p:cNvSpPr/>
          <p:nvPr/>
        </p:nvSpPr>
        <p:spPr>
          <a:xfrm>
            <a:off x="4823460" y="2240280"/>
            <a:ext cx="1657350" cy="182880"/>
          </a:xfrm>
          <a:prstGeom prst="rect">
            <a:avLst/>
          </a:prstGeom>
          <a:noFill/>
          <a:ln/>
        </p:spPr>
        <p:txBody>
          <a:bodyPr wrap="square" lIns="0" tIns="0" rIns="0" bIns="0" rtlCol="0" anchor="t"/>
          <a:lstStyle/>
          <a:p>
            <a:pPr indent="0" marL="0">
              <a:buNone/>
            </a:pPr>
            <a:r>
              <a:rPr lang="en-US" sz="950" dirty="0">
                <a:solidFill>
                  <a:srgbClr val="4F5E71"/>
                </a:solidFill>
                <a:latin typeface="Calibri" pitchFamily="34" charset="0"/>
                <a:ea typeface="Calibri" pitchFamily="34" charset="-122"/>
                <a:cs typeface="Calibri" pitchFamily="34" charset="-120"/>
              </a:rPr>
              <a:t>Accounts and transfers</a:t>
            </a:r>
            <a:endParaRPr lang="en-US" sz="950" dirty="0"/>
          </a:p>
        </p:txBody>
      </p:sp>
      <p:sp>
        <p:nvSpPr>
          <p:cNvPr id="35" name="Text 29"/>
          <p:cNvSpPr/>
          <p:nvPr/>
        </p:nvSpPr>
        <p:spPr>
          <a:xfrm>
            <a:off x="4823460" y="2468880"/>
            <a:ext cx="1657350" cy="182880"/>
          </a:xfrm>
          <a:prstGeom prst="rect">
            <a:avLst/>
          </a:prstGeom>
          <a:noFill/>
          <a:ln/>
        </p:spPr>
        <p:txBody>
          <a:bodyPr wrap="square" lIns="0" tIns="0" rIns="0" bIns="0" rtlCol="0" anchor="t"/>
          <a:lstStyle/>
          <a:p>
            <a:pPr indent="0" marL="0">
              <a:buNone/>
            </a:pPr>
            <a:r>
              <a:rPr lang="en-US" sz="1050" b="1" dirty="0">
                <a:solidFill>
                  <a:srgbClr val="0B1A2E"/>
                </a:solidFill>
                <a:latin typeface="Calibri" pitchFamily="34" charset="0"/>
                <a:ea typeface="Calibri" pitchFamily="34" charset="-122"/>
                <a:cs typeface="Calibri" pitchFamily="34" charset="-120"/>
              </a:rPr>
              <a:t>Invest MCP</a:t>
            </a:r>
            <a:pPr indent="0" marL="0">
              <a:buNone/>
            </a:pPr>
            <a:r>
              <a:rPr lang="en-US" sz="950" b="1" dirty="0">
                <a:solidFill>
                  <a:srgbClr val="C8102E"/>
                </a:solidFill>
                <a:latin typeface="Calibri" pitchFamily="34" charset="0"/>
                <a:ea typeface="Calibri" pitchFamily="34" charset="-122"/>
                <a:cs typeface="Calibri" pitchFamily="34" charset="-120"/>
              </a:rPr>
              <a:t xml:space="preserve">  :8081</a:t>
            </a:r>
            <a:endParaRPr lang="en-US" sz="1050" dirty="0"/>
          </a:p>
        </p:txBody>
      </p:sp>
      <p:sp>
        <p:nvSpPr>
          <p:cNvPr id="36" name="Text 30"/>
          <p:cNvSpPr/>
          <p:nvPr/>
        </p:nvSpPr>
        <p:spPr>
          <a:xfrm>
            <a:off x="4823460" y="2642616"/>
            <a:ext cx="1657350" cy="182880"/>
          </a:xfrm>
          <a:prstGeom prst="rect">
            <a:avLst/>
          </a:prstGeom>
          <a:noFill/>
          <a:ln/>
        </p:spPr>
        <p:txBody>
          <a:bodyPr wrap="square" lIns="0" tIns="0" rIns="0" bIns="0" rtlCol="0" anchor="t"/>
          <a:lstStyle/>
          <a:p>
            <a:pPr indent="0" marL="0">
              <a:buNone/>
            </a:pPr>
            <a:r>
              <a:rPr lang="en-US" sz="950" dirty="0">
                <a:solidFill>
                  <a:srgbClr val="4F5E71"/>
                </a:solidFill>
                <a:latin typeface="Calibri" pitchFamily="34" charset="0"/>
                <a:ea typeface="Calibri" pitchFamily="34" charset="-122"/>
                <a:cs typeface="Calibri" pitchFamily="34" charset="-120"/>
              </a:rPr>
              <a:t>Investments over SQLite</a:t>
            </a:r>
            <a:endParaRPr lang="en-US" sz="950" dirty="0"/>
          </a:p>
        </p:txBody>
      </p:sp>
      <p:sp>
        <p:nvSpPr>
          <p:cNvPr id="37" name="Text 31"/>
          <p:cNvSpPr/>
          <p:nvPr/>
        </p:nvSpPr>
        <p:spPr>
          <a:xfrm>
            <a:off x="4823460" y="2871216"/>
            <a:ext cx="1657350" cy="182880"/>
          </a:xfrm>
          <a:prstGeom prst="rect">
            <a:avLst/>
          </a:prstGeom>
          <a:noFill/>
          <a:ln/>
        </p:spPr>
        <p:txBody>
          <a:bodyPr wrap="square" lIns="0" tIns="0" rIns="0" bIns="0" rtlCol="0" anchor="t"/>
          <a:lstStyle/>
          <a:p>
            <a:pPr indent="0" marL="0">
              <a:buNone/>
            </a:pPr>
            <a:r>
              <a:rPr lang="en-US" sz="1050" b="1" dirty="0">
                <a:solidFill>
                  <a:srgbClr val="0B1A2E"/>
                </a:solidFill>
                <a:latin typeface="Calibri" pitchFamily="34" charset="0"/>
                <a:ea typeface="Calibri" pitchFamily="34" charset="-122"/>
                <a:cs typeface="Calibri" pitchFamily="34" charset="-120"/>
              </a:rPr>
              <a:t>Mortgage API</a:t>
            </a:r>
            <a:pPr indent="0" marL="0">
              <a:buNone/>
            </a:pPr>
            <a:r>
              <a:rPr lang="en-US" sz="950" b="1" dirty="0">
                <a:solidFill>
                  <a:srgbClr val="C8102E"/>
                </a:solidFill>
                <a:latin typeface="Calibri" pitchFamily="34" charset="0"/>
                <a:ea typeface="Calibri" pitchFamily="34" charset="-122"/>
                <a:cs typeface="Calibri" pitchFamily="34" charset="-120"/>
              </a:rPr>
              <a:t xml:space="preserve">  :8082</a:t>
            </a:r>
            <a:endParaRPr lang="en-US" sz="1050" dirty="0"/>
          </a:p>
        </p:txBody>
      </p:sp>
      <p:sp>
        <p:nvSpPr>
          <p:cNvPr id="38" name="Text 32"/>
          <p:cNvSpPr/>
          <p:nvPr/>
        </p:nvSpPr>
        <p:spPr>
          <a:xfrm>
            <a:off x="4823460" y="3044952"/>
            <a:ext cx="1657350" cy="182880"/>
          </a:xfrm>
          <a:prstGeom prst="rect">
            <a:avLst/>
          </a:prstGeom>
          <a:noFill/>
          <a:ln/>
        </p:spPr>
        <p:txBody>
          <a:bodyPr wrap="square" lIns="0" tIns="0" rIns="0" bIns="0" rtlCol="0" anchor="t"/>
          <a:lstStyle/>
          <a:p>
            <a:pPr indent="0" marL="0">
              <a:buNone/>
            </a:pPr>
            <a:r>
              <a:rPr lang="en-US" sz="950" dirty="0">
                <a:solidFill>
                  <a:srgbClr val="4F5E71"/>
                </a:solidFill>
                <a:latin typeface="Calibri" pitchFamily="34" charset="0"/>
                <a:ea typeface="Calibri" pitchFamily="34" charset="-122"/>
                <a:cs typeface="Calibri" pitchFamily="34" charset="-120"/>
              </a:rPr>
              <a:t>Backend using an API key</a:t>
            </a:r>
            <a:endParaRPr lang="en-US" sz="950" dirty="0"/>
          </a:p>
        </p:txBody>
      </p:sp>
      <p:sp>
        <p:nvSpPr>
          <p:cNvPr id="39" name="Text 33"/>
          <p:cNvSpPr/>
          <p:nvPr/>
        </p:nvSpPr>
        <p:spPr>
          <a:xfrm>
            <a:off x="4823460" y="3273552"/>
            <a:ext cx="1657350" cy="182880"/>
          </a:xfrm>
          <a:prstGeom prst="rect">
            <a:avLst/>
          </a:prstGeom>
          <a:noFill/>
          <a:ln/>
        </p:spPr>
        <p:txBody>
          <a:bodyPr wrap="square" lIns="0" tIns="0" rIns="0" bIns="0" rtlCol="0" anchor="t"/>
          <a:lstStyle/>
          <a:p>
            <a:pPr indent="0" marL="0">
              <a:buNone/>
            </a:pPr>
            <a:r>
              <a:rPr lang="en-US" sz="1050" b="1" dirty="0">
                <a:solidFill>
                  <a:srgbClr val="0B1A2E"/>
                </a:solidFill>
                <a:latin typeface="Calibri" pitchFamily="34" charset="0"/>
                <a:ea typeface="Calibri" pitchFamily="34" charset="-122"/>
                <a:cs typeface="Calibri" pitchFamily="34" charset="-120"/>
              </a:rPr>
              <a:t>Weather, Brave</a:t>
            </a:r>
            <a:pPr indent="0" marL="0">
              <a:buNone/>
            </a:pPr>
            <a:r>
              <a:rPr lang="en-US" sz="950" b="1" dirty="0">
                <a:solidFill>
                  <a:srgbClr val="C8102E"/>
                </a:solidFill>
                <a:latin typeface="Calibri" pitchFamily="34" charset="0"/>
                <a:ea typeface="Calibri" pitchFamily="34" charset="-122"/>
                <a:cs typeface="Calibri" pitchFamily="34" charset="-120"/>
              </a:rPr>
              <a:t xml:space="preserve">  :8896/7</a:t>
            </a:r>
            <a:endParaRPr lang="en-US" sz="1050" dirty="0"/>
          </a:p>
        </p:txBody>
      </p:sp>
      <p:sp>
        <p:nvSpPr>
          <p:cNvPr id="40" name="Text 34"/>
          <p:cNvSpPr/>
          <p:nvPr/>
        </p:nvSpPr>
        <p:spPr>
          <a:xfrm>
            <a:off x="4823460" y="3447288"/>
            <a:ext cx="1657350" cy="182880"/>
          </a:xfrm>
          <a:prstGeom prst="rect">
            <a:avLst/>
          </a:prstGeom>
          <a:noFill/>
          <a:ln/>
        </p:spPr>
        <p:txBody>
          <a:bodyPr wrap="square" lIns="0" tIns="0" rIns="0" bIns="0" rtlCol="0" anchor="t"/>
          <a:lstStyle/>
          <a:p>
            <a:pPr indent="0" marL="0">
              <a:buNone/>
            </a:pPr>
            <a:r>
              <a:rPr lang="en-US" sz="950" dirty="0">
                <a:solidFill>
                  <a:srgbClr val="4F5E71"/>
                </a:solidFill>
                <a:latin typeface="Calibri" pitchFamily="34" charset="0"/>
                <a:ea typeface="Calibri" pitchFamily="34" charset="-122"/>
                <a:cs typeface="Calibri" pitchFamily="34" charset="-120"/>
              </a:rPr>
              <a:t>Third-party tools, gated</a:t>
            </a:r>
            <a:endParaRPr lang="en-US" sz="950" dirty="0"/>
          </a:p>
        </p:txBody>
      </p:sp>
      <p:sp>
        <p:nvSpPr>
          <p:cNvPr id="41" name="Text 35"/>
          <p:cNvSpPr/>
          <p:nvPr/>
        </p:nvSpPr>
        <p:spPr>
          <a:xfrm>
            <a:off x="4823460" y="3675888"/>
            <a:ext cx="1657350" cy="182880"/>
          </a:xfrm>
          <a:prstGeom prst="rect">
            <a:avLst/>
          </a:prstGeom>
          <a:noFill/>
          <a:ln/>
        </p:spPr>
        <p:txBody>
          <a:bodyPr wrap="square" lIns="0" tIns="0" rIns="0" bIns="0" rtlCol="0" anchor="t"/>
          <a:lstStyle/>
          <a:p>
            <a:pPr indent="0" marL="0">
              <a:buNone/>
            </a:pPr>
            <a:r>
              <a:rPr lang="en-US" sz="1050" b="1" dirty="0">
                <a:solidFill>
                  <a:srgbClr val="0B1A2E"/>
                </a:solidFill>
                <a:latin typeface="Calibri" pitchFamily="34" charset="0"/>
                <a:ea typeface="Calibri" pitchFamily="34" charset="-122"/>
                <a:cs typeface="Calibri" pitchFamily="34" charset="-120"/>
              </a:rPr>
              <a:t>MCP proxy</a:t>
            </a:r>
            <a:pPr indent="0" marL="0">
              <a:buNone/>
            </a:pPr>
            <a:r>
              <a:rPr lang="en-US" sz="950" b="1" dirty="0">
                <a:solidFill>
                  <a:srgbClr val="C8102E"/>
                </a:solidFill>
                <a:latin typeface="Calibri" pitchFamily="34" charset="0"/>
                <a:ea typeface="Calibri" pitchFamily="34" charset="-122"/>
                <a:cs typeface="Calibri" pitchFamily="34" charset="-120"/>
              </a:rPr>
              <a:t xml:space="preserve">  :8895</a:t>
            </a:r>
            <a:endParaRPr lang="en-US" sz="1050" dirty="0"/>
          </a:p>
        </p:txBody>
      </p:sp>
      <p:sp>
        <p:nvSpPr>
          <p:cNvPr id="42" name="Text 36"/>
          <p:cNvSpPr/>
          <p:nvPr/>
        </p:nvSpPr>
        <p:spPr>
          <a:xfrm>
            <a:off x="4823460" y="3849624"/>
            <a:ext cx="1657350" cy="182880"/>
          </a:xfrm>
          <a:prstGeom prst="rect">
            <a:avLst/>
          </a:prstGeom>
          <a:noFill/>
          <a:ln/>
        </p:spPr>
        <p:txBody>
          <a:bodyPr wrap="square" lIns="0" tIns="0" rIns="0" bIns="0" rtlCol="0" anchor="t"/>
          <a:lstStyle/>
          <a:p>
            <a:pPr indent="0" marL="0">
              <a:buNone/>
            </a:pPr>
            <a:r>
              <a:rPr lang="en-US" sz="950" dirty="0">
                <a:solidFill>
                  <a:srgbClr val="4F5E71"/>
                </a:solidFill>
                <a:latin typeface="Calibri" pitchFamily="34" charset="0"/>
                <a:ea typeface="Calibri" pitchFamily="34" charset="-122"/>
                <a:cs typeface="Calibri" pitchFamily="34" charset="-120"/>
              </a:rPr>
              <a:t>MCP as REST for agents</a:t>
            </a:r>
            <a:endParaRPr lang="en-US" sz="950" dirty="0"/>
          </a:p>
        </p:txBody>
      </p:sp>
      <p:sp>
        <p:nvSpPr>
          <p:cNvPr id="43" name="Shape 37"/>
          <p:cNvSpPr/>
          <p:nvPr/>
        </p:nvSpPr>
        <p:spPr>
          <a:xfrm>
            <a:off x="6800850" y="1481328"/>
            <a:ext cx="1885950" cy="2670048"/>
          </a:xfrm>
          <a:prstGeom prst="rect">
            <a:avLst/>
          </a:prstGeom>
          <a:solidFill>
            <a:srgbClr val="FFFFFF"/>
          </a:solidFill>
          <a:ln w="9525">
            <a:solidFill>
              <a:srgbClr val="D5DBE3"/>
            </a:solidFill>
            <a:prstDash val="solid"/>
          </a:ln>
        </p:spPr>
      </p:sp>
      <p:sp>
        <p:nvSpPr>
          <p:cNvPr id="44" name="Shape 38"/>
          <p:cNvSpPr/>
          <p:nvPr/>
        </p:nvSpPr>
        <p:spPr>
          <a:xfrm>
            <a:off x="6938010" y="1591056"/>
            <a:ext cx="365760" cy="365760"/>
          </a:xfrm>
          <a:prstGeom prst="ellipse">
            <a:avLst/>
          </a:prstGeom>
          <a:solidFill>
            <a:srgbClr val="0B1A2E"/>
          </a:solidFill>
          <a:ln/>
        </p:spPr>
      </p:sp>
      <p:pic>
        <p:nvPicPr>
          <p:cNvPr id="45" name="Image 3" descr="preencoded.png"/>
          <p:cNvPicPr>
            <a:picLocks noChangeAspect="1"/>
          </p:cNvPicPr>
          <p:nvPr/>
        </p:nvPicPr>
        <p:blipFill>
          <a:blip r:embed="rId4"/>
          <a:stretch>
            <a:fillRect/>
          </a:stretch>
        </p:blipFill>
        <p:spPr>
          <a:xfrm>
            <a:off x="7036765" y="1689811"/>
            <a:ext cx="168250" cy="168250"/>
          </a:xfrm>
          <a:prstGeom prst="rect">
            <a:avLst/>
          </a:prstGeom>
        </p:spPr>
      </p:pic>
      <p:sp>
        <p:nvSpPr>
          <p:cNvPr id="46" name="Text 39"/>
          <p:cNvSpPr/>
          <p:nvPr/>
        </p:nvSpPr>
        <p:spPr>
          <a:xfrm>
            <a:off x="7386066" y="1591056"/>
            <a:ext cx="1209294" cy="365760"/>
          </a:xfrm>
          <a:prstGeom prst="rect">
            <a:avLst/>
          </a:prstGeom>
          <a:noFill/>
          <a:ln/>
        </p:spPr>
        <p:txBody>
          <a:bodyPr wrap="square" lIns="0" tIns="0" rIns="0" bIns="0" rtlCol="0" anchor="ctr"/>
          <a:lstStyle/>
          <a:p>
            <a:pPr indent="0" marL="0">
              <a:buNone/>
            </a:pPr>
            <a:r>
              <a:rPr lang="en-US" sz="1100" b="1" dirty="0">
                <a:solidFill>
                  <a:srgbClr val="0B1A2E"/>
                </a:solidFill>
                <a:latin typeface="Montserrat" pitchFamily="34" charset="0"/>
                <a:ea typeface="Montserrat" pitchFamily="34" charset="-122"/>
                <a:cs typeface="Montserrat" pitchFamily="34" charset="-120"/>
              </a:rPr>
              <a:t>AI runtime</a:t>
            </a:r>
            <a:endParaRPr lang="en-US" sz="1100" dirty="0"/>
          </a:p>
        </p:txBody>
      </p:sp>
      <p:sp>
        <p:nvSpPr>
          <p:cNvPr id="47" name="Text 40"/>
          <p:cNvSpPr/>
          <p:nvPr/>
        </p:nvSpPr>
        <p:spPr>
          <a:xfrm>
            <a:off x="6938010" y="2066544"/>
            <a:ext cx="1657350" cy="182880"/>
          </a:xfrm>
          <a:prstGeom prst="rect">
            <a:avLst/>
          </a:prstGeom>
          <a:noFill/>
          <a:ln/>
        </p:spPr>
        <p:txBody>
          <a:bodyPr wrap="square" lIns="0" tIns="0" rIns="0" bIns="0" rtlCol="0" anchor="t"/>
          <a:lstStyle/>
          <a:p>
            <a:pPr indent="0" marL="0">
              <a:buNone/>
            </a:pPr>
            <a:r>
              <a:rPr lang="en-US" sz="1050" b="1" dirty="0">
                <a:solidFill>
                  <a:srgbClr val="0B1A2E"/>
                </a:solidFill>
                <a:latin typeface="Calibri" pitchFamily="34" charset="0"/>
                <a:ea typeface="Calibri" pitchFamily="34" charset="-122"/>
                <a:cs typeface="Calibri" pitchFamily="34" charset="-120"/>
              </a:rPr>
              <a:t>Agent service</a:t>
            </a:r>
            <a:pPr indent="0" marL="0">
              <a:buNone/>
            </a:pPr>
            <a:r>
              <a:rPr lang="en-US" sz="950" b="1" dirty="0">
                <a:solidFill>
                  <a:srgbClr val="C8102E"/>
                </a:solidFill>
                <a:latin typeface="Calibri" pitchFamily="34" charset="0"/>
                <a:ea typeface="Calibri" pitchFamily="34" charset="-122"/>
                <a:cs typeface="Calibri" pitchFamily="34" charset="-120"/>
              </a:rPr>
              <a:t xml:space="preserve">  :3016</a:t>
            </a:r>
            <a:endParaRPr lang="en-US" sz="1050" dirty="0"/>
          </a:p>
        </p:txBody>
      </p:sp>
      <p:sp>
        <p:nvSpPr>
          <p:cNvPr id="48" name="Text 41"/>
          <p:cNvSpPr/>
          <p:nvPr/>
        </p:nvSpPr>
        <p:spPr>
          <a:xfrm>
            <a:off x="6938010" y="2240280"/>
            <a:ext cx="1657350" cy="182880"/>
          </a:xfrm>
          <a:prstGeom prst="rect">
            <a:avLst/>
          </a:prstGeom>
          <a:noFill/>
          <a:ln/>
        </p:spPr>
        <p:txBody>
          <a:bodyPr wrap="square" lIns="0" tIns="0" rIns="0" bIns="0" rtlCol="0" anchor="t"/>
          <a:lstStyle/>
          <a:p>
            <a:pPr indent="0" marL="0">
              <a:buNone/>
            </a:pPr>
            <a:r>
              <a:rPr lang="en-US" sz="950" dirty="0">
                <a:solidFill>
                  <a:srgbClr val="4F5E71"/>
                </a:solidFill>
                <a:latin typeface="Calibri" pitchFamily="34" charset="0"/>
                <a:ea typeface="Calibri" pitchFamily="34" charset="-122"/>
                <a:cs typeface="Calibri" pitchFamily="34" charset="-120"/>
              </a:rPr>
              <a:t>In-app agent's reasoning</a:t>
            </a:r>
            <a:endParaRPr lang="en-US" sz="950" dirty="0"/>
          </a:p>
        </p:txBody>
      </p:sp>
      <p:sp>
        <p:nvSpPr>
          <p:cNvPr id="49" name="Text 42"/>
          <p:cNvSpPr/>
          <p:nvPr/>
        </p:nvSpPr>
        <p:spPr>
          <a:xfrm>
            <a:off x="6938010" y="2468880"/>
            <a:ext cx="1657350" cy="182880"/>
          </a:xfrm>
          <a:prstGeom prst="rect">
            <a:avLst/>
          </a:prstGeom>
          <a:noFill/>
          <a:ln/>
        </p:spPr>
        <p:txBody>
          <a:bodyPr wrap="square" lIns="0" tIns="0" rIns="0" bIns="0" rtlCol="0" anchor="t"/>
          <a:lstStyle/>
          <a:p>
            <a:pPr indent="0" marL="0">
              <a:buNone/>
            </a:pPr>
            <a:r>
              <a:rPr lang="en-US" sz="1050" b="1" dirty="0">
                <a:solidFill>
                  <a:srgbClr val="0B1A2E"/>
                </a:solidFill>
                <a:latin typeface="Calibri" pitchFamily="34" charset="0"/>
                <a:ea typeface="Calibri" pitchFamily="34" charset="-122"/>
                <a:cs typeface="Calibri" pitchFamily="34" charset="-120"/>
              </a:rPr>
              <a:t>LangChain agent</a:t>
            </a:r>
            <a:pPr indent="0" marL="0">
              <a:buNone/>
            </a:pPr>
            <a:r>
              <a:rPr lang="en-US" sz="950" b="1" dirty="0">
                <a:solidFill>
                  <a:srgbClr val="C8102E"/>
                </a:solidFill>
                <a:latin typeface="Calibri" pitchFamily="34" charset="0"/>
                <a:ea typeface="Calibri" pitchFamily="34" charset="-122"/>
                <a:cs typeface="Calibri" pitchFamily="34" charset="-120"/>
              </a:rPr>
              <a:t xml:space="preserve">  :8888</a:t>
            </a:r>
            <a:endParaRPr lang="en-US" sz="1050" dirty="0"/>
          </a:p>
        </p:txBody>
      </p:sp>
      <p:sp>
        <p:nvSpPr>
          <p:cNvPr id="50" name="Text 43"/>
          <p:cNvSpPr/>
          <p:nvPr/>
        </p:nvSpPr>
        <p:spPr>
          <a:xfrm>
            <a:off x="6938010" y="2642616"/>
            <a:ext cx="1657350" cy="182880"/>
          </a:xfrm>
          <a:prstGeom prst="rect">
            <a:avLst/>
          </a:prstGeom>
          <a:noFill/>
          <a:ln/>
        </p:spPr>
        <p:txBody>
          <a:bodyPr wrap="square" lIns="0" tIns="0" rIns="0" bIns="0" rtlCol="0" anchor="t"/>
          <a:lstStyle/>
          <a:p>
            <a:pPr indent="0" marL="0">
              <a:buNone/>
            </a:pPr>
            <a:r>
              <a:rPr lang="en-US" sz="950" dirty="0">
                <a:solidFill>
                  <a:srgbClr val="4F5E71"/>
                </a:solidFill>
                <a:latin typeface="Calibri" pitchFamily="34" charset="0"/>
                <a:ea typeface="Calibri" pitchFamily="34" charset="-122"/>
                <a:cs typeface="Calibri" pitchFamily="34" charset="-120"/>
              </a:rPr>
              <a:t>Default agent framework</a:t>
            </a:r>
            <a:endParaRPr lang="en-US" sz="950" dirty="0"/>
          </a:p>
        </p:txBody>
      </p:sp>
      <p:sp>
        <p:nvSpPr>
          <p:cNvPr id="51" name="Text 44"/>
          <p:cNvSpPr/>
          <p:nvPr/>
        </p:nvSpPr>
        <p:spPr>
          <a:xfrm>
            <a:off x="6938010" y="2871216"/>
            <a:ext cx="1657350" cy="182880"/>
          </a:xfrm>
          <a:prstGeom prst="rect">
            <a:avLst/>
          </a:prstGeom>
          <a:noFill/>
          <a:ln/>
        </p:spPr>
        <p:txBody>
          <a:bodyPr wrap="square" lIns="0" tIns="0" rIns="0" bIns="0" rtlCol="0" anchor="t"/>
          <a:lstStyle/>
          <a:p>
            <a:pPr indent="0" marL="0">
              <a:buNone/>
            </a:pPr>
            <a:r>
              <a:rPr lang="en-US" sz="1050" b="1" dirty="0">
                <a:solidFill>
                  <a:srgbClr val="0B1A2E"/>
                </a:solidFill>
                <a:latin typeface="Calibri" pitchFamily="34" charset="0"/>
                <a:ea typeface="Calibri" pitchFamily="34" charset="-122"/>
                <a:cs typeface="Calibri" pitchFamily="34" charset="-120"/>
              </a:rPr>
              <a:t>LLM proxy</a:t>
            </a:r>
            <a:pPr indent="0" marL="0">
              <a:buNone/>
            </a:pPr>
            <a:r>
              <a:rPr lang="en-US" sz="950" b="1" dirty="0">
                <a:solidFill>
                  <a:srgbClr val="C8102E"/>
                </a:solidFill>
                <a:latin typeface="Calibri" pitchFamily="34" charset="0"/>
                <a:ea typeface="Calibri" pitchFamily="34" charset="-122"/>
                <a:cs typeface="Calibri" pitchFamily="34" charset="-120"/>
              </a:rPr>
              <a:t xml:space="preserve">  :8090</a:t>
            </a:r>
            <a:endParaRPr lang="en-US" sz="1050" dirty="0"/>
          </a:p>
        </p:txBody>
      </p:sp>
      <p:sp>
        <p:nvSpPr>
          <p:cNvPr id="52" name="Text 45"/>
          <p:cNvSpPr/>
          <p:nvPr/>
        </p:nvSpPr>
        <p:spPr>
          <a:xfrm>
            <a:off x="6938010" y="3044952"/>
            <a:ext cx="1657350" cy="182880"/>
          </a:xfrm>
          <a:prstGeom prst="rect">
            <a:avLst/>
          </a:prstGeom>
          <a:noFill/>
          <a:ln/>
        </p:spPr>
        <p:txBody>
          <a:bodyPr wrap="square" lIns="0" tIns="0" rIns="0" bIns="0" rtlCol="0" anchor="t"/>
          <a:lstStyle/>
          <a:p>
            <a:pPr indent="0" marL="0">
              <a:buNone/>
            </a:pPr>
            <a:r>
              <a:rPr lang="en-US" sz="950" dirty="0">
                <a:solidFill>
                  <a:srgbClr val="4F5E71"/>
                </a:solidFill>
                <a:latin typeface="Calibri" pitchFamily="34" charset="0"/>
                <a:ea typeface="Calibri" pitchFamily="34" charset="-122"/>
                <a:cs typeface="Calibri" pitchFamily="34" charset="-120"/>
              </a:rPr>
              <a:t>Routes to local models</a:t>
            </a:r>
            <a:endParaRPr lang="en-US" sz="950" dirty="0"/>
          </a:p>
        </p:txBody>
      </p:sp>
      <p:sp>
        <p:nvSpPr>
          <p:cNvPr id="53" name="Text 46"/>
          <p:cNvSpPr/>
          <p:nvPr/>
        </p:nvSpPr>
        <p:spPr>
          <a:xfrm>
            <a:off x="6938010" y="3273552"/>
            <a:ext cx="1657350" cy="182880"/>
          </a:xfrm>
          <a:prstGeom prst="rect">
            <a:avLst/>
          </a:prstGeom>
          <a:noFill/>
          <a:ln/>
        </p:spPr>
        <p:txBody>
          <a:bodyPr wrap="square" lIns="0" tIns="0" rIns="0" bIns="0" rtlCol="0" anchor="t"/>
          <a:lstStyle/>
          <a:p>
            <a:pPr indent="0" marL="0">
              <a:buNone/>
            </a:pPr>
            <a:r>
              <a:rPr lang="en-US" sz="1050" b="1" dirty="0">
                <a:solidFill>
                  <a:srgbClr val="0B1A2E"/>
                </a:solidFill>
                <a:latin typeface="Calibri" pitchFamily="34" charset="0"/>
                <a:ea typeface="Calibri" pitchFamily="34" charset="-122"/>
                <a:cs typeface="Calibri" pitchFamily="34" charset="-120"/>
              </a:rPr>
              <a:t>Code Search (RAG)</a:t>
            </a:r>
            <a:pPr indent="0" marL="0">
              <a:buNone/>
            </a:pPr>
            <a:r>
              <a:rPr lang="en-US" sz="950" b="1" dirty="0">
                <a:solidFill>
                  <a:srgbClr val="C8102E"/>
                </a:solidFill>
                <a:latin typeface="Calibri" pitchFamily="34" charset="0"/>
                <a:ea typeface="Calibri" pitchFamily="34" charset="-122"/>
                <a:cs typeface="Calibri" pitchFamily="34" charset="-120"/>
              </a:rPr>
              <a:t xml:space="preserve">  :8095</a:t>
            </a:r>
            <a:endParaRPr lang="en-US" sz="1050" dirty="0"/>
          </a:p>
        </p:txBody>
      </p:sp>
      <p:sp>
        <p:nvSpPr>
          <p:cNvPr id="54" name="Text 47"/>
          <p:cNvSpPr/>
          <p:nvPr/>
        </p:nvSpPr>
        <p:spPr>
          <a:xfrm>
            <a:off x="6938010" y="3447288"/>
            <a:ext cx="1657350" cy="182880"/>
          </a:xfrm>
          <a:prstGeom prst="rect">
            <a:avLst/>
          </a:prstGeom>
          <a:noFill/>
          <a:ln/>
        </p:spPr>
        <p:txBody>
          <a:bodyPr wrap="square" lIns="0" tIns="0" rIns="0" bIns="0" rtlCol="0" anchor="t"/>
          <a:lstStyle/>
          <a:p>
            <a:pPr indent="0" marL="0">
              <a:buNone/>
            </a:pPr>
            <a:r>
              <a:rPr lang="en-US" sz="950" dirty="0">
                <a:solidFill>
                  <a:srgbClr val="4F5E71"/>
                </a:solidFill>
                <a:latin typeface="Calibri" pitchFamily="34" charset="0"/>
                <a:ea typeface="Calibri" pitchFamily="34" charset="-122"/>
                <a:cs typeface="Calibri" pitchFamily="34" charset="-120"/>
              </a:rPr>
              <a:t>Weaviate and embeddings</a:t>
            </a:r>
            <a:endParaRPr lang="en-US" sz="950" dirty="0"/>
          </a:p>
        </p:txBody>
      </p:sp>
      <p:sp>
        <p:nvSpPr>
          <p:cNvPr id="55" name="Shape 48"/>
          <p:cNvSpPr/>
          <p:nvPr/>
        </p:nvSpPr>
        <p:spPr>
          <a:xfrm>
            <a:off x="457200" y="4352544"/>
            <a:ext cx="8229600" cy="329184"/>
          </a:xfrm>
          <a:prstGeom prst="rect">
            <a:avLst/>
          </a:prstGeom>
          <a:solidFill>
            <a:srgbClr val="E8ECF2"/>
          </a:solidFill>
          <a:ln w="9525">
            <a:solidFill>
              <a:srgbClr val="D5DBE3"/>
            </a:solidFill>
            <a:prstDash val="solid"/>
          </a:ln>
        </p:spPr>
      </p:sp>
      <p:sp>
        <p:nvSpPr>
          <p:cNvPr id="56" name="Text 49"/>
          <p:cNvSpPr/>
          <p:nvPr/>
        </p:nvSpPr>
        <p:spPr>
          <a:xfrm>
            <a:off x="594360" y="4352544"/>
            <a:ext cx="7955280" cy="329184"/>
          </a:xfrm>
          <a:prstGeom prst="rect">
            <a:avLst/>
          </a:prstGeom>
          <a:noFill/>
          <a:ln/>
        </p:spPr>
        <p:txBody>
          <a:bodyPr wrap="square" lIns="0" tIns="0" rIns="0" bIns="0" rtlCol="0" anchor="ctr"/>
          <a:lstStyle/>
          <a:p>
            <a:pPr indent="0" marL="0">
              <a:buNone/>
            </a:pPr>
            <a:r>
              <a:rPr lang="en-US" sz="1050" b="1" dirty="0">
                <a:solidFill>
                  <a:srgbClr val="0B1A2E"/>
                </a:solidFill>
                <a:latin typeface="Calibri" pitchFamily="34" charset="0"/>
                <a:ea typeface="Calibri" pitchFamily="34" charset="-122"/>
                <a:cs typeface="Calibri" pitchFamily="34" charset="-120"/>
              </a:rPr>
              <a:t xml:space="preserve">Hosted by Ping:  </a:t>
            </a:r>
            <a:pPr indent="0" marL="0">
              <a:buNone/>
            </a:pPr>
            <a:r>
              <a:rPr lang="en-US" sz="1050" dirty="0">
                <a:solidFill>
                  <a:srgbClr val="0B1A2E"/>
                </a:solidFill>
                <a:latin typeface="Calibri" pitchFamily="34" charset="0"/>
                <a:ea typeface="Calibri" pitchFamily="34" charset="-122"/>
                <a:cs typeface="Calibri" pitchFamily="34" charset="-120"/>
              </a:rPr>
              <a:t>PingOne · Authorize · Privilege · DaVinci</a:t>
            </a:r>
            <a:pPr indent="0" marL="0">
              <a:buNone/>
            </a:pPr>
            <a:r>
              <a:rPr lang="en-US" sz="1050" b="1" dirty="0">
                <a:solidFill>
                  <a:srgbClr val="0B1A2E"/>
                </a:solidFill>
                <a:latin typeface="Calibri" pitchFamily="34" charset="0"/>
                <a:ea typeface="Calibri" pitchFamily="34" charset="-122"/>
                <a:cs typeface="Calibri" pitchFamily="34" charset="-120"/>
              </a:rPr>
              <a:t xml:space="preserve">          Opt-in:  </a:t>
            </a:r>
            <a:pPr indent="0" marL="0">
              <a:buNone/>
            </a:pPr>
            <a:r>
              <a:rPr lang="en-US" sz="1050" dirty="0">
                <a:solidFill>
                  <a:srgbClr val="0B1A2E"/>
                </a:solidFill>
                <a:latin typeface="Calibri" pitchFamily="34" charset="0"/>
                <a:ea typeface="Calibri" pitchFamily="34" charset="-122"/>
                <a:cs typeface="Calibri" pitchFamily="34" charset="-120"/>
              </a:rPr>
              <a:t>extra agents · observability · tracing · Privilege gateway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2  ·  CLIENTS</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Browsers, agent frameworks and outside AI tools all connect, each with the sign-in that fits it</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8229600" cy="914400"/>
        </p:xfrm>
        <a:graphic>
          <a:graphicData uri="http://schemas.openxmlformats.org/drawingml/2006/table">
            <a:tbl>
              <a:tblPr/>
              <a:tblGrid>
                <a:gridCol w="1828800"/>
                <a:gridCol w="3063240"/>
                <a:gridCol w="3337560"/>
              </a:tblGrid>
              <a:tr h="338328">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Client</a:t>
                      </a:r>
                      <a:endParaRPr lang="en-US" sz="1000" dirty="0">
                        <a:latin typeface="Montserrat" charset="0"/>
                        <a:ea typeface="Montserrat" charset="0"/>
                        <a:cs typeface="Montserrat"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What it is</a:t>
                      </a:r>
                      <a:endParaRPr lang="en-US" sz="1000" dirty="0">
                        <a:latin typeface="Montserrat" charset="0"/>
                        <a:ea typeface="Montserrat" charset="0"/>
                        <a:cs typeface="Montserrat"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How it signs in</a:t>
                      </a:r>
                      <a:endParaRPr lang="en-US" sz="1000" dirty="0">
                        <a:latin typeface="Montserrat" charset="0"/>
                        <a:ea typeface="Montserrat" charset="0"/>
                        <a:cs typeface="Montserrat"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r>
              <a:tr h="338328">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Web app (React)</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4F5E71"/>
                          </a:solidFill>
                          <a:latin typeface="Calibri" pitchFamily="34" charset="0"/>
                          <a:ea typeface="Calibri" pitchFamily="34" charset="-122"/>
                          <a:cs typeface="Calibri" pitchFamily="34" charset="-120"/>
                        </a:rPr>
                        <a:t>What customers and presenters use</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Session cookie; the BFF keeps every token</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In-app agent + 4 frameworks</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dirty="0">
                          <a:solidFill>
                            <a:srgbClr val="4F5E71"/>
                          </a:solidFill>
                          <a:latin typeface="Calibri" pitchFamily="34" charset="0"/>
                          <a:ea typeface="Calibri" pitchFamily="34" charset="-122"/>
                          <a:cs typeface="Calibri" pitchFamily="34" charset="-120"/>
                        </a:rPr>
                        <a:t>LangChain, OpenAI Agents SDK, Mastra, Pydantic AI</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RFC 8693 delegated token; act claim names the agent</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338328">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Agent-to-agent specialists</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4F5E71"/>
                          </a:solidFill>
                          <a:latin typeface="Calibri" pitchFamily="34" charset="0"/>
                          <a:ea typeface="Calibri" pitchFamily="34" charset="-122"/>
                          <a:cs typeface="Calibri" pitchFamily="34" charset="-120"/>
                        </a:rPr>
                        <a:t>A generalist hands work to a specialist</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Chained exchange; Authorize checks the act chain</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Agent Privilege Client</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dirty="0">
                          <a:solidFill>
                            <a:srgbClr val="4F5E71"/>
                          </a:solidFill>
                          <a:latin typeface="Calibri" pitchFamily="34" charset="0"/>
                          <a:ea typeface="Calibri" pitchFamily="34" charset="-122"/>
                          <a:cs typeface="Calibri" pitchFamily="34" charset="-120"/>
                        </a:rPr>
                        <a:t>Standalone MCP gateway tester</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PKCE plus dynamic client registration (RFC 7591)</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338328">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MCP Inspector</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4F5E71"/>
                          </a:solidFill>
                          <a:latin typeface="Calibri" pitchFamily="34" charset="0"/>
                          <a:ea typeface="Calibri" pitchFamily="34" charset="-122"/>
                          <a:cs typeface="Calibri" pitchFamily="34" charset="-120"/>
                        </a:rPr>
                        <a:t>Standalone and in-app tool tester</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ID-JAG or open registration; in-app via the BFF</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LibreChat</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dirty="0">
                          <a:solidFill>
                            <a:srgbClr val="4F5E71"/>
                          </a:solidFill>
                          <a:latin typeface="Calibri" pitchFamily="34" charset="0"/>
                          <a:ea typeface="Calibri" pitchFamily="34" charset="-122"/>
                          <a:cs typeface="Calibri" pitchFamily="34" charset="-120"/>
                        </a:rPr>
                        <a:t>Open-source chat UI on demo tools and LLMs</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SE cluster: RFC 9728 discovery, DCR, PKCE</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338328">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Claude Code and IDEs</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4F5E71"/>
                          </a:solidFill>
                          <a:latin typeface="Calibri" pitchFamily="34" charset="0"/>
                          <a:ea typeface="Calibri" pitchFamily="34" charset="-122"/>
                          <a:cs typeface="Calibri" pitchFamily="34" charset="-120"/>
                        </a:rPr>
                        <a:t>Developer MCP clients</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PingOne PKCE app via the gateway's OAuth broker</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Microsoft Copilot Studio</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dirty="0">
                          <a:solidFill>
                            <a:srgbClr val="4F5E71"/>
                          </a:solidFill>
                          <a:latin typeface="Calibri" pitchFamily="34" charset="0"/>
                          <a:ea typeface="Calibri" pitchFamily="34" charset="-122"/>
                          <a:cs typeface="Calibri" pitchFamily="34" charset="-120"/>
                        </a:rPr>
                        <a:t>External agent platform</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Client credentials from a token broker</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3  ·  OAUTH AND IDENTITY USE CASES</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Real PingOne flows, not slideware: sign-in, delegation, intent binding and approval</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457200" y="1463040"/>
            <a:ext cx="2590800" cy="1463040"/>
          </a:xfrm>
          <a:prstGeom prst="rect">
            <a:avLst/>
          </a:prstGeom>
          <a:solidFill>
            <a:srgbClr val="FFFFFF"/>
          </a:solidFill>
          <a:ln w="9525">
            <a:solidFill>
              <a:srgbClr val="D5DBE3"/>
            </a:solidFill>
            <a:prstDash val="solid"/>
          </a:ln>
        </p:spPr>
      </p:sp>
      <p:sp>
        <p:nvSpPr>
          <p:cNvPr id="8" name="Shape 5"/>
          <p:cNvSpPr/>
          <p:nvPr/>
        </p:nvSpPr>
        <p:spPr>
          <a:xfrm>
            <a:off x="603504" y="1609344"/>
            <a:ext cx="420624" cy="420624"/>
          </a:xfrm>
          <a:prstGeom prst="ellipse">
            <a:avLst/>
          </a:prstGeom>
          <a:solidFill>
            <a:srgbClr val="0B1A2E"/>
          </a:solidFill>
          <a:ln/>
        </p:spPr>
      </p:sp>
      <p:pic>
        <p:nvPicPr>
          <p:cNvPr id="9" name="Image 0" descr="preencoded.png"/>
          <p:cNvPicPr>
            <a:picLocks noChangeAspect="1"/>
          </p:cNvPicPr>
          <p:nvPr/>
        </p:nvPicPr>
        <p:blipFill>
          <a:blip r:embed="rId1"/>
          <a:stretch>
            <a:fillRect/>
          </a:stretch>
        </p:blipFill>
        <p:spPr>
          <a:xfrm>
            <a:off x="717072" y="1722912"/>
            <a:ext cx="193487" cy="193487"/>
          </a:xfrm>
          <a:prstGeom prst="rect">
            <a:avLst/>
          </a:prstGeom>
        </p:spPr>
      </p:pic>
      <p:sp>
        <p:nvSpPr>
          <p:cNvPr id="10" name="Text 6"/>
          <p:cNvSpPr/>
          <p:nvPr/>
        </p:nvSpPr>
        <p:spPr>
          <a:xfrm>
            <a:off x="1133856" y="1600200"/>
            <a:ext cx="1804416" cy="182880"/>
          </a:xfrm>
          <a:prstGeom prst="rect">
            <a:avLst/>
          </a:prstGeom>
          <a:noFill/>
          <a:ln/>
        </p:spPr>
        <p:txBody>
          <a:bodyPr wrap="square" lIns="0" tIns="0" rIns="0" bIns="0" rtlCol="0" anchor="t"/>
          <a:lstStyle/>
          <a:p>
            <a:pPr indent="0" marL="0">
              <a:buNone/>
            </a:pPr>
            <a:r>
              <a:rPr lang="en-US" sz="800" b="1" dirty="0">
                <a:solidFill>
                  <a:srgbClr val="C8102E"/>
                </a:solidFill>
                <a:latin typeface="Montserrat" pitchFamily="34" charset="0"/>
                <a:ea typeface="Montserrat" pitchFamily="34" charset="-122"/>
                <a:cs typeface="Montserrat" pitchFamily="34" charset="-120"/>
              </a:rPr>
              <a:t>OIDC · PKCE · FIDO2</a:t>
            </a:r>
            <a:endParaRPr lang="en-US" sz="800" dirty="0"/>
          </a:p>
        </p:txBody>
      </p:sp>
      <p:sp>
        <p:nvSpPr>
          <p:cNvPr id="11" name="Text 7"/>
          <p:cNvSpPr/>
          <p:nvPr/>
        </p:nvSpPr>
        <p:spPr>
          <a:xfrm>
            <a:off x="1133856" y="1792224"/>
            <a:ext cx="1804416" cy="256032"/>
          </a:xfrm>
          <a:prstGeom prst="rect">
            <a:avLst/>
          </a:prstGeom>
          <a:noFill/>
          <a:ln/>
        </p:spPr>
        <p:txBody>
          <a:bodyPr wrap="square" lIns="0" tIns="0" rIns="0" bIns="0" rtlCol="0" anchor="t"/>
          <a:lstStyle/>
          <a:p>
            <a:pPr indent="0" marL="0">
              <a:buNone/>
            </a:pPr>
            <a:r>
              <a:rPr lang="en-US" sz="1150" b="1" dirty="0">
                <a:solidFill>
                  <a:srgbClr val="0B1A2E"/>
                </a:solidFill>
                <a:latin typeface="Montserrat" pitchFamily="34" charset="0"/>
                <a:ea typeface="Montserrat" pitchFamily="34" charset="-122"/>
                <a:cs typeface="Montserrat" pitchFamily="34" charset="-120"/>
              </a:rPr>
              <a:t>Sign-in</a:t>
            </a:r>
            <a:endParaRPr lang="en-US" sz="1150" dirty="0"/>
          </a:p>
        </p:txBody>
      </p:sp>
      <p:sp>
        <p:nvSpPr>
          <p:cNvPr id="12" name="Text 8"/>
          <p:cNvSpPr/>
          <p:nvPr/>
        </p:nvSpPr>
        <p:spPr>
          <a:xfrm>
            <a:off x="603504" y="2139696"/>
            <a:ext cx="2298192" cy="365760"/>
          </a:xfrm>
          <a:prstGeom prst="rect">
            <a:avLst/>
          </a:prstGeom>
          <a:noFill/>
          <a:ln/>
        </p:spPr>
        <p:txBody>
          <a:bodyPr wrap="square" lIns="0" tIns="0" rIns="0" bIns="0" rtlCol="0" anchor="t"/>
          <a:lstStyle/>
          <a:p>
            <a:pPr indent="0" marL="0">
              <a:buNone/>
            </a:pPr>
            <a:r>
              <a:rPr lang="en-US" sz="1050" dirty="0">
                <a:solidFill>
                  <a:srgbClr val="0B1A2E"/>
                </a:solidFill>
                <a:latin typeface="Calibri" pitchFamily="34" charset="0"/>
                <a:ea typeface="Calibri" pitchFamily="34" charset="-122"/>
                <a:cs typeface="Calibri" pitchFamily="34" charset="-120"/>
              </a:rPr>
              <a:t>PKCE authorization code, passkeys with OTP fallback, DaVinci login</a:t>
            </a:r>
            <a:endParaRPr lang="en-US" sz="1050" dirty="0"/>
          </a:p>
        </p:txBody>
      </p:sp>
      <p:sp>
        <p:nvSpPr>
          <p:cNvPr id="13" name="Shape 9"/>
          <p:cNvSpPr/>
          <p:nvPr/>
        </p:nvSpPr>
        <p:spPr>
          <a:xfrm>
            <a:off x="603504" y="2596896"/>
            <a:ext cx="2298192" cy="0"/>
          </a:xfrm>
          <a:prstGeom prst="line">
            <a:avLst/>
          </a:prstGeom>
          <a:noFill/>
          <a:ln w="9525">
            <a:solidFill>
              <a:srgbClr val="D5DBE3"/>
            </a:solidFill>
            <a:prstDash val="solid"/>
          </a:ln>
        </p:spPr>
      </p:sp>
      <p:sp>
        <p:nvSpPr>
          <p:cNvPr id="14" name="Text 10"/>
          <p:cNvSpPr/>
          <p:nvPr/>
        </p:nvSpPr>
        <p:spPr>
          <a:xfrm>
            <a:off x="603504" y="2660904"/>
            <a:ext cx="2298192" cy="182880"/>
          </a:xfrm>
          <a:prstGeom prst="rect">
            <a:avLst/>
          </a:prstGeom>
          <a:noFill/>
          <a:ln/>
        </p:spPr>
        <p:txBody>
          <a:bodyPr wrap="square" lIns="0" tIns="0" rIns="0" bIns="0" rtlCol="0" anchor="ctr"/>
          <a:lstStyle/>
          <a:p>
            <a:pPr indent="0" marL="0">
              <a:buNone/>
            </a:pPr>
            <a:r>
              <a:rPr lang="en-US" sz="900" b="1" dirty="0">
                <a:solidFill>
                  <a:srgbClr val="4F5E71"/>
                </a:solidFill>
                <a:latin typeface="Calibri" pitchFamily="34" charset="0"/>
                <a:ea typeface="Calibri" pitchFamily="34" charset="-122"/>
                <a:cs typeface="Calibri" pitchFamily="34" charset="-120"/>
              </a:rPr>
              <a:t>Pages: /davinci-login  ·  /sdk-login</a:t>
            </a:r>
            <a:endParaRPr lang="en-US" sz="900" dirty="0"/>
          </a:p>
        </p:txBody>
      </p:sp>
      <p:sp>
        <p:nvSpPr>
          <p:cNvPr id="15" name="Shape 11"/>
          <p:cNvSpPr/>
          <p:nvPr/>
        </p:nvSpPr>
        <p:spPr>
          <a:xfrm>
            <a:off x="3276600" y="1463040"/>
            <a:ext cx="2590800" cy="1463040"/>
          </a:xfrm>
          <a:prstGeom prst="rect">
            <a:avLst/>
          </a:prstGeom>
          <a:solidFill>
            <a:srgbClr val="FFFFFF"/>
          </a:solidFill>
          <a:ln w="9525">
            <a:solidFill>
              <a:srgbClr val="D5DBE3"/>
            </a:solidFill>
            <a:prstDash val="solid"/>
          </a:ln>
        </p:spPr>
      </p:sp>
      <p:sp>
        <p:nvSpPr>
          <p:cNvPr id="16" name="Shape 12"/>
          <p:cNvSpPr/>
          <p:nvPr/>
        </p:nvSpPr>
        <p:spPr>
          <a:xfrm>
            <a:off x="3422904" y="1609344"/>
            <a:ext cx="420624" cy="420624"/>
          </a:xfrm>
          <a:prstGeom prst="ellipse">
            <a:avLst/>
          </a:prstGeom>
          <a:solidFill>
            <a:srgbClr val="0B1A2E"/>
          </a:solidFill>
          <a:ln/>
        </p:spPr>
      </p:sp>
      <p:pic>
        <p:nvPicPr>
          <p:cNvPr id="17" name="Image 1" descr="preencoded.png"/>
          <p:cNvPicPr>
            <a:picLocks noChangeAspect="1"/>
          </p:cNvPicPr>
          <p:nvPr/>
        </p:nvPicPr>
        <p:blipFill>
          <a:blip r:embed="rId2"/>
          <a:stretch>
            <a:fillRect/>
          </a:stretch>
        </p:blipFill>
        <p:spPr>
          <a:xfrm>
            <a:off x="3536472" y="1722912"/>
            <a:ext cx="193487" cy="193487"/>
          </a:xfrm>
          <a:prstGeom prst="rect">
            <a:avLst/>
          </a:prstGeom>
        </p:spPr>
      </p:pic>
      <p:sp>
        <p:nvSpPr>
          <p:cNvPr id="18" name="Text 13"/>
          <p:cNvSpPr/>
          <p:nvPr/>
        </p:nvSpPr>
        <p:spPr>
          <a:xfrm>
            <a:off x="3953256" y="1600200"/>
            <a:ext cx="1804416" cy="182880"/>
          </a:xfrm>
          <a:prstGeom prst="rect">
            <a:avLst/>
          </a:prstGeom>
          <a:noFill/>
          <a:ln/>
        </p:spPr>
        <p:txBody>
          <a:bodyPr wrap="square" lIns="0" tIns="0" rIns="0" bIns="0" rtlCol="0" anchor="t"/>
          <a:lstStyle/>
          <a:p>
            <a:pPr indent="0" marL="0">
              <a:buNone/>
            </a:pPr>
            <a:r>
              <a:rPr lang="en-US" sz="800" b="1" dirty="0">
                <a:solidFill>
                  <a:srgbClr val="C8102E"/>
                </a:solidFill>
                <a:latin typeface="Montserrat" pitchFamily="34" charset="0"/>
                <a:ea typeface="Montserrat" pitchFamily="34" charset="-122"/>
                <a:cs typeface="Montserrat" pitchFamily="34" charset="-120"/>
              </a:rPr>
              <a:t>RFC 8693</a:t>
            </a:r>
            <a:endParaRPr lang="en-US" sz="800" dirty="0"/>
          </a:p>
        </p:txBody>
      </p:sp>
      <p:sp>
        <p:nvSpPr>
          <p:cNvPr id="19" name="Text 14"/>
          <p:cNvSpPr/>
          <p:nvPr/>
        </p:nvSpPr>
        <p:spPr>
          <a:xfrm>
            <a:off x="3953256" y="1792224"/>
            <a:ext cx="1804416" cy="256032"/>
          </a:xfrm>
          <a:prstGeom prst="rect">
            <a:avLst/>
          </a:prstGeom>
          <a:noFill/>
          <a:ln/>
        </p:spPr>
        <p:txBody>
          <a:bodyPr wrap="square" lIns="0" tIns="0" rIns="0" bIns="0" rtlCol="0" anchor="t"/>
          <a:lstStyle/>
          <a:p>
            <a:pPr indent="0" marL="0">
              <a:buNone/>
            </a:pPr>
            <a:r>
              <a:rPr lang="en-US" sz="1150" b="1" dirty="0">
                <a:solidFill>
                  <a:srgbClr val="0B1A2E"/>
                </a:solidFill>
                <a:latin typeface="Montserrat" pitchFamily="34" charset="0"/>
                <a:ea typeface="Montserrat" pitchFamily="34" charset="-122"/>
                <a:cs typeface="Montserrat" pitchFamily="34" charset="-120"/>
              </a:rPr>
              <a:t>Delegated access</a:t>
            </a:r>
            <a:endParaRPr lang="en-US" sz="1150" dirty="0"/>
          </a:p>
        </p:txBody>
      </p:sp>
      <p:sp>
        <p:nvSpPr>
          <p:cNvPr id="20" name="Text 15"/>
          <p:cNvSpPr/>
          <p:nvPr/>
        </p:nvSpPr>
        <p:spPr>
          <a:xfrm>
            <a:off x="3422904" y="2139696"/>
            <a:ext cx="2298192" cy="365760"/>
          </a:xfrm>
          <a:prstGeom prst="rect">
            <a:avLst/>
          </a:prstGeom>
          <a:noFill/>
          <a:ln/>
        </p:spPr>
        <p:txBody>
          <a:bodyPr wrap="square" lIns="0" tIns="0" rIns="0" bIns="0" rtlCol="0" anchor="t"/>
          <a:lstStyle/>
          <a:p>
            <a:pPr indent="0" marL="0">
              <a:buNone/>
            </a:pPr>
            <a:r>
              <a:rPr lang="en-US" sz="1050" dirty="0">
                <a:solidFill>
                  <a:srgbClr val="0B1A2E"/>
                </a:solidFill>
                <a:latin typeface="Calibri" pitchFamily="34" charset="0"/>
                <a:ea typeface="Calibri" pitchFamily="34" charset="-122"/>
                <a:cs typeface="Calibri" pitchFamily="34" charset="-120"/>
              </a:rPr>
              <a:t>A short-lived token for the agent, with an act claim naming it</a:t>
            </a:r>
            <a:endParaRPr lang="en-US" sz="1050" dirty="0"/>
          </a:p>
        </p:txBody>
      </p:sp>
      <p:sp>
        <p:nvSpPr>
          <p:cNvPr id="21" name="Shape 16"/>
          <p:cNvSpPr/>
          <p:nvPr/>
        </p:nvSpPr>
        <p:spPr>
          <a:xfrm>
            <a:off x="3422904" y="2596896"/>
            <a:ext cx="2298192" cy="0"/>
          </a:xfrm>
          <a:prstGeom prst="line">
            <a:avLst/>
          </a:prstGeom>
          <a:noFill/>
          <a:ln w="9525">
            <a:solidFill>
              <a:srgbClr val="D5DBE3"/>
            </a:solidFill>
            <a:prstDash val="solid"/>
          </a:ln>
        </p:spPr>
      </p:sp>
      <p:sp>
        <p:nvSpPr>
          <p:cNvPr id="22" name="Text 17"/>
          <p:cNvSpPr/>
          <p:nvPr/>
        </p:nvSpPr>
        <p:spPr>
          <a:xfrm>
            <a:off x="3422904" y="2660904"/>
            <a:ext cx="2298192" cy="182880"/>
          </a:xfrm>
          <a:prstGeom prst="rect">
            <a:avLst/>
          </a:prstGeom>
          <a:noFill/>
          <a:ln/>
        </p:spPr>
        <p:txBody>
          <a:bodyPr wrap="square" lIns="0" tIns="0" rIns="0" bIns="0" rtlCol="0" anchor="ctr"/>
          <a:lstStyle/>
          <a:p>
            <a:pPr indent="0" marL="0">
              <a:buNone/>
            </a:pPr>
            <a:r>
              <a:rPr lang="en-US" sz="900" b="1" dirty="0">
                <a:solidFill>
                  <a:srgbClr val="4F5E71"/>
                </a:solidFill>
                <a:latin typeface="Calibri" pitchFamily="34" charset="0"/>
                <a:ea typeface="Calibri" pitchFamily="34" charset="-122"/>
                <a:cs typeface="Calibri" pitchFamily="34" charset="-120"/>
              </a:rPr>
              <a:t>UC1  ·  UC3  ·  UC17  ·  UC33</a:t>
            </a:r>
            <a:endParaRPr lang="en-US" sz="900" dirty="0"/>
          </a:p>
        </p:txBody>
      </p:sp>
      <p:sp>
        <p:nvSpPr>
          <p:cNvPr id="23" name="Shape 18"/>
          <p:cNvSpPr/>
          <p:nvPr/>
        </p:nvSpPr>
        <p:spPr>
          <a:xfrm>
            <a:off x="6096000" y="1463040"/>
            <a:ext cx="2590800" cy="1463040"/>
          </a:xfrm>
          <a:prstGeom prst="rect">
            <a:avLst/>
          </a:prstGeom>
          <a:solidFill>
            <a:srgbClr val="FFFFFF"/>
          </a:solidFill>
          <a:ln w="9525">
            <a:solidFill>
              <a:srgbClr val="D5DBE3"/>
            </a:solidFill>
            <a:prstDash val="solid"/>
          </a:ln>
        </p:spPr>
      </p:sp>
      <p:sp>
        <p:nvSpPr>
          <p:cNvPr id="24" name="Shape 19"/>
          <p:cNvSpPr/>
          <p:nvPr/>
        </p:nvSpPr>
        <p:spPr>
          <a:xfrm>
            <a:off x="6242304" y="1609344"/>
            <a:ext cx="420624" cy="420624"/>
          </a:xfrm>
          <a:prstGeom prst="ellipse">
            <a:avLst/>
          </a:prstGeom>
          <a:solidFill>
            <a:srgbClr val="0B1A2E"/>
          </a:solidFill>
          <a:ln/>
        </p:spPr>
      </p:sp>
      <p:pic>
        <p:nvPicPr>
          <p:cNvPr id="25" name="Image 2" descr="preencoded.png"/>
          <p:cNvPicPr>
            <a:picLocks noChangeAspect="1"/>
          </p:cNvPicPr>
          <p:nvPr/>
        </p:nvPicPr>
        <p:blipFill>
          <a:blip r:embed="rId3"/>
          <a:stretch>
            <a:fillRect/>
          </a:stretch>
        </p:blipFill>
        <p:spPr>
          <a:xfrm>
            <a:off x="6355872" y="1722912"/>
            <a:ext cx="193487" cy="193487"/>
          </a:xfrm>
          <a:prstGeom prst="rect">
            <a:avLst/>
          </a:prstGeom>
        </p:spPr>
      </p:pic>
      <p:sp>
        <p:nvSpPr>
          <p:cNvPr id="26" name="Text 20"/>
          <p:cNvSpPr/>
          <p:nvPr/>
        </p:nvSpPr>
        <p:spPr>
          <a:xfrm>
            <a:off x="6772656" y="1600200"/>
            <a:ext cx="1804416" cy="182880"/>
          </a:xfrm>
          <a:prstGeom prst="rect">
            <a:avLst/>
          </a:prstGeom>
          <a:noFill/>
          <a:ln/>
        </p:spPr>
        <p:txBody>
          <a:bodyPr wrap="square" lIns="0" tIns="0" rIns="0" bIns="0" rtlCol="0" anchor="t"/>
          <a:lstStyle/>
          <a:p>
            <a:pPr indent="0" marL="0">
              <a:buNone/>
            </a:pPr>
            <a:r>
              <a:rPr lang="en-US" sz="800" b="1" dirty="0">
                <a:solidFill>
                  <a:srgbClr val="C8102E"/>
                </a:solidFill>
                <a:latin typeface="Montserrat" pitchFamily="34" charset="0"/>
                <a:ea typeface="Montserrat" pitchFamily="34" charset="-122"/>
                <a:cs typeface="Montserrat" pitchFamily="34" charset="-120"/>
              </a:rPr>
              <a:t>RFC 9126 · RFC 9396</a:t>
            </a:r>
            <a:endParaRPr lang="en-US" sz="800" dirty="0"/>
          </a:p>
        </p:txBody>
      </p:sp>
      <p:sp>
        <p:nvSpPr>
          <p:cNvPr id="27" name="Text 21"/>
          <p:cNvSpPr/>
          <p:nvPr/>
        </p:nvSpPr>
        <p:spPr>
          <a:xfrm>
            <a:off x="6772656" y="1792224"/>
            <a:ext cx="1804416" cy="256032"/>
          </a:xfrm>
          <a:prstGeom prst="rect">
            <a:avLst/>
          </a:prstGeom>
          <a:noFill/>
          <a:ln/>
        </p:spPr>
        <p:txBody>
          <a:bodyPr wrap="square" lIns="0" tIns="0" rIns="0" bIns="0" rtlCol="0" anchor="t"/>
          <a:lstStyle/>
          <a:p>
            <a:pPr indent="0" marL="0">
              <a:buNone/>
            </a:pPr>
            <a:r>
              <a:rPr lang="en-US" sz="1150" b="1" dirty="0">
                <a:solidFill>
                  <a:srgbClr val="0B1A2E"/>
                </a:solidFill>
                <a:latin typeface="Montserrat" pitchFamily="34" charset="0"/>
                <a:ea typeface="Montserrat" pitchFamily="34" charset="-122"/>
                <a:cs typeface="Montserrat" pitchFamily="34" charset="-120"/>
              </a:rPr>
              <a:t>Intent binding</a:t>
            </a:r>
            <a:endParaRPr lang="en-US" sz="1150" dirty="0"/>
          </a:p>
        </p:txBody>
      </p:sp>
      <p:sp>
        <p:nvSpPr>
          <p:cNvPr id="28" name="Text 22"/>
          <p:cNvSpPr/>
          <p:nvPr/>
        </p:nvSpPr>
        <p:spPr>
          <a:xfrm>
            <a:off x="6242304" y="2139696"/>
            <a:ext cx="2298192" cy="365760"/>
          </a:xfrm>
          <a:prstGeom prst="rect">
            <a:avLst/>
          </a:prstGeom>
          <a:noFill/>
          <a:ln/>
        </p:spPr>
        <p:txBody>
          <a:bodyPr wrap="square" lIns="0" tIns="0" rIns="0" bIns="0" rtlCol="0" anchor="t"/>
          <a:lstStyle/>
          <a:p>
            <a:pPr indent="0" marL="0">
              <a:buNone/>
            </a:pPr>
            <a:r>
              <a:rPr lang="en-US" sz="1050" dirty="0">
                <a:solidFill>
                  <a:srgbClr val="0B1A2E"/>
                </a:solidFill>
                <a:latin typeface="Calibri" pitchFamily="34" charset="0"/>
                <a:ea typeface="Calibri" pitchFamily="34" charset="-122"/>
                <a:cs typeface="Calibri" pitchFamily="34" charset="-120"/>
              </a:rPr>
              <a:t>Intent is pushed up front; transfers beyond it are denied</a:t>
            </a:r>
            <a:endParaRPr lang="en-US" sz="1050" dirty="0"/>
          </a:p>
        </p:txBody>
      </p:sp>
      <p:sp>
        <p:nvSpPr>
          <p:cNvPr id="29" name="Shape 23"/>
          <p:cNvSpPr/>
          <p:nvPr/>
        </p:nvSpPr>
        <p:spPr>
          <a:xfrm>
            <a:off x="6242304" y="2596896"/>
            <a:ext cx="2298192" cy="0"/>
          </a:xfrm>
          <a:prstGeom prst="line">
            <a:avLst/>
          </a:prstGeom>
          <a:noFill/>
          <a:ln w="9525">
            <a:solidFill>
              <a:srgbClr val="D5DBE3"/>
            </a:solidFill>
            <a:prstDash val="solid"/>
          </a:ln>
        </p:spPr>
      </p:sp>
      <p:sp>
        <p:nvSpPr>
          <p:cNvPr id="30" name="Text 24"/>
          <p:cNvSpPr/>
          <p:nvPr/>
        </p:nvSpPr>
        <p:spPr>
          <a:xfrm>
            <a:off x="6242304" y="2660904"/>
            <a:ext cx="2298192" cy="182880"/>
          </a:xfrm>
          <a:prstGeom prst="rect">
            <a:avLst/>
          </a:prstGeom>
          <a:noFill/>
          <a:ln/>
        </p:spPr>
        <p:txBody>
          <a:bodyPr wrap="square" lIns="0" tIns="0" rIns="0" bIns="0" rtlCol="0" anchor="ctr"/>
          <a:lstStyle/>
          <a:p>
            <a:pPr indent="0" marL="0">
              <a:buNone/>
            </a:pPr>
            <a:r>
              <a:rPr lang="en-US" sz="900" b="1" dirty="0">
                <a:solidFill>
                  <a:srgbClr val="4F5E71"/>
                </a:solidFill>
                <a:latin typeface="Calibri" pitchFamily="34" charset="0"/>
                <a:ea typeface="Calibri" pitchFamily="34" charset="-122"/>
                <a:cs typeface="Calibri" pitchFamily="34" charset="-120"/>
              </a:rPr>
              <a:t>UC14  ·  UC14b  ·  flag ff_rar</a:t>
            </a:r>
            <a:endParaRPr lang="en-US" sz="900" dirty="0"/>
          </a:p>
        </p:txBody>
      </p:sp>
      <p:sp>
        <p:nvSpPr>
          <p:cNvPr id="31" name="Shape 25"/>
          <p:cNvSpPr/>
          <p:nvPr/>
        </p:nvSpPr>
        <p:spPr>
          <a:xfrm>
            <a:off x="457200" y="3127248"/>
            <a:ext cx="2590800" cy="1463040"/>
          </a:xfrm>
          <a:prstGeom prst="rect">
            <a:avLst/>
          </a:prstGeom>
          <a:solidFill>
            <a:srgbClr val="FFFFFF"/>
          </a:solidFill>
          <a:ln w="9525">
            <a:solidFill>
              <a:srgbClr val="D5DBE3"/>
            </a:solidFill>
            <a:prstDash val="solid"/>
          </a:ln>
        </p:spPr>
      </p:sp>
      <p:sp>
        <p:nvSpPr>
          <p:cNvPr id="32" name="Shape 26"/>
          <p:cNvSpPr/>
          <p:nvPr/>
        </p:nvSpPr>
        <p:spPr>
          <a:xfrm>
            <a:off x="603504" y="3273552"/>
            <a:ext cx="420624" cy="420624"/>
          </a:xfrm>
          <a:prstGeom prst="ellipse">
            <a:avLst/>
          </a:prstGeom>
          <a:solidFill>
            <a:srgbClr val="0B1A2E"/>
          </a:solidFill>
          <a:ln/>
        </p:spPr>
      </p:sp>
      <p:pic>
        <p:nvPicPr>
          <p:cNvPr id="33" name="Image 3" descr="preencoded.png"/>
          <p:cNvPicPr>
            <a:picLocks noChangeAspect="1"/>
          </p:cNvPicPr>
          <p:nvPr/>
        </p:nvPicPr>
        <p:blipFill>
          <a:blip r:embed="rId4"/>
          <a:stretch>
            <a:fillRect/>
          </a:stretch>
        </p:blipFill>
        <p:spPr>
          <a:xfrm>
            <a:off x="717072" y="3387120"/>
            <a:ext cx="193487" cy="193487"/>
          </a:xfrm>
          <a:prstGeom prst="rect">
            <a:avLst/>
          </a:prstGeom>
        </p:spPr>
      </p:pic>
      <p:sp>
        <p:nvSpPr>
          <p:cNvPr id="34" name="Text 27"/>
          <p:cNvSpPr/>
          <p:nvPr/>
        </p:nvSpPr>
        <p:spPr>
          <a:xfrm>
            <a:off x="1133856" y="3264408"/>
            <a:ext cx="1804416" cy="182880"/>
          </a:xfrm>
          <a:prstGeom prst="rect">
            <a:avLst/>
          </a:prstGeom>
          <a:noFill/>
          <a:ln/>
        </p:spPr>
        <p:txBody>
          <a:bodyPr wrap="square" lIns="0" tIns="0" rIns="0" bIns="0" rtlCol="0" anchor="t"/>
          <a:lstStyle/>
          <a:p>
            <a:pPr indent="0" marL="0">
              <a:buNone/>
            </a:pPr>
            <a:r>
              <a:rPr lang="en-US" sz="800" b="1" dirty="0">
                <a:solidFill>
                  <a:srgbClr val="C8102E"/>
                </a:solidFill>
                <a:latin typeface="Montserrat" pitchFamily="34" charset="0"/>
                <a:ea typeface="Montserrat" pitchFamily="34" charset="-122"/>
                <a:cs typeface="Montserrat" pitchFamily="34" charset="-120"/>
              </a:rPr>
              <a:t>Step-up MFA · CIBA</a:t>
            </a:r>
            <a:endParaRPr lang="en-US" sz="800" dirty="0"/>
          </a:p>
        </p:txBody>
      </p:sp>
      <p:sp>
        <p:nvSpPr>
          <p:cNvPr id="35" name="Text 28"/>
          <p:cNvSpPr/>
          <p:nvPr/>
        </p:nvSpPr>
        <p:spPr>
          <a:xfrm>
            <a:off x="1133856" y="3456432"/>
            <a:ext cx="1804416" cy="256032"/>
          </a:xfrm>
          <a:prstGeom prst="rect">
            <a:avLst/>
          </a:prstGeom>
          <a:noFill/>
          <a:ln/>
        </p:spPr>
        <p:txBody>
          <a:bodyPr wrap="square" lIns="0" tIns="0" rIns="0" bIns="0" rtlCol="0" anchor="t"/>
          <a:lstStyle/>
          <a:p>
            <a:pPr indent="0" marL="0">
              <a:buNone/>
            </a:pPr>
            <a:r>
              <a:rPr lang="en-US" sz="1150" b="1" dirty="0">
                <a:solidFill>
                  <a:srgbClr val="0B1A2E"/>
                </a:solidFill>
                <a:latin typeface="Montserrat" pitchFamily="34" charset="0"/>
                <a:ea typeface="Montserrat" pitchFamily="34" charset="-122"/>
                <a:cs typeface="Montserrat" pitchFamily="34" charset="-120"/>
              </a:rPr>
              <a:t>Prove it's really you</a:t>
            </a:r>
            <a:endParaRPr lang="en-US" sz="1150" dirty="0"/>
          </a:p>
        </p:txBody>
      </p:sp>
      <p:sp>
        <p:nvSpPr>
          <p:cNvPr id="36" name="Text 29"/>
          <p:cNvSpPr/>
          <p:nvPr/>
        </p:nvSpPr>
        <p:spPr>
          <a:xfrm>
            <a:off x="603504" y="3803904"/>
            <a:ext cx="2298192" cy="365760"/>
          </a:xfrm>
          <a:prstGeom prst="rect">
            <a:avLst/>
          </a:prstGeom>
          <a:noFill/>
          <a:ln/>
        </p:spPr>
        <p:txBody>
          <a:bodyPr wrap="square" lIns="0" tIns="0" rIns="0" bIns="0" rtlCol="0" anchor="t"/>
          <a:lstStyle/>
          <a:p>
            <a:pPr indent="0" marL="0">
              <a:buNone/>
            </a:pPr>
            <a:r>
              <a:rPr lang="en-US" sz="1050" dirty="0">
                <a:solidFill>
                  <a:srgbClr val="0B1A2E"/>
                </a:solidFill>
                <a:latin typeface="Calibri" pitchFamily="34" charset="0"/>
                <a:ea typeface="Calibri" pitchFamily="34" charset="-122"/>
                <a:cs typeface="Calibri" pitchFamily="34" charset="-120"/>
              </a:rPr>
              <a:t>Big transfers trigger MFA; CIBA sends approval to the user's phone</a:t>
            </a:r>
            <a:endParaRPr lang="en-US" sz="1050" dirty="0"/>
          </a:p>
        </p:txBody>
      </p:sp>
      <p:sp>
        <p:nvSpPr>
          <p:cNvPr id="37" name="Shape 30"/>
          <p:cNvSpPr/>
          <p:nvPr/>
        </p:nvSpPr>
        <p:spPr>
          <a:xfrm>
            <a:off x="603504" y="4261104"/>
            <a:ext cx="2298192" cy="0"/>
          </a:xfrm>
          <a:prstGeom prst="line">
            <a:avLst/>
          </a:prstGeom>
          <a:noFill/>
          <a:ln w="9525">
            <a:solidFill>
              <a:srgbClr val="D5DBE3"/>
            </a:solidFill>
            <a:prstDash val="solid"/>
          </a:ln>
        </p:spPr>
      </p:sp>
      <p:sp>
        <p:nvSpPr>
          <p:cNvPr id="38" name="Text 31"/>
          <p:cNvSpPr/>
          <p:nvPr/>
        </p:nvSpPr>
        <p:spPr>
          <a:xfrm>
            <a:off x="603504" y="4325112"/>
            <a:ext cx="2298192" cy="182880"/>
          </a:xfrm>
          <a:prstGeom prst="rect">
            <a:avLst/>
          </a:prstGeom>
          <a:noFill/>
          <a:ln/>
        </p:spPr>
        <p:txBody>
          <a:bodyPr wrap="square" lIns="0" tIns="0" rIns="0" bIns="0" rtlCol="0" anchor="ctr"/>
          <a:lstStyle/>
          <a:p>
            <a:pPr indent="0" marL="0">
              <a:buNone/>
            </a:pPr>
            <a:r>
              <a:rPr lang="en-US" sz="900" b="1" dirty="0">
                <a:solidFill>
                  <a:srgbClr val="4F5E71"/>
                </a:solidFill>
                <a:latin typeface="Calibri" pitchFamily="34" charset="0"/>
                <a:ea typeface="Calibri" pitchFamily="34" charset="-122"/>
                <a:cs typeface="Calibri" pitchFamily="34" charset="-120"/>
              </a:rPr>
              <a:t>UC7  ·  UC22  ·  flag ciba_enabled</a:t>
            </a:r>
            <a:endParaRPr lang="en-US" sz="900" dirty="0"/>
          </a:p>
        </p:txBody>
      </p:sp>
      <p:sp>
        <p:nvSpPr>
          <p:cNvPr id="39" name="Shape 32"/>
          <p:cNvSpPr/>
          <p:nvPr/>
        </p:nvSpPr>
        <p:spPr>
          <a:xfrm>
            <a:off x="3276600" y="3127248"/>
            <a:ext cx="2590800" cy="1463040"/>
          </a:xfrm>
          <a:prstGeom prst="rect">
            <a:avLst/>
          </a:prstGeom>
          <a:solidFill>
            <a:srgbClr val="FFFFFF"/>
          </a:solidFill>
          <a:ln w="9525">
            <a:solidFill>
              <a:srgbClr val="D5DBE3"/>
            </a:solidFill>
            <a:prstDash val="solid"/>
          </a:ln>
        </p:spPr>
      </p:sp>
      <p:sp>
        <p:nvSpPr>
          <p:cNvPr id="40" name="Shape 33"/>
          <p:cNvSpPr/>
          <p:nvPr/>
        </p:nvSpPr>
        <p:spPr>
          <a:xfrm>
            <a:off x="3422904" y="3273552"/>
            <a:ext cx="420624" cy="420624"/>
          </a:xfrm>
          <a:prstGeom prst="ellipse">
            <a:avLst/>
          </a:prstGeom>
          <a:solidFill>
            <a:srgbClr val="0B1A2E"/>
          </a:solidFill>
          <a:ln/>
        </p:spPr>
      </p:sp>
      <p:pic>
        <p:nvPicPr>
          <p:cNvPr id="41" name="Image 4" descr="preencoded.png"/>
          <p:cNvPicPr>
            <a:picLocks noChangeAspect="1"/>
          </p:cNvPicPr>
          <p:nvPr/>
        </p:nvPicPr>
        <p:blipFill>
          <a:blip r:embed="rId5"/>
          <a:stretch>
            <a:fillRect/>
          </a:stretch>
        </p:blipFill>
        <p:spPr>
          <a:xfrm>
            <a:off x="3536472" y="3387120"/>
            <a:ext cx="193487" cy="193487"/>
          </a:xfrm>
          <a:prstGeom prst="rect">
            <a:avLst/>
          </a:prstGeom>
        </p:spPr>
      </p:pic>
      <p:sp>
        <p:nvSpPr>
          <p:cNvPr id="42" name="Text 34"/>
          <p:cNvSpPr/>
          <p:nvPr/>
        </p:nvSpPr>
        <p:spPr>
          <a:xfrm>
            <a:off x="3953256" y="3264408"/>
            <a:ext cx="1804416" cy="182880"/>
          </a:xfrm>
          <a:prstGeom prst="rect">
            <a:avLst/>
          </a:prstGeom>
          <a:noFill/>
          <a:ln/>
        </p:spPr>
        <p:txBody>
          <a:bodyPr wrap="square" lIns="0" tIns="0" rIns="0" bIns="0" rtlCol="0" anchor="t"/>
          <a:lstStyle/>
          <a:p>
            <a:pPr indent="0" marL="0">
              <a:buNone/>
            </a:pPr>
            <a:r>
              <a:rPr lang="en-US" sz="800" b="1" dirty="0">
                <a:solidFill>
                  <a:srgbClr val="C8102E"/>
                </a:solidFill>
                <a:latin typeface="Montserrat" pitchFamily="34" charset="0"/>
                <a:ea typeface="Montserrat" pitchFamily="34" charset="-122"/>
                <a:cs typeface="Montserrat" pitchFamily="34" charset="-120"/>
              </a:rPr>
              <a:t>Token attacks</a:t>
            </a:r>
            <a:endParaRPr lang="en-US" sz="800" dirty="0"/>
          </a:p>
        </p:txBody>
      </p:sp>
      <p:sp>
        <p:nvSpPr>
          <p:cNvPr id="43" name="Text 35"/>
          <p:cNvSpPr/>
          <p:nvPr/>
        </p:nvSpPr>
        <p:spPr>
          <a:xfrm>
            <a:off x="3953256" y="3456432"/>
            <a:ext cx="1804416" cy="256032"/>
          </a:xfrm>
          <a:prstGeom prst="rect">
            <a:avLst/>
          </a:prstGeom>
          <a:noFill/>
          <a:ln/>
        </p:spPr>
        <p:txBody>
          <a:bodyPr wrap="square" lIns="0" tIns="0" rIns="0" bIns="0" rtlCol="0" anchor="t"/>
          <a:lstStyle/>
          <a:p>
            <a:pPr indent="0" marL="0">
              <a:buNone/>
            </a:pPr>
            <a:r>
              <a:rPr lang="en-US" sz="1150" b="1" dirty="0">
                <a:solidFill>
                  <a:srgbClr val="0B1A2E"/>
                </a:solidFill>
                <a:latin typeface="Montserrat" pitchFamily="34" charset="0"/>
                <a:ea typeface="Montserrat" pitchFamily="34" charset="-122"/>
                <a:cs typeface="Montserrat" pitchFamily="34" charset="-120"/>
              </a:rPr>
              <a:t>Misused tokens fail</a:t>
            </a:r>
            <a:endParaRPr lang="en-US" sz="1150" dirty="0"/>
          </a:p>
        </p:txBody>
      </p:sp>
      <p:sp>
        <p:nvSpPr>
          <p:cNvPr id="44" name="Text 36"/>
          <p:cNvSpPr/>
          <p:nvPr/>
        </p:nvSpPr>
        <p:spPr>
          <a:xfrm>
            <a:off x="3422904" y="3803904"/>
            <a:ext cx="2298192" cy="365760"/>
          </a:xfrm>
          <a:prstGeom prst="rect">
            <a:avLst/>
          </a:prstGeom>
          <a:noFill/>
          <a:ln/>
        </p:spPr>
        <p:txBody>
          <a:bodyPr wrap="square" lIns="0" tIns="0" rIns="0" bIns="0" rtlCol="0" anchor="t"/>
          <a:lstStyle/>
          <a:p>
            <a:pPr indent="0" marL="0">
              <a:buNone/>
            </a:pPr>
            <a:r>
              <a:rPr lang="en-US" sz="1050" dirty="0">
                <a:solidFill>
                  <a:srgbClr val="0B1A2E"/>
                </a:solidFill>
                <a:latin typeface="Calibri" pitchFamily="34" charset="0"/>
                <a:ea typeface="Calibri" pitchFamily="34" charset="-122"/>
                <a:cs typeface="Calibri" pitchFamily="34" charset="-120"/>
              </a:rPr>
              <a:t>Wrong audience, replay, missing scope and impersonation are refused</a:t>
            </a:r>
            <a:endParaRPr lang="en-US" sz="1050" dirty="0"/>
          </a:p>
        </p:txBody>
      </p:sp>
      <p:sp>
        <p:nvSpPr>
          <p:cNvPr id="45" name="Shape 37"/>
          <p:cNvSpPr/>
          <p:nvPr/>
        </p:nvSpPr>
        <p:spPr>
          <a:xfrm>
            <a:off x="3422904" y="4261104"/>
            <a:ext cx="2298192" cy="0"/>
          </a:xfrm>
          <a:prstGeom prst="line">
            <a:avLst/>
          </a:prstGeom>
          <a:noFill/>
          <a:ln w="9525">
            <a:solidFill>
              <a:srgbClr val="D5DBE3"/>
            </a:solidFill>
            <a:prstDash val="solid"/>
          </a:ln>
        </p:spPr>
      </p:sp>
      <p:sp>
        <p:nvSpPr>
          <p:cNvPr id="46" name="Text 38"/>
          <p:cNvSpPr/>
          <p:nvPr/>
        </p:nvSpPr>
        <p:spPr>
          <a:xfrm>
            <a:off x="3422904" y="4325112"/>
            <a:ext cx="2298192" cy="182880"/>
          </a:xfrm>
          <a:prstGeom prst="rect">
            <a:avLst/>
          </a:prstGeom>
          <a:noFill/>
          <a:ln/>
        </p:spPr>
        <p:txBody>
          <a:bodyPr wrap="square" lIns="0" tIns="0" rIns="0" bIns="0" rtlCol="0" anchor="ctr"/>
          <a:lstStyle/>
          <a:p>
            <a:pPr indent="0" marL="0">
              <a:buNone/>
            </a:pPr>
            <a:r>
              <a:rPr lang="en-US" sz="900" b="1" dirty="0">
                <a:solidFill>
                  <a:srgbClr val="4F5E71"/>
                </a:solidFill>
                <a:latin typeface="Calibri" pitchFamily="34" charset="0"/>
                <a:ea typeface="Calibri" pitchFamily="34" charset="-122"/>
                <a:cs typeface="Calibri" pitchFamily="34" charset="-120"/>
              </a:rPr>
              <a:t>UC5  ·  UC10–13  ·  UC16</a:t>
            </a:r>
            <a:endParaRPr lang="en-US" sz="900" dirty="0"/>
          </a:p>
        </p:txBody>
      </p:sp>
      <p:sp>
        <p:nvSpPr>
          <p:cNvPr id="47" name="Shape 39"/>
          <p:cNvSpPr/>
          <p:nvPr/>
        </p:nvSpPr>
        <p:spPr>
          <a:xfrm>
            <a:off x="6096000" y="3127248"/>
            <a:ext cx="2590800" cy="1463040"/>
          </a:xfrm>
          <a:prstGeom prst="rect">
            <a:avLst/>
          </a:prstGeom>
          <a:solidFill>
            <a:srgbClr val="FFFFFF"/>
          </a:solidFill>
          <a:ln w="9525">
            <a:solidFill>
              <a:srgbClr val="D5DBE3"/>
            </a:solidFill>
            <a:prstDash val="solid"/>
          </a:ln>
        </p:spPr>
      </p:sp>
      <p:sp>
        <p:nvSpPr>
          <p:cNvPr id="48" name="Shape 40"/>
          <p:cNvSpPr/>
          <p:nvPr/>
        </p:nvSpPr>
        <p:spPr>
          <a:xfrm>
            <a:off x="6242304" y="3273552"/>
            <a:ext cx="420624" cy="420624"/>
          </a:xfrm>
          <a:prstGeom prst="ellipse">
            <a:avLst/>
          </a:prstGeom>
          <a:solidFill>
            <a:srgbClr val="0B1A2E"/>
          </a:solidFill>
          <a:ln/>
        </p:spPr>
      </p:sp>
      <p:pic>
        <p:nvPicPr>
          <p:cNvPr id="49" name="Image 5" descr="preencoded.png"/>
          <p:cNvPicPr>
            <a:picLocks noChangeAspect="1"/>
          </p:cNvPicPr>
          <p:nvPr/>
        </p:nvPicPr>
        <p:blipFill>
          <a:blip r:embed="rId6"/>
          <a:stretch>
            <a:fillRect/>
          </a:stretch>
        </p:blipFill>
        <p:spPr>
          <a:xfrm>
            <a:off x="6355872" y="3387120"/>
            <a:ext cx="193487" cy="193487"/>
          </a:xfrm>
          <a:prstGeom prst="rect">
            <a:avLst/>
          </a:prstGeom>
        </p:spPr>
      </p:pic>
      <p:sp>
        <p:nvSpPr>
          <p:cNvPr id="50" name="Text 41"/>
          <p:cNvSpPr/>
          <p:nvPr/>
        </p:nvSpPr>
        <p:spPr>
          <a:xfrm>
            <a:off x="6772656" y="3264408"/>
            <a:ext cx="1804416" cy="182880"/>
          </a:xfrm>
          <a:prstGeom prst="rect">
            <a:avLst/>
          </a:prstGeom>
          <a:noFill/>
          <a:ln/>
        </p:spPr>
        <p:txBody>
          <a:bodyPr wrap="square" lIns="0" tIns="0" rIns="0" bIns="0" rtlCol="0" anchor="t"/>
          <a:lstStyle/>
          <a:p>
            <a:pPr indent="0" marL="0">
              <a:buNone/>
            </a:pPr>
            <a:r>
              <a:rPr lang="en-US" sz="800" b="1" dirty="0">
                <a:solidFill>
                  <a:srgbClr val="C8102E"/>
                </a:solidFill>
                <a:latin typeface="Montserrat" pitchFamily="34" charset="0"/>
                <a:ea typeface="Montserrat" pitchFamily="34" charset="-122"/>
                <a:cs typeface="Montserrat" pitchFamily="34" charset="-120"/>
              </a:rPr>
              <a:t>RFC 9728 · 7591 · ID-JAG</a:t>
            </a:r>
            <a:endParaRPr lang="en-US" sz="800" dirty="0"/>
          </a:p>
        </p:txBody>
      </p:sp>
      <p:sp>
        <p:nvSpPr>
          <p:cNvPr id="51" name="Text 42"/>
          <p:cNvSpPr/>
          <p:nvPr/>
        </p:nvSpPr>
        <p:spPr>
          <a:xfrm>
            <a:off x="6772656" y="3456432"/>
            <a:ext cx="1804416" cy="256032"/>
          </a:xfrm>
          <a:prstGeom prst="rect">
            <a:avLst/>
          </a:prstGeom>
          <a:noFill/>
          <a:ln/>
        </p:spPr>
        <p:txBody>
          <a:bodyPr wrap="square" lIns="0" tIns="0" rIns="0" bIns="0" rtlCol="0" anchor="t"/>
          <a:lstStyle/>
          <a:p>
            <a:pPr indent="0" marL="0">
              <a:buNone/>
            </a:pPr>
            <a:r>
              <a:rPr lang="en-US" sz="1150" b="1" dirty="0">
                <a:solidFill>
                  <a:srgbClr val="0B1A2E"/>
                </a:solidFill>
                <a:latin typeface="Montserrat" pitchFamily="34" charset="0"/>
                <a:ea typeface="Montserrat" pitchFamily="34" charset="-122"/>
                <a:cs typeface="Montserrat" pitchFamily="34" charset="-120"/>
              </a:rPr>
              <a:t>Enterprise MCP access</a:t>
            </a:r>
            <a:endParaRPr lang="en-US" sz="1150" dirty="0"/>
          </a:p>
        </p:txBody>
      </p:sp>
      <p:sp>
        <p:nvSpPr>
          <p:cNvPr id="52" name="Text 43"/>
          <p:cNvSpPr/>
          <p:nvPr/>
        </p:nvSpPr>
        <p:spPr>
          <a:xfrm>
            <a:off x="6242304" y="3803904"/>
            <a:ext cx="2298192" cy="365760"/>
          </a:xfrm>
          <a:prstGeom prst="rect">
            <a:avLst/>
          </a:prstGeom>
          <a:noFill/>
          <a:ln/>
        </p:spPr>
        <p:txBody>
          <a:bodyPr wrap="square" lIns="0" tIns="0" rIns="0" bIns="0" rtlCol="0" anchor="t"/>
          <a:lstStyle/>
          <a:p>
            <a:pPr indent="0" marL="0">
              <a:buNone/>
            </a:pPr>
            <a:r>
              <a:rPr lang="en-US" sz="1050" dirty="0">
                <a:solidFill>
                  <a:srgbClr val="0B1A2E"/>
                </a:solidFill>
                <a:latin typeface="Calibri" pitchFamily="34" charset="0"/>
                <a:ea typeface="Calibri" pitchFamily="34" charset="-122"/>
                <a:cs typeface="Calibri" pitchFamily="34" charset="-120"/>
              </a:rPr>
              <a:t>Clients discover and register; group policy decides who gets tools</a:t>
            </a:r>
            <a:endParaRPr lang="en-US" sz="1050" dirty="0"/>
          </a:p>
        </p:txBody>
      </p:sp>
      <p:sp>
        <p:nvSpPr>
          <p:cNvPr id="53" name="Shape 44"/>
          <p:cNvSpPr/>
          <p:nvPr/>
        </p:nvSpPr>
        <p:spPr>
          <a:xfrm>
            <a:off x="6242304" y="4261104"/>
            <a:ext cx="2298192" cy="0"/>
          </a:xfrm>
          <a:prstGeom prst="line">
            <a:avLst/>
          </a:prstGeom>
          <a:noFill/>
          <a:ln w="9525">
            <a:solidFill>
              <a:srgbClr val="D5DBE3"/>
            </a:solidFill>
            <a:prstDash val="solid"/>
          </a:ln>
        </p:spPr>
      </p:sp>
      <p:sp>
        <p:nvSpPr>
          <p:cNvPr id="54" name="Text 45"/>
          <p:cNvSpPr/>
          <p:nvPr/>
        </p:nvSpPr>
        <p:spPr>
          <a:xfrm>
            <a:off x="6242304" y="4325112"/>
            <a:ext cx="2298192" cy="182880"/>
          </a:xfrm>
          <a:prstGeom prst="rect">
            <a:avLst/>
          </a:prstGeom>
          <a:noFill/>
          <a:ln/>
        </p:spPr>
        <p:txBody>
          <a:bodyPr wrap="square" lIns="0" tIns="0" rIns="0" bIns="0" rtlCol="0" anchor="ctr"/>
          <a:lstStyle/>
          <a:p>
            <a:pPr indent="0" marL="0">
              <a:buNone/>
            </a:pPr>
            <a:r>
              <a:rPr lang="en-US" sz="900" b="1" dirty="0">
                <a:solidFill>
                  <a:srgbClr val="4F5E71"/>
                </a:solidFill>
                <a:latin typeface="Calibri" pitchFamily="34" charset="0"/>
                <a:ea typeface="Calibri" pitchFamily="34" charset="-122"/>
                <a:cs typeface="Calibri" pitchFamily="34" charset="-120"/>
              </a:rPr>
              <a:t>UC25  ·  UC39  ·  UC40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4  ·  AI USE CASES</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The agent does real banking work, and every action is attributable, bounded and approvable</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457200" y="1527048"/>
            <a:ext cx="384048" cy="384048"/>
          </a:xfrm>
          <a:prstGeom prst="ellipse">
            <a:avLst/>
          </a:prstGeom>
          <a:solidFill>
            <a:srgbClr val="0B1A2E"/>
          </a:solidFill>
          <a:ln/>
        </p:spPr>
      </p:sp>
      <p:pic>
        <p:nvPicPr>
          <p:cNvPr id="8" name="Image 0" descr="preencoded.png"/>
          <p:cNvPicPr>
            <a:picLocks noChangeAspect="1"/>
          </p:cNvPicPr>
          <p:nvPr/>
        </p:nvPicPr>
        <p:blipFill>
          <a:blip r:embed="rId1"/>
          <a:stretch>
            <a:fillRect/>
          </a:stretch>
        </p:blipFill>
        <p:spPr>
          <a:xfrm>
            <a:off x="560893" y="1630741"/>
            <a:ext cx="176662" cy="176662"/>
          </a:xfrm>
          <a:prstGeom prst="rect">
            <a:avLst/>
          </a:prstGeom>
        </p:spPr>
      </p:pic>
      <p:sp>
        <p:nvSpPr>
          <p:cNvPr id="9" name="Text 5"/>
          <p:cNvSpPr/>
          <p:nvPr/>
        </p:nvSpPr>
        <p:spPr>
          <a:xfrm>
            <a:off x="969264" y="1481328"/>
            <a:ext cx="4114800" cy="219456"/>
          </a:xfrm>
          <a:prstGeom prst="rect">
            <a:avLst/>
          </a:prstGeom>
          <a:noFill/>
          <a:ln/>
        </p:spPr>
        <p:txBody>
          <a:bodyPr wrap="square" lIns="0" tIns="0" rIns="0" bIns="0" rtlCol="0" anchor="t"/>
          <a:lstStyle/>
          <a:p>
            <a:pPr indent="0" marL="0">
              <a:buNone/>
            </a:pPr>
            <a:r>
              <a:rPr lang="en-US" sz="1100" b="1" dirty="0">
                <a:solidFill>
                  <a:srgbClr val="0B1A2E"/>
                </a:solidFill>
                <a:latin typeface="Montserrat" pitchFamily="34" charset="0"/>
                <a:ea typeface="Montserrat" pitchFamily="34" charset="-122"/>
                <a:cs typeface="Montserrat" pitchFamily="34" charset="-120"/>
              </a:rPr>
              <a:t>Banking in plain English</a:t>
            </a:r>
            <a:pPr indent="0" marL="0">
              <a:buNone/>
            </a:pPr>
            <a:r>
              <a:rPr lang="en-US" sz="900" b="1" dirty="0">
                <a:solidFill>
                  <a:srgbClr val="C8102E"/>
                </a:solidFill>
                <a:latin typeface="Calibri" pitchFamily="34" charset="0"/>
                <a:ea typeface="Calibri" pitchFamily="34" charset="-122"/>
                <a:cs typeface="Calibri" pitchFamily="34" charset="-120"/>
              </a:rPr>
              <a:t xml:space="preserve">   UC1 · UC33 · UC34</a:t>
            </a:r>
            <a:endParaRPr lang="en-US" sz="1100" dirty="0"/>
          </a:p>
        </p:txBody>
      </p:sp>
      <p:sp>
        <p:nvSpPr>
          <p:cNvPr id="10" name="Text 6"/>
          <p:cNvSpPr/>
          <p:nvPr/>
        </p:nvSpPr>
        <p:spPr>
          <a:xfrm>
            <a:off x="969264" y="1709928"/>
            <a:ext cx="4114800" cy="201168"/>
          </a:xfrm>
          <a:prstGeom prst="rect">
            <a:avLst/>
          </a:prstGeom>
          <a:noFill/>
          <a:ln/>
        </p:spPr>
        <p:txBody>
          <a:bodyPr wrap="square" lIns="0" tIns="0" rIns="0" bIns="0" rtlCol="0" anchor="t"/>
          <a:lstStyle/>
          <a:p>
            <a:pPr indent="0" marL="0">
              <a:buNone/>
            </a:pPr>
            <a:r>
              <a:rPr lang="en-US" sz="1050" dirty="0">
                <a:solidFill>
                  <a:srgbClr val="4F5E71"/>
                </a:solidFill>
                <a:latin typeface="Calibri" pitchFamily="34" charset="0"/>
                <a:ea typeface="Calibri" pitchFamily="34" charset="-122"/>
                <a:cs typeface="Calibri" pitchFamily="34" charset="-120"/>
              </a:rPr>
              <a:t>Balances, mortgage, transfers, pattern spotting via MCP</a:t>
            </a:r>
            <a:endParaRPr lang="en-US" sz="1050" dirty="0"/>
          </a:p>
        </p:txBody>
      </p:sp>
      <p:sp>
        <p:nvSpPr>
          <p:cNvPr id="11" name="Shape 7"/>
          <p:cNvSpPr/>
          <p:nvPr/>
        </p:nvSpPr>
        <p:spPr>
          <a:xfrm>
            <a:off x="457200" y="2048256"/>
            <a:ext cx="384048" cy="384048"/>
          </a:xfrm>
          <a:prstGeom prst="ellipse">
            <a:avLst/>
          </a:prstGeom>
          <a:solidFill>
            <a:srgbClr val="0B1A2E"/>
          </a:solidFill>
          <a:ln/>
        </p:spPr>
      </p:sp>
      <p:pic>
        <p:nvPicPr>
          <p:cNvPr id="12" name="Image 1" descr="preencoded.png"/>
          <p:cNvPicPr>
            <a:picLocks noChangeAspect="1"/>
          </p:cNvPicPr>
          <p:nvPr/>
        </p:nvPicPr>
        <p:blipFill>
          <a:blip r:embed="rId2"/>
          <a:stretch>
            <a:fillRect/>
          </a:stretch>
        </p:blipFill>
        <p:spPr>
          <a:xfrm>
            <a:off x="560893" y="2151949"/>
            <a:ext cx="176662" cy="176662"/>
          </a:xfrm>
          <a:prstGeom prst="rect">
            <a:avLst/>
          </a:prstGeom>
        </p:spPr>
      </p:pic>
      <p:sp>
        <p:nvSpPr>
          <p:cNvPr id="13" name="Text 8"/>
          <p:cNvSpPr/>
          <p:nvPr/>
        </p:nvSpPr>
        <p:spPr>
          <a:xfrm>
            <a:off x="969264" y="2002536"/>
            <a:ext cx="4114800" cy="219456"/>
          </a:xfrm>
          <a:prstGeom prst="rect">
            <a:avLst/>
          </a:prstGeom>
          <a:noFill/>
          <a:ln/>
        </p:spPr>
        <p:txBody>
          <a:bodyPr wrap="square" lIns="0" tIns="0" rIns="0" bIns="0" rtlCol="0" anchor="t"/>
          <a:lstStyle/>
          <a:p>
            <a:pPr indent="0" marL="0">
              <a:buNone/>
            </a:pPr>
            <a:r>
              <a:rPr lang="en-US" sz="1100" b="1" dirty="0">
                <a:solidFill>
                  <a:srgbClr val="0B1A2E"/>
                </a:solidFill>
                <a:latin typeface="Montserrat" pitchFamily="34" charset="0"/>
                <a:ea typeface="Montserrat" pitchFamily="34" charset="-122"/>
                <a:cs typeface="Montserrat" pitchFamily="34" charset="-120"/>
              </a:rPr>
              <a:t>Human in the loop</a:t>
            </a:r>
            <a:pPr indent="0" marL="0">
              <a:buNone/>
            </a:pPr>
            <a:r>
              <a:rPr lang="en-US" sz="900" b="1" dirty="0">
                <a:solidFill>
                  <a:srgbClr val="C8102E"/>
                </a:solidFill>
                <a:latin typeface="Calibri" pitchFamily="34" charset="0"/>
                <a:ea typeface="Calibri" pitchFamily="34" charset="-122"/>
                <a:cs typeface="Calibri" pitchFamily="34" charset="-120"/>
              </a:rPr>
              <a:t xml:space="preserve">   UC8 · UC23 · UC27</a:t>
            </a:r>
            <a:endParaRPr lang="en-US" sz="1100" dirty="0"/>
          </a:p>
        </p:txBody>
      </p:sp>
      <p:sp>
        <p:nvSpPr>
          <p:cNvPr id="14" name="Text 9"/>
          <p:cNvSpPr/>
          <p:nvPr/>
        </p:nvSpPr>
        <p:spPr>
          <a:xfrm>
            <a:off x="969264" y="2231136"/>
            <a:ext cx="4114800" cy="201168"/>
          </a:xfrm>
          <a:prstGeom prst="rect">
            <a:avLst/>
          </a:prstGeom>
          <a:noFill/>
          <a:ln/>
        </p:spPr>
        <p:txBody>
          <a:bodyPr wrap="square" lIns="0" tIns="0" rIns="0" bIns="0" rtlCol="0" anchor="t"/>
          <a:lstStyle/>
          <a:p>
            <a:pPr indent="0" marL="0">
              <a:buNone/>
            </a:pPr>
            <a:r>
              <a:rPr lang="en-US" sz="1050" dirty="0">
                <a:solidFill>
                  <a:srgbClr val="4F5E71"/>
                </a:solidFill>
                <a:latin typeface="Calibri" pitchFamily="34" charset="0"/>
                <a:ea typeface="Calibri" pitchFamily="34" charset="-122"/>
                <a:cs typeface="Calibri" pitchFamily="34" charset="-120"/>
              </a:rPr>
              <a:t>Consent for transfers; bypass attempts refused</a:t>
            </a:r>
            <a:endParaRPr lang="en-US" sz="1050" dirty="0"/>
          </a:p>
        </p:txBody>
      </p:sp>
      <p:sp>
        <p:nvSpPr>
          <p:cNvPr id="15" name="Shape 10"/>
          <p:cNvSpPr/>
          <p:nvPr/>
        </p:nvSpPr>
        <p:spPr>
          <a:xfrm>
            <a:off x="457200" y="2569464"/>
            <a:ext cx="384048" cy="384048"/>
          </a:xfrm>
          <a:prstGeom prst="ellipse">
            <a:avLst/>
          </a:prstGeom>
          <a:solidFill>
            <a:srgbClr val="0B1A2E"/>
          </a:solidFill>
          <a:ln/>
        </p:spPr>
      </p:sp>
      <p:pic>
        <p:nvPicPr>
          <p:cNvPr id="16" name="Image 2" descr="preencoded.png"/>
          <p:cNvPicPr>
            <a:picLocks noChangeAspect="1"/>
          </p:cNvPicPr>
          <p:nvPr/>
        </p:nvPicPr>
        <p:blipFill>
          <a:blip r:embed="rId3"/>
          <a:stretch>
            <a:fillRect/>
          </a:stretch>
        </p:blipFill>
        <p:spPr>
          <a:xfrm>
            <a:off x="560893" y="2673157"/>
            <a:ext cx="176662" cy="176662"/>
          </a:xfrm>
          <a:prstGeom prst="rect">
            <a:avLst/>
          </a:prstGeom>
        </p:spPr>
      </p:pic>
      <p:sp>
        <p:nvSpPr>
          <p:cNvPr id="17" name="Text 11"/>
          <p:cNvSpPr/>
          <p:nvPr/>
        </p:nvSpPr>
        <p:spPr>
          <a:xfrm>
            <a:off x="969264" y="2523744"/>
            <a:ext cx="4114800" cy="219456"/>
          </a:xfrm>
          <a:prstGeom prst="rect">
            <a:avLst/>
          </a:prstGeom>
          <a:noFill/>
          <a:ln/>
        </p:spPr>
        <p:txBody>
          <a:bodyPr wrap="square" lIns="0" tIns="0" rIns="0" bIns="0" rtlCol="0" anchor="t"/>
          <a:lstStyle/>
          <a:p>
            <a:pPr indent="0" marL="0">
              <a:buNone/>
            </a:pPr>
            <a:r>
              <a:rPr lang="en-US" sz="1100" b="1" dirty="0">
                <a:solidFill>
                  <a:srgbClr val="0B1A2E"/>
                </a:solidFill>
                <a:latin typeface="Montserrat" pitchFamily="34" charset="0"/>
                <a:ea typeface="Montserrat" pitchFamily="34" charset="-122"/>
                <a:cs typeface="Montserrat" pitchFamily="34" charset="-120"/>
              </a:rPr>
              <a:t>Agent-to-agent delegation</a:t>
            </a:r>
            <a:pPr indent="0" marL="0">
              <a:buNone/>
            </a:pPr>
            <a:r>
              <a:rPr lang="en-US" sz="900" b="1" dirty="0">
                <a:solidFill>
                  <a:srgbClr val="C8102E"/>
                </a:solidFill>
                <a:latin typeface="Calibri" pitchFamily="34" charset="0"/>
                <a:ea typeface="Calibri" pitchFamily="34" charset="-122"/>
                <a:cs typeface="Calibri" pitchFamily="34" charset="-120"/>
              </a:rPr>
              <a:t xml:space="preserve">   UC2 · 2.5 · 2.6 · 2.7</a:t>
            </a:r>
            <a:endParaRPr lang="en-US" sz="1100" dirty="0"/>
          </a:p>
        </p:txBody>
      </p:sp>
      <p:sp>
        <p:nvSpPr>
          <p:cNvPr id="18" name="Text 12"/>
          <p:cNvSpPr/>
          <p:nvPr/>
        </p:nvSpPr>
        <p:spPr>
          <a:xfrm>
            <a:off x="969264" y="2752344"/>
            <a:ext cx="4114800" cy="201168"/>
          </a:xfrm>
          <a:prstGeom prst="rect">
            <a:avLst/>
          </a:prstGeom>
          <a:noFill/>
          <a:ln/>
        </p:spPr>
        <p:txBody>
          <a:bodyPr wrap="square" lIns="0" tIns="0" rIns="0" bIns="0" rtlCol="0" anchor="t"/>
          <a:lstStyle/>
          <a:p>
            <a:pPr indent="0" marL="0">
              <a:buNone/>
            </a:pPr>
            <a:r>
              <a:rPr lang="en-US" sz="1050" dirty="0">
                <a:solidFill>
                  <a:srgbClr val="4F5E71"/>
                </a:solidFill>
                <a:latin typeface="Calibri" pitchFamily="34" charset="0"/>
                <a:ea typeface="Calibri" pitchFamily="34" charset="-122"/>
                <a:cs typeface="Calibri" pitchFamily="34" charset="-120"/>
              </a:rPr>
              <a:t>Hand-off to a specialist; unregistered agents denied</a:t>
            </a:r>
            <a:endParaRPr lang="en-US" sz="1050" dirty="0"/>
          </a:p>
        </p:txBody>
      </p:sp>
      <p:sp>
        <p:nvSpPr>
          <p:cNvPr id="19" name="Shape 13"/>
          <p:cNvSpPr/>
          <p:nvPr/>
        </p:nvSpPr>
        <p:spPr>
          <a:xfrm>
            <a:off x="457200" y="3090672"/>
            <a:ext cx="384048" cy="384048"/>
          </a:xfrm>
          <a:prstGeom prst="ellipse">
            <a:avLst/>
          </a:prstGeom>
          <a:solidFill>
            <a:srgbClr val="0B1A2E"/>
          </a:solidFill>
          <a:ln/>
        </p:spPr>
      </p:sp>
      <p:pic>
        <p:nvPicPr>
          <p:cNvPr id="20" name="Image 3" descr="preencoded.png"/>
          <p:cNvPicPr>
            <a:picLocks noChangeAspect="1"/>
          </p:cNvPicPr>
          <p:nvPr/>
        </p:nvPicPr>
        <p:blipFill>
          <a:blip r:embed="rId4"/>
          <a:stretch>
            <a:fillRect/>
          </a:stretch>
        </p:blipFill>
        <p:spPr>
          <a:xfrm>
            <a:off x="560893" y="3194365"/>
            <a:ext cx="176662" cy="176662"/>
          </a:xfrm>
          <a:prstGeom prst="rect">
            <a:avLst/>
          </a:prstGeom>
        </p:spPr>
      </p:pic>
      <p:sp>
        <p:nvSpPr>
          <p:cNvPr id="21" name="Text 14"/>
          <p:cNvSpPr/>
          <p:nvPr/>
        </p:nvSpPr>
        <p:spPr>
          <a:xfrm>
            <a:off x="969264" y="3044952"/>
            <a:ext cx="4114800" cy="219456"/>
          </a:xfrm>
          <a:prstGeom prst="rect">
            <a:avLst/>
          </a:prstGeom>
          <a:noFill/>
          <a:ln/>
        </p:spPr>
        <p:txBody>
          <a:bodyPr wrap="square" lIns="0" tIns="0" rIns="0" bIns="0" rtlCol="0" anchor="t"/>
          <a:lstStyle/>
          <a:p>
            <a:pPr indent="0" marL="0">
              <a:buNone/>
            </a:pPr>
            <a:r>
              <a:rPr lang="en-US" sz="1100" b="1" dirty="0">
                <a:solidFill>
                  <a:srgbClr val="0B1A2E"/>
                </a:solidFill>
                <a:latin typeface="Montserrat" pitchFamily="34" charset="0"/>
                <a:ea typeface="Montserrat" pitchFamily="34" charset="-122"/>
                <a:cs typeface="Montserrat" pitchFamily="34" charset="-120"/>
              </a:rPr>
              <a:t>Policy on third-party tools</a:t>
            </a:r>
            <a:pPr indent="0" marL="0">
              <a:buNone/>
            </a:pPr>
            <a:r>
              <a:rPr lang="en-US" sz="900" b="1" dirty="0">
                <a:solidFill>
                  <a:srgbClr val="C8102E"/>
                </a:solidFill>
                <a:latin typeface="Calibri" pitchFamily="34" charset="0"/>
                <a:ea typeface="Calibri" pitchFamily="34" charset="-122"/>
                <a:cs typeface="Calibri" pitchFamily="34" charset="-120"/>
              </a:rPr>
              <a:t xml:space="preserve">   UC30–32 · UC41–42</a:t>
            </a:r>
            <a:endParaRPr lang="en-US" sz="1100" dirty="0"/>
          </a:p>
        </p:txBody>
      </p:sp>
      <p:sp>
        <p:nvSpPr>
          <p:cNvPr id="22" name="Text 15"/>
          <p:cNvSpPr/>
          <p:nvPr/>
        </p:nvSpPr>
        <p:spPr>
          <a:xfrm>
            <a:off x="969264" y="3273552"/>
            <a:ext cx="4114800" cy="201168"/>
          </a:xfrm>
          <a:prstGeom prst="rect">
            <a:avLst/>
          </a:prstGeom>
          <a:noFill/>
          <a:ln/>
        </p:spPr>
        <p:txBody>
          <a:bodyPr wrap="square" lIns="0" tIns="0" rIns="0" bIns="0" rtlCol="0" anchor="t"/>
          <a:lstStyle/>
          <a:p>
            <a:pPr indent="0" marL="0">
              <a:buNone/>
            </a:pPr>
            <a:r>
              <a:rPr lang="en-US" sz="1050" dirty="0">
                <a:solidFill>
                  <a:srgbClr val="4F5E71"/>
                </a:solidFill>
                <a:latin typeface="Calibri" pitchFamily="34" charset="0"/>
                <a:ea typeface="Calibri" pitchFamily="34" charset="-122"/>
                <a:cs typeface="Calibri" pitchFamily="34" charset="-120"/>
              </a:rPr>
              <a:t>Weather and web search allowed or blocked, changed live</a:t>
            </a:r>
            <a:endParaRPr lang="en-US" sz="1050" dirty="0"/>
          </a:p>
        </p:txBody>
      </p:sp>
      <p:sp>
        <p:nvSpPr>
          <p:cNvPr id="23" name="Shape 16"/>
          <p:cNvSpPr/>
          <p:nvPr/>
        </p:nvSpPr>
        <p:spPr>
          <a:xfrm>
            <a:off x="457200" y="3611880"/>
            <a:ext cx="384048" cy="384048"/>
          </a:xfrm>
          <a:prstGeom prst="ellipse">
            <a:avLst/>
          </a:prstGeom>
          <a:solidFill>
            <a:srgbClr val="0B1A2E"/>
          </a:solidFill>
          <a:ln/>
        </p:spPr>
      </p:sp>
      <p:pic>
        <p:nvPicPr>
          <p:cNvPr id="24" name="Image 4" descr="preencoded.png"/>
          <p:cNvPicPr>
            <a:picLocks noChangeAspect="1"/>
          </p:cNvPicPr>
          <p:nvPr/>
        </p:nvPicPr>
        <p:blipFill>
          <a:blip r:embed="rId5"/>
          <a:stretch>
            <a:fillRect/>
          </a:stretch>
        </p:blipFill>
        <p:spPr>
          <a:xfrm>
            <a:off x="560893" y="3715573"/>
            <a:ext cx="176662" cy="176662"/>
          </a:xfrm>
          <a:prstGeom prst="rect">
            <a:avLst/>
          </a:prstGeom>
        </p:spPr>
      </p:pic>
      <p:sp>
        <p:nvSpPr>
          <p:cNvPr id="25" name="Text 17"/>
          <p:cNvSpPr/>
          <p:nvPr/>
        </p:nvSpPr>
        <p:spPr>
          <a:xfrm>
            <a:off x="969264" y="3566160"/>
            <a:ext cx="4114800" cy="219456"/>
          </a:xfrm>
          <a:prstGeom prst="rect">
            <a:avLst/>
          </a:prstGeom>
          <a:noFill/>
          <a:ln/>
        </p:spPr>
        <p:txBody>
          <a:bodyPr wrap="square" lIns="0" tIns="0" rIns="0" bIns="0" rtlCol="0" anchor="t"/>
          <a:lstStyle/>
          <a:p>
            <a:pPr indent="0" marL="0">
              <a:buNone/>
            </a:pPr>
            <a:r>
              <a:rPr lang="en-US" sz="1100" b="1" dirty="0">
                <a:solidFill>
                  <a:srgbClr val="0B1A2E"/>
                </a:solidFill>
                <a:latin typeface="Montserrat" pitchFamily="34" charset="0"/>
                <a:ea typeface="Montserrat" pitchFamily="34" charset="-122"/>
                <a:cs typeface="Montserrat" pitchFamily="34" charset="-120"/>
              </a:rPr>
              <a:t>Explainable decisions</a:t>
            </a:r>
            <a:pPr indent="0" marL="0">
              <a:buNone/>
            </a:pPr>
            <a:r>
              <a:rPr lang="en-US" sz="900" b="1" dirty="0">
                <a:solidFill>
                  <a:srgbClr val="C8102E"/>
                </a:solidFill>
                <a:latin typeface="Calibri" pitchFamily="34" charset="0"/>
                <a:ea typeface="Calibri" pitchFamily="34" charset="-122"/>
                <a:cs typeface="Calibri" pitchFamily="34" charset="-120"/>
              </a:rPr>
              <a:t xml:space="preserve">   UC26 · UC35</a:t>
            </a:r>
            <a:endParaRPr lang="en-US" sz="1100" dirty="0"/>
          </a:p>
        </p:txBody>
      </p:sp>
      <p:sp>
        <p:nvSpPr>
          <p:cNvPr id="26" name="Text 18"/>
          <p:cNvSpPr/>
          <p:nvPr/>
        </p:nvSpPr>
        <p:spPr>
          <a:xfrm>
            <a:off x="969264" y="3794760"/>
            <a:ext cx="4114800" cy="201168"/>
          </a:xfrm>
          <a:prstGeom prst="rect">
            <a:avLst/>
          </a:prstGeom>
          <a:noFill/>
          <a:ln/>
        </p:spPr>
        <p:txBody>
          <a:bodyPr wrap="square" lIns="0" tIns="0" rIns="0" bIns="0" rtlCol="0" anchor="t"/>
          <a:lstStyle/>
          <a:p>
            <a:pPr indent="0" marL="0">
              <a:buNone/>
            </a:pPr>
            <a:r>
              <a:rPr lang="en-US" sz="1050" dirty="0">
                <a:solidFill>
                  <a:srgbClr val="4F5E71"/>
                </a:solidFill>
                <a:latin typeface="Calibri" pitchFamily="34" charset="0"/>
                <a:ea typeface="Calibri" pitchFamily="34" charset="-122"/>
                <a:cs typeface="Calibri" pitchFamily="34" charset="-120"/>
              </a:rPr>
              <a:t>The agent explains why it was blocked</a:t>
            </a:r>
            <a:endParaRPr lang="en-US" sz="1050" dirty="0"/>
          </a:p>
        </p:txBody>
      </p:sp>
      <p:sp>
        <p:nvSpPr>
          <p:cNvPr id="27" name="Shape 19"/>
          <p:cNvSpPr/>
          <p:nvPr/>
        </p:nvSpPr>
        <p:spPr>
          <a:xfrm>
            <a:off x="457200" y="4133088"/>
            <a:ext cx="384048" cy="384048"/>
          </a:xfrm>
          <a:prstGeom prst="ellipse">
            <a:avLst/>
          </a:prstGeom>
          <a:solidFill>
            <a:srgbClr val="0B1A2E"/>
          </a:solidFill>
          <a:ln/>
        </p:spPr>
      </p:sp>
      <p:pic>
        <p:nvPicPr>
          <p:cNvPr id="28" name="Image 5" descr="preencoded.png"/>
          <p:cNvPicPr>
            <a:picLocks noChangeAspect="1"/>
          </p:cNvPicPr>
          <p:nvPr/>
        </p:nvPicPr>
        <p:blipFill>
          <a:blip r:embed="rId6"/>
          <a:stretch>
            <a:fillRect/>
          </a:stretch>
        </p:blipFill>
        <p:spPr>
          <a:xfrm>
            <a:off x="560893" y="4236781"/>
            <a:ext cx="176662" cy="176662"/>
          </a:xfrm>
          <a:prstGeom prst="rect">
            <a:avLst/>
          </a:prstGeom>
        </p:spPr>
      </p:pic>
      <p:sp>
        <p:nvSpPr>
          <p:cNvPr id="29" name="Text 20"/>
          <p:cNvSpPr/>
          <p:nvPr/>
        </p:nvSpPr>
        <p:spPr>
          <a:xfrm>
            <a:off x="969264" y="4087368"/>
            <a:ext cx="4114800" cy="219456"/>
          </a:xfrm>
          <a:prstGeom prst="rect">
            <a:avLst/>
          </a:prstGeom>
          <a:noFill/>
          <a:ln/>
        </p:spPr>
        <p:txBody>
          <a:bodyPr wrap="square" lIns="0" tIns="0" rIns="0" bIns="0" rtlCol="0" anchor="t"/>
          <a:lstStyle/>
          <a:p>
            <a:pPr indent="0" marL="0">
              <a:buNone/>
            </a:pPr>
            <a:r>
              <a:rPr lang="en-US" sz="1100" b="1" dirty="0">
                <a:solidFill>
                  <a:srgbClr val="0B1A2E"/>
                </a:solidFill>
                <a:latin typeface="Montserrat" pitchFamily="34" charset="0"/>
                <a:ea typeface="Montserrat" pitchFamily="34" charset="-122"/>
                <a:cs typeface="Montserrat" pitchFamily="34" charset="-120"/>
              </a:rPr>
              <a:t>Agent identity and governance</a:t>
            </a:r>
            <a:pPr indent="0" marL="0">
              <a:buNone/>
            </a:pPr>
            <a:r>
              <a:rPr lang="en-US" sz="900" b="1" dirty="0">
                <a:solidFill>
                  <a:srgbClr val="C8102E"/>
                </a:solidFill>
                <a:latin typeface="Calibri" pitchFamily="34" charset="0"/>
                <a:ea typeface="Calibri" pitchFamily="34" charset="-122"/>
                <a:cs typeface="Calibri" pitchFamily="34" charset="-120"/>
              </a:rPr>
              <a:t xml:space="preserve">   UC-NHI1–2 · UC19</a:t>
            </a:r>
            <a:endParaRPr lang="en-US" sz="1100" dirty="0"/>
          </a:p>
        </p:txBody>
      </p:sp>
      <p:sp>
        <p:nvSpPr>
          <p:cNvPr id="30" name="Text 21"/>
          <p:cNvSpPr/>
          <p:nvPr/>
        </p:nvSpPr>
        <p:spPr>
          <a:xfrm>
            <a:off x="969264" y="4315968"/>
            <a:ext cx="4114800" cy="201168"/>
          </a:xfrm>
          <a:prstGeom prst="rect">
            <a:avLst/>
          </a:prstGeom>
          <a:noFill/>
          <a:ln/>
        </p:spPr>
        <p:txBody>
          <a:bodyPr wrap="square" lIns="0" tIns="0" rIns="0" bIns="0" rtlCol="0" anchor="t"/>
          <a:lstStyle/>
          <a:p>
            <a:pPr indent="0" marL="0">
              <a:buNone/>
            </a:pPr>
            <a:r>
              <a:rPr lang="en-US" sz="1050" dirty="0">
                <a:solidFill>
                  <a:srgbClr val="4F5E71"/>
                </a:solidFill>
                <a:latin typeface="Calibri" pitchFamily="34" charset="0"/>
                <a:ea typeface="Calibri" pitchFamily="34" charset="-122"/>
                <a:cs typeface="Calibri" pitchFamily="34" charset="-120"/>
              </a:rPr>
              <a:t>Agent inventory, lifecycle export, credential retirement</a:t>
            </a:r>
            <a:endParaRPr lang="en-US" sz="1050" dirty="0"/>
          </a:p>
        </p:txBody>
      </p:sp>
      <p:sp>
        <p:nvSpPr>
          <p:cNvPr id="31" name="Shape 22"/>
          <p:cNvSpPr/>
          <p:nvPr/>
        </p:nvSpPr>
        <p:spPr>
          <a:xfrm>
            <a:off x="5349240" y="1481328"/>
            <a:ext cx="3337560" cy="3072384"/>
          </a:xfrm>
          <a:prstGeom prst="rect">
            <a:avLst/>
          </a:prstGeom>
          <a:solidFill>
            <a:srgbClr val="0B1A2E"/>
          </a:solidFill>
          <a:ln/>
        </p:spPr>
      </p:sp>
      <p:sp>
        <p:nvSpPr>
          <p:cNvPr id="32" name="Text 23"/>
          <p:cNvSpPr/>
          <p:nvPr/>
        </p:nvSpPr>
        <p:spPr>
          <a:xfrm>
            <a:off x="5577840" y="1645920"/>
            <a:ext cx="2880360" cy="201168"/>
          </a:xfrm>
          <a:prstGeom prst="rect">
            <a:avLst/>
          </a:prstGeom>
          <a:noFill/>
          <a:ln/>
        </p:spPr>
        <p:txBody>
          <a:bodyPr wrap="square" lIns="0" tIns="0" rIns="0" bIns="0" rtlCol="0" anchor="t"/>
          <a:lstStyle/>
          <a:p>
            <a:pPr indent="0" marL="0">
              <a:buNone/>
            </a:pPr>
            <a:r>
              <a:rPr lang="en-US" sz="900" b="1" spc="200" kern="0" dirty="0">
                <a:solidFill>
                  <a:srgbClr val="B9C6D6"/>
                </a:solidFill>
                <a:latin typeface="Montserrat" pitchFamily="34" charset="0"/>
                <a:ea typeface="Montserrat" pitchFamily="34" charset="-122"/>
                <a:cs typeface="Montserrat" pitchFamily="34" charset="-120"/>
              </a:rPr>
              <a:t>ONE PROMPT, END TO END</a:t>
            </a:r>
            <a:endParaRPr lang="en-US" sz="900" dirty="0"/>
          </a:p>
        </p:txBody>
      </p:sp>
      <p:sp>
        <p:nvSpPr>
          <p:cNvPr id="33" name="Text 24"/>
          <p:cNvSpPr/>
          <p:nvPr/>
        </p:nvSpPr>
        <p:spPr>
          <a:xfrm>
            <a:off x="5577840" y="1865376"/>
            <a:ext cx="2880360" cy="310896"/>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“Send $300 to savings”</a:t>
            </a:r>
            <a:endParaRPr lang="en-US" sz="1500" dirty="0"/>
          </a:p>
        </p:txBody>
      </p:sp>
      <p:sp>
        <p:nvSpPr>
          <p:cNvPr id="34" name="Shape 25"/>
          <p:cNvSpPr/>
          <p:nvPr/>
        </p:nvSpPr>
        <p:spPr>
          <a:xfrm>
            <a:off x="5577840" y="2286000"/>
            <a:ext cx="219456" cy="219456"/>
          </a:xfrm>
          <a:prstGeom prst="ellipse">
            <a:avLst/>
          </a:prstGeom>
          <a:solidFill>
            <a:srgbClr val="C8102E"/>
          </a:solidFill>
          <a:ln/>
        </p:spPr>
      </p:sp>
      <p:sp>
        <p:nvSpPr>
          <p:cNvPr id="35" name="Text 26"/>
          <p:cNvSpPr/>
          <p:nvPr/>
        </p:nvSpPr>
        <p:spPr>
          <a:xfrm>
            <a:off x="5577840"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1</a:t>
            </a:r>
            <a:endParaRPr lang="en-US" sz="900" dirty="0"/>
          </a:p>
        </p:txBody>
      </p:sp>
      <p:sp>
        <p:nvSpPr>
          <p:cNvPr id="36" name="Text 27"/>
          <p:cNvSpPr/>
          <p:nvPr/>
        </p:nvSpPr>
        <p:spPr>
          <a:xfrm>
            <a:off x="5897880" y="2267712"/>
            <a:ext cx="2651760" cy="25603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Agent picks the transfer tool</a:t>
            </a:r>
            <a:endParaRPr lang="en-US" sz="1050" dirty="0"/>
          </a:p>
        </p:txBody>
      </p:sp>
      <p:sp>
        <p:nvSpPr>
          <p:cNvPr id="37" name="Shape 28"/>
          <p:cNvSpPr/>
          <p:nvPr/>
        </p:nvSpPr>
        <p:spPr>
          <a:xfrm>
            <a:off x="5577840" y="2596896"/>
            <a:ext cx="219456" cy="219456"/>
          </a:xfrm>
          <a:prstGeom prst="ellipse">
            <a:avLst/>
          </a:prstGeom>
          <a:solidFill>
            <a:srgbClr val="C8102E"/>
          </a:solidFill>
          <a:ln/>
        </p:spPr>
      </p:sp>
      <p:sp>
        <p:nvSpPr>
          <p:cNvPr id="38" name="Text 29"/>
          <p:cNvSpPr/>
          <p:nvPr/>
        </p:nvSpPr>
        <p:spPr>
          <a:xfrm>
            <a:off x="5577840" y="259689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2</a:t>
            </a:r>
            <a:endParaRPr lang="en-US" sz="900" dirty="0"/>
          </a:p>
        </p:txBody>
      </p:sp>
      <p:sp>
        <p:nvSpPr>
          <p:cNvPr id="39" name="Text 30"/>
          <p:cNvSpPr/>
          <p:nvPr/>
        </p:nvSpPr>
        <p:spPr>
          <a:xfrm>
            <a:off x="5897880" y="2578608"/>
            <a:ext cx="2651760" cy="25603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BFF exchanges for a delegated token</a:t>
            </a:r>
            <a:endParaRPr lang="en-US" sz="1050" dirty="0"/>
          </a:p>
        </p:txBody>
      </p:sp>
      <p:sp>
        <p:nvSpPr>
          <p:cNvPr id="40" name="Shape 31"/>
          <p:cNvSpPr/>
          <p:nvPr/>
        </p:nvSpPr>
        <p:spPr>
          <a:xfrm>
            <a:off x="5577840" y="2907792"/>
            <a:ext cx="219456" cy="219456"/>
          </a:xfrm>
          <a:prstGeom prst="ellipse">
            <a:avLst/>
          </a:prstGeom>
          <a:solidFill>
            <a:srgbClr val="C8102E"/>
          </a:solidFill>
          <a:ln/>
        </p:spPr>
      </p:sp>
      <p:sp>
        <p:nvSpPr>
          <p:cNvPr id="41" name="Text 32"/>
          <p:cNvSpPr/>
          <p:nvPr/>
        </p:nvSpPr>
        <p:spPr>
          <a:xfrm>
            <a:off x="5577840" y="2907792"/>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3</a:t>
            </a:r>
            <a:endParaRPr lang="en-US" sz="900" dirty="0"/>
          </a:p>
        </p:txBody>
      </p:sp>
      <p:sp>
        <p:nvSpPr>
          <p:cNvPr id="42" name="Text 33"/>
          <p:cNvSpPr/>
          <p:nvPr/>
        </p:nvSpPr>
        <p:spPr>
          <a:xfrm>
            <a:off x="5897880" y="2889504"/>
            <a:ext cx="2651760" cy="25603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Gateway checks it, asks Authorize</a:t>
            </a:r>
            <a:endParaRPr lang="en-US" sz="1050" dirty="0"/>
          </a:p>
        </p:txBody>
      </p:sp>
      <p:sp>
        <p:nvSpPr>
          <p:cNvPr id="43" name="Shape 34"/>
          <p:cNvSpPr/>
          <p:nvPr/>
        </p:nvSpPr>
        <p:spPr>
          <a:xfrm>
            <a:off x="5577840" y="3218688"/>
            <a:ext cx="219456" cy="219456"/>
          </a:xfrm>
          <a:prstGeom prst="ellipse">
            <a:avLst/>
          </a:prstGeom>
          <a:solidFill>
            <a:srgbClr val="C8102E"/>
          </a:solidFill>
          <a:ln/>
        </p:spPr>
      </p:sp>
      <p:sp>
        <p:nvSpPr>
          <p:cNvPr id="44" name="Text 35"/>
          <p:cNvSpPr/>
          <p:nvPr/>
        </p:nvSpPr>
        <p:spPr>
          <a:xfrm>
            <a:off x="5577840" y="3218688"/>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4</a:t>
            </a:r>
            <a:endParaRPr lang="en-US" sz="900" dirty="0"/>
          </a:p>
        </p:txBody>
      </p:sp>
      <p:sp>
        <p:nvSpPr>
          <p:cNvPr id="45" name="Text 36"/>
          <p:cNvSpPr/>
          <p:nvPr/>
        </p:nvSpPr>
        <p:spPr>
          <a:xfrm>
            <a:off x="5897880" y="3200400"/>
            <a:ext cx="2651760" cy="25603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Authorize: over $250, ask the customer</a:t>
            </a:r>
            <a:endParaRPr lang="en-US" sz="1050" dirty="0"/>
          </a:p>
        </p:txBody>
      </p:sp>
      <p:sp>
        <p:nvSpPr>
          <p:cNvPr id="46" name="Shape 37"/>
          <p:cNvSpPr/>
          <p:nvPr/>
        </p:nvSpPr>
        <p:spPr>
          <a:xfrm>
            <a:off x="5577840" y="3529584"/>
            <a:ext cx="219456" cy="219456"/>
          </a:xfrm>
          <a:prstGeom prst="ellipse">
            <a:avLst/>
          </a:prstGeom>
          <a:solidFill>
            <a:srgbClr val="C8102E"/>
          </a:solidFill>
          <a:ln/>
        </p:spPr>
      </p:sp>
      <p:sp>
        <p:nvSpPr>
          <p:cNvPr id="47" name="Text 38"/>
          <p:cNvSpPr/>
          <p:nvPr/>
        </p:nvSpPr>
        <p:spPr>
          <a:xfrm>
            <a:off x="5577840" y="352958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5</a:t>
            </a:r>
            <a:endParaRPr lang="en-US" sz="900" dirty="0"/>
          </a:p>
        </p:txBody>
      </p:sp>
      <p:sp>
        <p:nvSpPr>
          <p:cNvPr id="48" name="Text 39"/>
          <p:cNvSpPr/>
          <p:nvPr/>
        </p:nvSpPr>
        <p:spPr>
          <a:xfrm>
            <a:off x="5897880" y="3511296"/>
            <a:ext cx="2651760" cy="25603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Customer approves; one-time receipt</a:t>
            </a:r>
            <a:endParaRPr lang="en-US" sz="1050" dirty="0"/>
          </a:p>
        </p:txBody>
      </p:sp>
      <p:sp>
        <p:nvSpPr>
          <p:cNvPr id="49" name="Shape 40"/>
          <p:cNvSpPr/>
          <p:nvPr/>
        </p:nvSpPr>
        <p:spPr>
          <a:xfrm>
            <a:off x="5577840" y="3840480"/>
            <a:ext cx="219456" cy="219456"/>
          </a:xfrm>
          <a:prstGeom prst="ellipse">
            <a:avLst/>
          </a:prstGeom>
          <a:solidFill>
            <a:srgbClr val="C8102E"/>
          </a:solidFill>
          <a:ln/>
        </p:spPr>
      </p:sp>
      <p:sp>
        <p:nvSpPr>
          <p:cNvPr id="50" name="Text 41"/>
          <p:cNvSpPr/>
          <p:nvPr/>
        </p:nvSpPr>
        <p:spPr>
          <a:xfrm>
            <a:off x="557784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6</a:t>
            </a:r>
            <a:endParaRPr lang="en-US" sz="900" dirty="0"/>
          </a:p>
        </p:txBody>
      </p:sp>
      <p:sp>
        <p:nvSpPr>
          <p:cNvPr id="51" name="Text 42"/>
          <p:cNvSpPr/>
          <p:nvPr/>
        </p:nvSpPr>
        <p:spPr>
          <a:xfrm>
            <a:off x="5897880" y="3822192"/>
            <a:ext cx="2651760" cy="25603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Tool runs; the audit trail records it</a:t>
            </a:r>
            <a:endParaRPr lang="en-US" sz="1050" dirty="0"/>
          </a:p>
        </p:txBody>
      </p:sp>
      <p:sp>
        <p:nvSpPr>
          <p:cNvPr id="52" name="Text 43"/>
          <p:cNvSpPr/>
          <p:nvPr/>
        </p:nvSpPr>
        <p:spPr>
          <a:xfrm>
            <a:off x="5577840" y="4206240"/>
            <a:ext cx="2971800" cy="219456"/>
          </a:xfrm>
          <a:prstGeom prst="rect">
            <a:avLst/>
          </a:prstGeom>
          <a:noFill/>
          <a:ln/>
        </p:spPr>
        <p:txBody>
          <a:bodyPr wrap="square" lIns="0" tIns="0" rIns="0" bIns="0" rtlCol="0" anchor="ctr"/>
          <a:lstStyle/>
          <a:p>
            <a:pPr indent="0" marL="0">
              <a:buNone/>
            </a:pPr>
            <a:r>
              <a:rPr lang="en-US" sz="950" i="1" dirty="0">
                <a:solidFill>
                  <a:srgbClr val="B9C6D6"/>
                </a:solidFill>
                <a:latin typeface="Calibri" pitchFamily="34" charset="0"/>
                <a:ea typeface="Calibri" pitchFamily="34" charset="-122"/>
                <a:cs typeface="Calibri" pitchFamily="34" charset="-120"/>
              </a:rPr>
              <a:t>Demo thresholds: $250 ask · $500 step-up · $2,000 deny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5  ·  PROTECTING THE AGENT</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The model is never the security boundary: identity and policy are checked at every hop</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457200" y="1481328"/>
            <a:ext cx="8229600" cy="384048"/>
          </a:xfrm>
          <a:prstGeom prst="rect">
            <a:avLst/>
          </a:prstGeom>
          <a:solidFill>
            <a:srgbClr val="FFFFFF"/>
          </a:solidFill>
          <a:ln w="9525">
            <a:solidFill>
              <a:srgbClr val="D5DBE3"/>
            </a:solidFill>
            <a:prstDash val="solid"/>
          </a:ln>
        </p:spPr>
      </p:sp>
      <p:sp>
        <p:nvSpPr>
          <p:cNvPr id="8" name="Shape 5"/>
          <p:cNvSpPr/>
          <p:nvPr/>
        </p:nvSpPr>
        <p:spPr>
          <a:xfrm>
            <a:off x="457200" y="1481328"/>
            <a:ext cx="1874520" cy="384048"/>
          </a:xfrm>
          <a:prstGeom prst="homePlate">
            <a:avLst/>
          </a:prstGeom>
          <a:solidFill>
            <a:srgbClr val="0B1A2E"/>
          </a:solidFill>
          <a:ln/>
        </p:spPr>
      </p:sp>
      <p:sp>
        <p:nvSpPr>
          <p:cNvPr id="9" name="Text 6"/>
          <p:cNvSpPr/>
          <p:nvPr/>
        </p:nvSpPr>
        <p:spPr>
          <a:xfrm>
            <a:off x="603504" y="1481328"/>
            <a:ext cx="1508760" cy="384048"/>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Sign-in</a:t>
            </a:r>
            <a:endParaRPr lang="en-US" sz="1000" dirty="0"/>
          </a:p>
        </p:txBody>
      </p:sp>
      <p:sp>
        <p:nvSpPr>
          <p:cNvPr id="10" name="Shape 7"/>
          <p:cNvSpPr/>
          <p:nvPr/>
        </p:nvSpPr>
        <p:spPr>
          <a:xfrm>
            <a:off x="2487168" y="1536192"/>
            <a:ext cx="274320" cy="274320"/>
          </a:xfrm>
          <a:prstGeom prst="ellipse">
            <a:avLst/>
          </a:prstGeom>
          <a:solidFill>
            <a:srgbClr val="E8ECF2"/>
          </a:solidFill>
          <a:ln/>
        </p:spPr>
      </p:sp>
      <p:pic>
        <p:nvPicPr>
          <p:cNvPr id="11" name="Image 0" descr="preencoded.png"/>
          <p:cNvPicPr>
            <a:picLocks noChangeAspect="1"/>
          </p:cNvPicPr>
          <p:nvPr/>
        </p:nvPicPr>
        <p:blipFill>
          <a:blip r:embed="rId1"/>
          <a:stretch>
            <a:fillRect/>
          </a:stretch>
        </p:blipFill>
        <p:spPr>
          <a:xfrm>
            <a:off x="2561234" y="1610258"/>
            <a:ext cx="126187" cy="126187"/>
          </a:xfrm>
          <a:prstGeom prst="rect">
            <a:avLst/>
          </a:prstGeom>
        </p:spPr>
      </p:pic>
      <p:sp>
        <p:nvSpPr>
          <p:cNvPr id="12" name="Text 8"/>
          <p:cNvSpPr/>
          <p:nvPr/>
        </p:nvSpPr>
        <p:spPr>
          <a:xfrm>
            <a:off x="2907792" y="1481328"/>
            <a:ext cx="5669280" cy="384048"/>
          </a:xfrm>
          <a:prstGeom prst="rect">
            <a:avLst/>
          </a:prstGeom>
          <a:noFill/>
          <a:ln/>
        </p:spPr>
        <p:txBody>
          <a:bodyPr wrap="square" lIns="0" tIns="0" rIns="0" bIns="0" rtlCol="0" anchor="ctr"/>
          <a:lstStyle/>
          <a:p>
            <a:pPr indent="0" marL="0">
              <a:buNone/>
            </a:pPr>
            <a:r>
              <a:rPr lang="en-US" sz="1100" dirty="0">
                <a:solidFill>
                  <a:srgbClr val="0B1A2E"/>
                </a:solidFill>
                <a:latin typeface="Calibri" pitchFamily="34" charset="0"/>
                <a:ea typeface="Calibri" pitchFamily="34" charset="-122"/>
                <a:cs typeface="Calibri" pitchFamily="34" charset="-120"/>
              </a:rPr>
              <a:t>PKCE and passkeys; the browser gets a cookie, never a token</a:t>
            </a:r>
            <a:endParaRPr lang="en-US" sz="1100" dirty="0"/>
          </a:p>
        </p:txBody>
      </p:sp>
      <p:sp>
        <p:nvSpPr>
          <p:cNvPr id="13" name="Shape 9"/>
          <p:cNvSpPr/>
          <p:nvPr/>
        </p:nvSpPr>
        <p:spPr>
          <a:xfrm>
            <a:off x="457200" y="1938528"/>
            <a:ext cx="8229600" cy="384048"/>
          </a:xfrm>
          <a:prstGeom prst="rect">
            <a:avLst/>
          </a:prstGeom>
          <a:solidFill>
            <a:srgbClr val="FFFFFF"/>
          </a:solidFill>
          <a:ln w="9525">
            <a:solidFill>
              <a:srgbClr val="D5DBE3"/>
            </a:solidFill>
            <a:prstDash val="solid"/>
          </a:ln>
        </p:spPr>
      </p:sp>
      <p:sp>
        <p:nvSpPr>
          <p:cNvPr id="14" name="Shape 10"/>
          <p:cNvSpPr/>
          <p:nvPr/>
        </p:nvSpPr>
        <p:spPr>
          <a:xfrm>
            <a:off x="457200" y="1938528"/>
            <a:ext cx="1874520" cy="384048"/>
          </a:xfrm>
          <a:prstGeom prst="homePlate">
            <a:avLst/>
          </a:prstGeom>
          <a:solidFill>
            <a:srgbClr val="15294A"/>
          </a:solidFill>
          <a:ln/>
        </p:spPr>
      </p:sp>
      <p:sp>
        <p:nvSpPr>
          <p:cNvPr id="15" name="Text 11"/>
          <p:cNvSpPr/>
          <p:nvPr/>
        </p:nvSpPr>
        <p:spPr>
          <a:xfrm>
            <a:off x="603504" y="1938528"/>
            <a:ext cx="1508760" cy="384048"/>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Before the model</a:t>
            </a:r>
            <a:endParaRPr lang="en-US" sz="1000" dirty="0"/>
          </a:p>
        </p:txBody>
      </p:sp>
      <p:sp>
        <p:nvSpPr>
          <p:cNvPr id="16" name="Shape 12"/>
          <p:cNvSpPr/>
          <p:nvPr/>
        </p:nvSpPr>
        <p:spPr>
          <a:xfrm>
            <a:off x="2487168" y="1993392"/>
            <a:ext cx="274320" cy="274320"/>
          </a:xfrm>
          <a:prstGeom prst="ellipse">
            <a:avLst/>
          </a:prstGeom>
          <a:solidFill>
            <a:srgbClr val="E8ECF2"/>
          </a:solidFill>
          <a:ln/>
        </p:spPr>
      </p:sp>
      <p:pic>
        <p:nvPicPr>
          <p:cNvPr id="17" name="Image 1" descr="preencoded.png"/>
          <p:cNvPicPr>
            <a:picLocks noChangeAspect="1"/>
          </p:cNvPicPr>
          <p:nvPr/>
        </p:nvPicPr>
        <p:blipFill>
          <a:blip r:embed="rId2"/>
          <a:stretch>
            <a:fillRect/>
          </a:stretch>
        </p:blipFill>
        <p:spPr>
          <a:xfrm>
            <a:off x="2561234" y="2067458"/>
            <a:ext cx="126187" cy="126187"/>
          </a:xfrm>
          <a:prstGeom prst="rect">
            <a:avLst/>
          </a:prstGeom>
        </p:spPr>
      </p:pic>
      <p:sp>
        <p:nvSpPr>
          <p:cNvPr id="18" name="Text 13"/>
          <p:cNvSpPr/>
          <p:nvPr/>
        </p:nvSpPr>
        <p:spPr>
          <a:xfrm>
            <a:off x="2907792" y="1938528"/>
            <a:ext cx="5669280" cy="384048"/>
          </a:xfrm>
          <a:prstGeom prst="rect">
            <a:avLst/>
          </a:prstGeom>
          <a:noFill/>
          <a:ln/>
        </p:spPr>
        <p:txBody>
          <a:bodyPr wrap="square" lIns="0" tIns="0" rIns="0" bIns="0" rtlCol="0" anchor="ctr"/>
          <a:lstStyle/>
          <a:p>
            <a:pPr indent="0" marL="0">
              <a:buNone/>
            </a:pPr>
            <a:r>
              <a:rPr lang="en-US" sz="1100" dirty="0">
                <a:solidFill>
                  <a:srgbClr val="0B1A2E"/>
                </a:solidFill>
                <a:latin typeface="Calibri" pitchFamily="34" charset="0"/>
                <a:ea typeface="Calibri" pitchFamily="34" charset="-122"/>
                <a:cs typeface="Calibri" pitchFamily="34" charset="-120"/>
              </a:rPr>
              <a:t>Prompt-injection guard on by default; the model sees offered tools, never tokens</a:t>
            </a:r>
            <a:endParaRPr lang="en-US" sz="1100" dirty="0"/>
          </a:p>
        </p:txBody>
      </p:sp>
      <p:sp>
        <p:nvSpPr>
          <p:cNvPr id="19" name="Shape 14"/>
          <p:cNvSpPr/>
          <p:nvPr/>
        </p:nvSpPr>
        <p:spPr>
          <a:xfrm>
            <a:off x="457200" y="2395728"/>
            <a:ext cx="8229600" cy="384048"/>
          </a:xfrm>
          <a:prstGeom prst="rect">
            <a:avLst/>
          </a:prstGeom>
          <a:solidFill>
            <a:srgbClr val="FFFFFF"/>
          </a:solidFill>
          <a:ln w="9525">
            <a:solidFill>
              <a:srgbClr val="D5DBE3"/>
            </a:solidFill>
            <a:prstDash val="solid"/>
          </a:ln>
        </p:spPr>
      </p:sp>
      <p:sp>
        <p:nvSpPr>
          <p:cNvPr id="20" name="Shape 15"/>
          <p:cNvSpPr/>
          <p:nvPr/>
        </p:nvSpPr>
        <p:spPr>
          <a:xfrm>
            <a:off x="457200" y="2395728"/>
            <a:ext cx="1874520" cy="384048"/>
          </a:xfrm>
          <a:prstGeom prst="homePlate">
            <a:avLst/>
          </a:prstGeom>
          <a:solidFill>
            <a:srgbClr val="0B1A2E"/>
          </a:solidFill>
          <a:ln/>
        </p:spPr>
      </p:sp>
      <p:sp>
        <p:nvSpPr>
          <p:cNvPr id="21" name="Text 16"/>
          <p:cNvSpPr/>
          <p:nvPr/>
        </p:nvSpPr>
        <p:spPr>
          <a:xfrm>
            <a:off x="603504" y="2395728"/>
            <a:ext cx="1508760" cy="384048"/>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Token exchange</a:t>
            </a:r>
            <a:endParaRPr lang="en-US" sz="1000" dirty="0"/>
          </a:p>
        </p:txBody>
      </p:sp>
      <p:sp>
        <p:nvSpPr>
          <p:cNvPr id="22" name="Shape 17"/>
          <p:cNvSpPr/>
          <p:nvPr/>
        </p:nvSpPr>
        <p:spPr>
          <a:xfrm>
            <a:off x="2487168" y="2450592"/>
            <a:ext cx="274320" cy="274320"/>
          </a:xfrm>
          <a:prstGeom prst="ellipse">
            <a:avLst/>
          </a:prstGeom>
          <a:solidFill>
            <a:srgbClr val="E8ECF2"/>
          </a:solidFill>
          <a:ln/>
        </p:spPr>
      </p:sp>
      <p:pic>
        <p:nvPicPr>
          <p:cNvPr id="23" name="Image 2" descr="preencoded.png"/>
          <p:cNvPicPr>
            <a:picLocks noChangeAspect="1"/>
          </p:cNvPicPr>
          <p:nvPr/>
        </p:nvPicPr>
        <p:blipFill>
          <a:blip r:embed="rId3"/>
          <a:stretch>
            <a:fillRect/>
          </a:stretch>
        </p:blipFill>
        <p:spPr>
          <a:xfrm>
            <a:off x="2561234" y="2524658"/>
            <a:ext cx="126187" cy="126187"/>
          </a:xfrm>
          <a:prstGeom prst="rect">
            <a:avLst/>
          </a:prstGeom>
        </p:spPr>
      </p:pic>
      <p:sp>
        <p:nvSpPr>
          <p:cNvPr id="24" name="Text 18"/>
          <p:cNvSpPr/>
          <p:nvPr/>
        </p:nvSpPr>
        <p:spPr>
          <a:xfrm>
            <a:off x="2907792" y="2395728"/>
            <a:ext cx="5669280" cy="384048"/>
          </a:xfrm>
          <a:prstGeom prst="rect">
            <a:avLst/>
          </a:prstGeom>
          <a:noFill/>
          <a:ln/>
        </p:spPr>
        <p:txBody>
          <a:bodyPr wrap="square" lIns="0" tIns="0" rIns="0" bIns="0" rtlCol="0" anchor="ctr"/>
          <a:lstStyle/>
          <a:p>
            <a:pPr indent="0" marL="0">
              <a:buNone/>
            </a:pPr>
            <a:r>
              <a:rPr lang="en-US" sz="1100" dirty="0">
                <a:solidFill>
                  <a:srgbClr val="0B1A2E"/>
                </a:solidFill>
                <a:latin typeface="Calibri" pitchFamily="34" charset="0"/>
                <a:ea typeface="Calibri" pitchFamily="34" charset="-122"/>
                <a:cs typeface="Calibri" pitchFamily="34" charset="-120"/>
              </a:rPr>
              <a:t>RFC 8693 on each tool call: one audience, least scopes, act claim names the agent</a:t>
            </a:r>
            <a:endParaRPr lang="en-US" sz="1100" dirty="0"/>
          </a:p>
        </p:txBody>
      </p:sp>
      <p:sp>
        <p:nvSpPr>
          <p:cNvPr id="25" name="Shape 19"/>
          <p:cNvSpPr/>
          <p:nvPr/>
        </p:nvSpPr>
        <p:spPr>
          <a:xfrm>
            <a:off x="457200" y="2852928"/>
            <a:ext cx="8229600" cy="384048"/>
          </a:xfrm>
          <a:prstGeom prst="rect">
            <a:avLst/>
          </a:prstGeom>
          <a:solidFill>
            <a:srgbClr val="FFFFFF"/>
          </a:solidFill>
          <a:ln w="9525">
            <a:solidFill>
              <a:srgbClr val="D5DBE3"/>
            </a:solidFill>
            <a:prstDash val="solid"/>
          </a:ln>
        </p:spPr>
      </p:sp>
      <p:sp>
        <p:nvSpPr>
          <p:cNvPr id="26" name="Shape 20"/>
          <p:cNvSpPr/>
          <p:nvPr/>
        </p:nvSpPr>
        <p:spPr>
          <a:xfrm>
            <a:off x="457200" y="2852928"/>
            <a:ext cx="1874520" cy="384048"/>
          </a:xfrm>
          <a:prstGeom prst="homePlate">
            <a:avLst/>
          </a:prstGeom>
          <a:solidFill>
            <a:srgbClr val="15294A"/>
          </a:solidFill>
          <a:ln/>
        </p:spPr>
      </p:sp>
      <p:sp>
        <p:nvSpPr>
          <p:cNvPr id="27" name="Text 21"/>
          <p:cNvSpPr/>
          <p:nvPr/>
        </p:nvSpPr>
        <p:spPr>
          <a:xfrm>
            <a:off x="603504" y="2852928"/>
            <a:ext cx="1508760" cy="384048"/>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Gateway</a:t>
            </a:r>
            <a:endParaRPr lang="en-US" sz="1000" dirty="0"/>
          </a:p>
        </p:txBody>
      </p:sp>
      <p:sp>
        <p:nvSpPr>
          <p:cNvPr id="28" name="Shape 22"/>
          <p:cNvSpPr/>
          <p:nvPr/>
        </p:nvSpPr>
        <p:spPr>
          <a:xfrm>
            <a:off x="2487168" y="2907792"/>
            <a:ext cx="274320" cy="274320"/>
          </a:xfrm>
          <a:prstGeom prst="ellipse">
            <a:avLst/>
          </a:prstGeom>
          <a:solidFill>
            <a:srgbClr val="E8ECF2"/>
          </a:solidFill>
          <a:ln/>
        </p:spPr>
      </p:sp>
      <p:pic>
        <p:nvPicPr>
          <p:cNvPr id="29" name="Image 3" descr="preencoded.png"/>
          <p:cNvPicPr>
            <a:picLocks noChangeAspect="1"/>
          </p:cNvPicPr>
          <p:nvPr/>
        </p:nvPicPr>
        <p:blipFill>
          <a:blip r:embed="rId4"/>
          <a:stretch>
            <a:fillRect/>
          </a:stretch>
        </p:blipFill>
        <p:spPr>
          <a:xfrm>
            <a:off x="2561234" y="2981858"/>
            <a:ext cx="126187" cy="126187"/>
          </a:xfrm>
          <a:prstGeom prst="rect">
            <a:avLst/>
          </a:prstGeom>
        </p:spPr>
      </p:pic>
      <p:sp>
        <p:nvSpPr>
          <p:cNvPr id="30" name="Text 23"/>
          <p:cNvSpPr/>
          <p:nvPr/>
        </p:nvSpPr>
        <p:spPr>
          <a:xfrm>
            <a:off x="2907792" y="2852928"/>
            <a:ext cx="5669280" cy="384048"/>
          </a:xfrm>
          <a:prstGeom prst="rect">
            <a:avLst/>
          </a:prstGeom>
          <a:noFill/>
          <a:ln/>
        </p:spPr>
        <p:txBody>
          <a:bodyPr wrap="square" lIns="0" tIns="0" rIns="0" bIns="0" rtlCol="0" anchor="ctr"/>
          <a:lstStyle/>
          <a:p>
            <a:pPr indent="0" marL="0">
              <a:buNone/>
            </a:pPr>
            <a:r>
              <a:rPr lang="en-US" sz="1100" dirty="0">
                <a:solidFill>
                  <a:srgbClr val="0B1A2E"/>
                </a:solidFill>
                <a:latin typeface="Calibri" pitchFamily="34" charset="0"/>
                <a:ea typeface="Calibri" pitchFamily="34" charset="-122"/>
                <a:cs typeface="Calibri" pitchFamily="34" charset="-120"/>
              </a:rPr>
              <a:t>Checks audience, expiry and issuer; blocks bypass; rate limits; optional mTLS</a:t>
            </a:r>
            <a:endParaRPr lang="en-US" sz="1100" dirty="0"/>
          </a:p>
        </p:txBody>
      </p:sp>
      <p:sp>
        <p:nvSpPr>
          <p:cNvPr id="31" name="Shape 24"/>
          <p:cNvSpPr/>
          <p:nvPr/>
        </p:nvSpPr>
        <p:spPr>
          <a:xfrm>
            <a:off x="457200" y="3310128"/>
            <a:ext cx="8229600" cy="384048"/>
          </a:xfrm>
          <a:prstGeom prst="rect">
            <a:avLst/>
          </a:prstGeom>
          <a:solidFill>
            <a:srgbClr val="FFFFFF"/>
          </a:solidFill>
          <a:ln w="9525">
            <a:solidFill>
              <a:srgbClr val="D5DBE3"/>
            </a:solidFill>
            <a:prstDash val="solid"/>
          </a:ln>
        </p:spPr>
      </p:sp>
      <p:sp>
        <p:nvSpPr>
          <p:cNvPr id="32" name="Shape 25"/>
          <p:cNvSpPr/>
          <p:nvPr/>
        </p:nvSpPr>
        <p:spPr>
          <a:xfrm>
            <a:off x="457200" y="3310128"/>
            <a:ext cx="1874520" cy="384048"/>
          </a:xfrm>
          <a:prstGeom prst="homePlate">
            <a:avLst/>
          </a:prstGeom>
          <a:solidFill>
            <a:srgbClr val="0B1A2E"/>
          </a:solidFill>
          <a:ln/>
        </p:spPr>
      </p:sp>
      <p:sp>
        <p:nvSpPr>
          <p:cNvPr id="33" name="Text 26"/>
          <p:cNvSpPr/>
          <p:nvPr/>
        </p:nvSpPr>
        <p:spPr>
          <a:xfrm>
            <a:off x="603504" y="3310128"/>
            <a:ext cx="1508760" cy="384048"/>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Policy</a:t>
            </a:r>
            <a:endParaRPr lang="en-US" sz="1000" dirty="0"/>
          </a:p>
        </p:txBody>
      </p:sp>
      <p:sp>
        <p:nvSpPr>
          <p:cNvPr id="34" name="Shape 27"/>
          <p:cNvSpPr/>
          <p:nvPr/>
        </p:nvSpPr>
        <p:spPr>
          <a:xfrm>
            <a:off x="2487168" y="3364992"/>
            <a:ext cx="274320" cy="274320"/>
          </a:xfrm>
          <a:prstGeom prst="ellipse">
            <a:avLst/>
          </a:prstGeom>
          <a:solidFill>
            <a:srgbClr val="E8ECF2"/>
          </a:solidFill>
          <a:ln/>
        </p:spPr>
      </p:sp>
      <p:pic>
        <p:nvPicPr>
          <p:cNvPr id="35" name="Image 4" descr="preencoded.png"/>
          <p:cNvPicPr>
            <a:picLocks noChangeAspect="1"/>
          </p:cNvPicPr>
          <p:nvPr/>
        </p:nvPicPr>
        <p:blipFill>
          <a:blip r:embed="rId5"/>
          <a:stretch>
            <a:fillRect/>
          </a:stretch>
        </p:blipFill>
        <p:spPr>
          <a:xfrm>
            <a:off x="2561234" y="3439058"/>
            <a:ext cx="126187" cy="126187"/>
          </a:xfrm>
          <a:prstGeom prst="rect">
            <a:avLst/>
          </a:prstGeom>
        </p:spPr>
      </p:pic>
      <p:sp>
        <p:nvSpPr>
          <p:cNvPr id="36" name="Text 28"/>
          <p:cNvSpPr/>
          <p:nvPr/>
        </p:nvSpPr>
        <p:spPr>
          <a:xfrm>
            <a:off x="2907792" y="3310128"/>
            <a:ext cx="5669280" cy="384048"/>
          </a:xfrm>
          <a:prstGeom prst="rect">
            <a:avLst/>
          </a:prstGeom>
          <a:noFill/>
          <a:ln/>
        </p:spPr>
        <p:txBody>
          <a:bodyPr wrap="square" lIns="0" tIns="0" rIns="0" bIns="0" rtlCol="0" anchor="ctr"/>
          <a:lstStyle/>
          <a:p>
            <a:pPr indent="0" marL="0">
              <a:buNone/>
            </a:pPr>
            <a:r>
              <a:rPr lang="en-US" sz="1100" dirty="0">
                <a:solidFill>
                  <a:srgbClr val="0B1A2E"/>
                </a:solidFill>
                <a:latin typeface="Calibri" pitchFamily="34" charset="0"/>
                <a:ea typeface="Calibri" pitchFamily="34" charset="-122"/>
                <a:cs typeface="Calibri" pitchFamily="34" charset="-120"/>
              </a:rPr>
              <a:t>PingOne Authorize: permit, deny or ask; fails closed; A2A needs a verified chain</a:t>
            </a:r>
            <a:endParaRPr lang="en-US" sz="1100" dirty="0"/>
          </a:p>
        </p:txBody>
      </p:sp>
      <p:sp>
        <p:nvSpPr>
          <p:cNvPr id="37" name="Shape 29"/>
          <p:cNvSpPr/>
          <p:nvPr/>
        </p:nvSpPr>
        <p:spPr>
          <a:xfrm>
            <a:off x="457200" y="3767328"/>
            <a:ext cx="8229600" cy="384048"/>
          </a:xfrm>
          <a:prstGeom prst="rect">
            <a:avLst/>
          </a:prstGeom>
          <a:solidFill>
            <a:srgbClr val="FFFFFF"/>
          </a:solidFill>
          <a:ln w="9525">
            <a:solidFill>
              <a:srgbClr val="D5DBE3"/>
            </a:solidFill>
            <a:prstDash val="solid"/>
          </a:ln>
        </p:spPr>
      </p:sp>
      <p:sp>
        <p:nvSpPr>
          <p:cNvPr id="38" name="Shape 30"/>
          <p:cNvSpPr/>
          <p:nvPr/>
        </p:nvSpPr>
        <p:spPr>
          <a:xfrm>
            <a:off x="457200" y="3767328"/>
            <a:ext cx="1874520" cy="384048"/>
          </a:xfrm>
          <a:prstGeom prst="homePlate">
            <a:avLst/>
          </a:prstGeom>
          <a:solidFill>
            <a:srgbClr val="15294A"/>
          </a:solidFill>
          <a:ln/>
        </p:spPr>
      </p:sp>
      <p:sp>
        <p:nvSpPr>
          <p:cNvPr id="39" name="Text 31"/>
          <p:cNvSpPr/>
          <p:nvPr/>
        </p:nvSpPr>
        <p:spPr>
          <a:xfrm>
            <a:off x="603504" y="3767328"/>
            <a:ext cx="1508760" cy="384048"/>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Human and audit</a:t>
            </a:r>
            <a:endParaRPr lang="en-US" sz="1000" dirty="0"/>
          </a:p>
        </p:txBody>
      </p:sp>
      <p:sp>
        <p:nvSpPr>
          <p:cNvPr id="40" name="Shape 32"/>
          <p:cNvSpPr/>
          <p:nvPr/>
        </p:nvSpPr>
        <p:spPr>
          <a:xfrm>
            <a:off x="2487168" y="3822192"/>
            <a:ext cx="274320" cy="274320"/>
          </a:xfrm>
          <a:prstGeom prst="ellipse">
            <a:avLst/>
          </a:prstGeom>
          <a:solidFill>
            <a:srgbClr val="E8ECF2"/>
          </a:solidFill>
          <a:ln/>
        </p:spPr>
      </p:sp>
      <p:pic>
        <p:nvPicPr>
          <p:cNvPr id="41" name="Image 5" descr="preencoded.png"/>
          <p:cNvPicPr>
            <a:picLocks noChangeAspect="1"/>
          </p:cNvPicPr>
          <p:nvPr/>
        </p:nvPicPr>
        <p:blipFill>
          <a:blip r:embed="rId6"/>
          <a:stretch>
            <a:fillRect/>
          </a:stretch>
        </p:blipFill>
        <p:spPr>
          <a:xfrm>
            <a:off x="2561234" y="3896258"/>
            <a:ext cx="126187" cy="126187"/>
          </a:xfrm>
          <a:prstGeom prst="rect">
            <a:avLst/>
          </a:prstGeom>
        </p:spPr>
      </p:pic>
      <p:sp>
        <p:nvSpPr>
          <p:cNvPr id="42" name="Text 33"/>
          <p:cNvSpPr/>
          <p:nvPr/>
        </p:nvSpPr>
        <p:spPr>
          <a:xfrm>
            <a:off x="2907792" y="3767328"/>
            <a:ext cx="5669280" cy="384048"/>
          </a:xfrm>
          <a:prstGeom prst="rect">
            <a:avLst/>
          </a:prstGeom>
          <a:noFill/>
          <a:ln/>
        </p:spPr>
        <p:txBody>
          <a:bodyPr wrap="square" lIns="0" tIns="0" rIns="0" bIns="0" rtlCol="0" anchor="ctr"/>
          <a:lstStyle/>
          <a:p>
            <a:pPr indent="0" marL="0">
              <a:buNone/>
            </a:pPr>
            <a:r>
              <a:rPr lang="en-US" sz="1100" dirty="0">
                <a:solidFill>
                  <a:srgbClr val="0B1A2E"/>
                </a:solidFill>
                <a:latin typeface="Calibri" pitchFamily="34" charset="0"/>
                <a:ea typeface="Calibri" pitchFamily="34" charset="-122"/>
                <a:cs typeface="Calibri" pitchFamily="34" charset="-120"/>
              </a:rPr>
              <a:t>Single-use approval receipts, CIBA and step-up MFA; audit ledger and revocation</a:t>
            </a:r>
            <a:endParaRPr lang="en-US" sz="1100" dirty="0"/>
          </a:p>
        </p:txBody>
      </p:sp>
      <p:sp>
        <p:nvSpPr>
          <p:cNvPr id="43" name="Shape 34"/>
          <p:cNvSpPr/>
          <p:nvPr/>
        </p:nvSpPr>
        <p:spPr>
          <a:xfrm>
            <a:off x="457200" y="4315968"/>
            <a:ext cx="8229600" cy="347472"/>
          </a:xfrm>
          <a:prstGeom prst="rect">
            <a:avLst/>
          </a:prstGeom>
          <a:solidFill>
            <a:srgbClr val="E8ECF2"/>
          </a:solidFill>
          <a:ln w="9525">
            <a:solidFill>
              <a:srgbClr val="D5DBE3"/>
            </a:solidFill>
            <a:prstDash val="solid"/>
          </a:ln>
        </p:spPr>
      </p:sp>
      <p:sp>
        <p:nvSpPr>
          <p:cNvPr id="44" name="Text 35"/>
          <p:cNvSpPr/>
          <p:nvPr/>
        </p:nvSpPr>
        <p:spPr>
          <a:xfrm>
            <a:off x="594360" y="4315968"/>
            <a:ext cx="7955280" cy="347472"/>
          </a:xfrm>
          <a:prstGeom prst="rect">
            <a:avLst/>
          </a:prstGeom>
          <a:noFill/>
          <a:ln/>
        </p:spPr>
        <p:txBody>
          <a:bodyPr wrap="square" lIns="0" tIns="0" rIns="0" bIns="0" rtlCol="0" anchor="ctr"/>
          <a:lstStyle/>
          <a:p>
            <a:pPr indent="0" marL="0">
              <a:buNone/>
            </a:pPr>
            <a:r>
              <a:rPr lang="en-US" sz="1050" b="1" dirty="0">
                <a:solidFill>
                  <a:srgbClr val="0B1A2E"/>
                </a:solidFill>
                <a:latin typeface="Calibri" pitchFamily="34" charset="0"/>
                <a:ea typeface="Calibri" pitchFamily="34" charset="-122"/>
                <a:cs typeface="Calibri" pitchFamily="34" charset="-120"/>
              </a:rPr>
              <a:t xml:space="preserve">Optional outer ring:  </a:t>
            </a:r>
            <a:pPr indent="0" marL="0">
              <a:buNone/>
            </a:pPr>
            <a:r>
              <a:rPr lang="en-US" sz="1050" dirty="0">
                <a:solidFill>
                  <a:srgbClr val="0B1A2E"/>
                </a:solidFill>
                <a:latin typeface="Calibri" pitchFamily="34" charset="0"/>
                <a:ea typeface="Calibri" pitchFamily="34" charset="-122"/>
                <a:cs typeface="Calibri" pitchFamily="34" charset="-120"/>
              </a:rPr>
              <a:t>the PingOne Agent Privilege scans prompts for injection and jailbreaks before they reach the model or tools.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6  ·  ARCHITECTURE</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One path for every request, with PingOne minting tokens and PingOne Authorize making the call</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1645920" y="1664208"/>
            <a:ext cx="2651760" cy="566928"/>
          </a:xfrm>
          <a:prstGeom prst="rect">
            <a:avLst/>
          </a:prstGeom>
          <a:solidFill>
            <a:srgbClr val="E8ECF2"/>
          </a:solidFill>
          <a:ln w="15875">
            <a:solidFill>
              <a:srgbClr val="0B1A2E"/>
            </a:solidFill>
            <a:prstDash val="solid"/>
          </a:ln>
        </p:spPr>
      </p:sp>
      <p:sp>
        <p:nvSpPr>
          <p:cNvPr id="8" name="Text 5"/>
          <p:cNvSpPr/>
          <p:nvPr/>
        </p:nvSpPr>
        <p:spPr>
          <a:xfrm>
            <a:off x="1700784" y="1664208"/>
            <a:ext cx="2542032" cy="566928"/>
          </a:xfrm>
          <a:prstGeom prst="rect">
            <a:avLst/>
          </a:prstGeom>
          <a:noFill/>
          <a:ln/>
        </p:spPr>
        <p:txBody>
          <a:bodyPr wrap="square" lIns="0" tIns="0" rIns="0" bIns="0" rtlCol="0" anchor="ctr"/>
          <a:lstStyle/>
          <a:p>
            <a:pPr algn="ctr" indent="0" marL="0">
              <a:buNone/>
            </a:pPr>
            <a:r>
              <a:rPr lang="en-US" sz="1050" b="1" dirty="0">
                <a:solidFill>
                  <a:srgbClr val="0B1A2E"/>
                </a:solidFill>
                <a:latin typeface="Montserrat" pitchFamily="34" charset="0"/>
                <a:ea typeface="Montserrat" pitchFamily="34" charset="-122"/>
                <a:cs typeface="Montserrat" pitchFamily="34" charset="-120"/>
              </a:rPr>
              <a:t>Agent runtime</a:t>
            </a:r>
            <a:endParaRPr lang="en-US" sz="1050" dirty="0"/>
          </a:p>
          <a:p>
            <a:pPr algn="ctr" indent="0" marL="0">
              <a:buNone/>
            </a:pPr>
            <a:r>
              <a:rPr lang="en-US" sz="950" dirty="0">
                <a:solidFill>
                  <a:srgbClr val="4F5E71"/>
                </a:solidFill>
                <a:latin typeface="Calibri" pitchFamily="34" charset="0"/>
                <a:ea typeface="Calibri" pitchFamily="34" charset="-122"/>
                <a:cs typeface="Calibri" pitchFamily="34" charset="-120"/>
              </a:rPr>
              <a:t>LangChain · OpenAI · Mastra · Pydantic AI</a:t>
            </a:r>
            <a:endParaRPr lang="en-US" sz="1050" dirty="0"/>
          </a:p>
        </p:txBody>
      </p:sp>
      <p:sp>
        <p:nvSpPr>
          <p:cNvPr id="9" name="Shape 6"/>
          <p:cNvSpPr/>
          <p:nvPr/>
        </p:nvSpPr>
        <p:spPr>
          <a:xfrm>
            <a:off x="4572000" y="1664208"/>
            <a:ext cx="1645920" cy="566928"/>
          </a:xfrm>
          <a:prstGeom prst="rect">
            <a:avLst/>
          </a:prstGeom>
          <a:solidFill>
            <a:srgbClr val="0B1A2E"/>
          </a:solidFill>
          <a:ln/>
        </p:spPr>
      </p:sp>
      <p:sp>
        <p:nvSpPr>
          <p:cNvPr id="10" name="Text 7"/>
          <p:cNvSpPr/>
          <p:nvPr/>
        </p:nvSpPr>
        <p:spPr>
          <a:xfrm>
            <a:off x="4626864" y="1664208"/>
            <a:ext cx="1536192"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PingOne Authorize</a:t>
            </a:r>
            <a:endParaRPr lang="en-US" sz="1050" dirty="0"/>
          </a:p>
          <a:p>
            <a:pPr algn="ctr" indent="0" marL="0">
              <a:buNone/>
            </a:pPr>
            <a:r>
              <a:rPr lang="en-US" sz="950" dirty="0">
                <a:solidFill>
                  <a:srgbClr val="B9C6D6"/>
                </a:solidFill>
                <a:latin typeface="Calibri" pitchFamily="34" charset="0"/>
                <a:ea typeface="Calibri" pitchFamily="34" charset="-122"/>
                <a:cs typeface="Calibri" pitchFamily="34" charset="-120"/>
              </a:rPr>
              <a:t>permit · deny · ask</a:t>
            </a:r>
            <a:endParaRPr lang="en-US" sz="1050" dirty="0"/>
          </a:p>
        </p:txBody>
      </p:sp>
      <p:sp>
        <p:nvSpPr>
          <p:cNvPr id="11" name="Shape 8"/>
          <p:cNvSpPr/>
          <p:nvPr/>
        </p:nvSpPr>
        <p:spPr>
          <a:xfrm>
            <a:off x="6492240" y="1664208"/>
            <a:ext cx="2194560" cy="566928"/>
          </a:xfrm>
          <a:prstGeom prst="rect">
            <a:avLst/>
          </a:prstGeom>
          <a:solidFill>
            <a:srgbClr val="E8ECF2"/>
          </a:solidFill>
          <a:ln w="15875">
            <a:solidFill>
              <a:srgbClr val="0B1A2E"/>
            </a:solidFill>
            <a:prstDash val="solid"/>
          </a:ln>
        </p:spPr>
      </p:sp>
      <p:sp>
        <p:nvSpPr>
          <p:cNvPr id="12" name="Text 9"/>
          <p:cNvSpPr/>
          <p:nvPr/>
        </p:nvSpPr>
        <p:spPr>
          <a:xfrm>
            <a:off x="6547104" y="1664208"/>
            <a:ext cx="2084832" cy="566928"/>
          </a:xfrm>
          <a:prstGeom prst="rect">
            <a:avLst/>
          </a:prstGeom>
          <a:noFill/>
          <a:ln/>
        </p:spPr>
        <p:txBody>
          <a:bodyPr wrap="square" lIns="0" tIns="0" rIns="0" bIns="0" rtlCol="0" anchor="ctr"/>
          <a:lstStyle/>
          <a:p>
            <a:pPr algn="ctr" indent="0" marL="0">
              <a:buNone/>
            </a:pPr>
            <a:r>
              <a:rPr lang="en-US" sz="1050" b="1" dirty="0">
                <a:solidFill>
                  <a:srgbClr val="0B1A2E"/>
                </a:solidFill>
                <a:latin typeface="Montserrat" pitchFamily="34" charset="0"/>
                <a:ea typeface="Montserrat" pitchFamily="34" charset="-122"/>
                <a:cs typeface="Montserrat" pitchFamily="34" charset="-120"/>
              </a:rPr>
              <a:t>Human approval</a:t>
            </a:r>
            <a:endParaRPr lang="en-US" sz="1050" dirty="0"/>
          </a:p>
          <a:p>
            <a:pPr algn="ctr" indent="0" marL="0">
              <a:buNone/>
            </a:pPr>
            <a:r>
              <a:rPr lang="en-US" sz="950" dirty="0">
                <a:solidFill>
                  <a:srgbClr val="4F5E71"/>
                </a:solidFill>
                <a:latin typeface="Calibri" pitchFamily="34" charset="0"/>
                <a:ea typeface="Calibri" pitchFamily="34" charset="-122"/>
                <a:cs typeface="Calibri" pitchFamily="34" charset="-120"/>
              </a:rPr>
              <a:t>when Authorize says ask</a:t>
            </a:r>
            <a:endParaRPr lang="en-US" sz="1050" dirty="0"/>
          </a:p>
        </p:txBody>
      </p:sp>
      <p:sp>
        <p:nvSpPr>
          <p:cNvPr id="13" name="Shape 10"/>
          <p:cNvSpPr/>
          <p:nvPr/>
        </p:nvSpPr>
        <p:spPr>
          <a:xfrm>
            <a:off x="6217920" y="1947672"/>
            <a:ext cx="274320" cy="0"/>
          </a:xfrm>
          <a:prstGeom prst="line">
            <a:avLst/>
          </a:prstGeom>
          <a:noFill/>
          <a:ln w="15875">
            <a:solidFill>
              <a:srgbClr val="0B1A2E"/>
            </a:solidFill>
            <a:prstDash val="solid"/>
            <a:tailEnd type="triangle"/>
          </a:ln>
        </p:spPr>
      </p:sp>
      <p:sp>
        <p:nvSpPr>
          <p:cNvPr id="14" name="Shape 11"/>
          <p:cNvSpPr/>
          <p:nvPr/>
        </p:nvSpPr>
        <p:spPr>
          <a:xfrm>
            <a:off x="457200" y="2670048"/>
            <a:ext cx="914400" cy="713232"/>
          </a:xfrm>
          <a:prstGeom prst="rect">
            <a:avLst/>
          </a:prstGeom>
          <a:solidFill>
            <a:srgbClr val="FFFFFF"/>
          </a:solidFill>
          <a:ln w="15875">
            <a:solidFill>
              <a:srgbClr val="0B1A2E"/>
            </a:solidFill>
            <a:prstDash val="solid"/>
          </a:ln>
        </p:spPr>
      </p:sp>
      <p:sp>
        <p:nvSpPr>
          <p:cNvPr id="15" name="Text 12"/>
          <p:cNvSpPr/>
          <p:nvPr/>
        </p:nvSpPr>
        <p:spPr>
          <a:xfrm>
            <a:off x="512064" y="2670048"/>
            <a:ext cx="804672" cy="713232"/>
          </a:xfrm>
          <a:prstGeom prst="rect">
            <a:avLst/>
          </a:prstGeom>
          <a:noFill/>
          <a:ln/>
        </p:spPr>
        <p:txBody>
          <a:bodyPr wrap="square" lIns="0" tIns="0" rIns="0" bIns="0" rtlCol="0" anchor="ctr"/>
          <a:lstStyle/>
          <a:p>
            <a:pPr algn="ctr" indent="0" marL="0">
              <a:buNone/>
            </a:pPr>
            <a:r>
              <a:rPr lang="en-US" sz="1050" b="1" dirty="0">
                <a:solidFill>
                  <a:srgbClr val="0B1A2E"/>
                </a:solidFill>
                <a:latin typeface="Montserrat" pitchFamily="34" charset="0"/>
                <a:ea typeface="Montserrat" pitchFamily="34" charset="-122"/>
                <a:cs typeface="Montserrat" pitchFamily="34" charset="-120"/>
              </a:rPr>
              <a:t>Customer</a:t>
            </a:r>
            <a:endParaRPr lang="en-US" sz="1050" dirty="0"/>
          </a:p>
          <a:p>
            <a:pPr algn="ctr" indent="0" marL="0">
              <a:buNone/>
            </a:pPr>
            <a:r>
              <a:rPr lang="en-US" sz="950" dirty="0">
                <a:solidFill>
                  <a:srgbClr val="4F5E71"/>
                </a:solidFill>
                <a:latin typeface="Calibri" pitchFamily="34" charset="0"/>
                <a:ea typeface="Calibri" pitchFamily="34" charset="-122"/>
                <a:cs typeface="Calibri" pitchFamily="34" charset="-120"/>
              </a:rPr>
              <a:t>browser</a:t>
            </a:r>
            <a:endParaRPr lang="en-US" sz="1050" dirty="0"/>
          </a:p>
        </p:txBody>
      </p:sp>
      <p:sp>
        <p:nvSpPr>
          <p:cNvPr id="16" name="Shape 13"/>
          <p:cNvSpPr/>
          <p:nvPr/>
        </p:nvSpPr>
        <p:spPr>
          <a:xfrm>
            <a:off x="1645920" y="2670048"/>
            <a:ext cx="1051560" cy="713232"/>
          </a:xfrm>
          <a:prstGeom prst="rect">
            <a:avLst/>
          </a:prstGeom>
          <a:solidFill>
            <a:srgbClr val="FFFFFF"/>
          </a:solidFill>
          <a:ln w="15875">
            <a:solidFill>
              <a:srgbClr val="0B1A2E"/>
            </a:solidFill>
            <a:prstDash val="solid"/>
          </a:ln>
        </p:spPr>
      </p:sp>
      <p:sp>
        <p:nvSpPr>
          <p:cNvPr id="17" name="Text 14"/>
          <p:cNvSpPr/>
          <p:nvPr/>
        </p:nvSpPr>
        <p:spPr>
          <a:xfrm>
            <a:off x="1700784" y="2670048"/>
            <a:ext cx="941832" cy="713232"/>
          </a:xfrm>
          <a:prstGeom prst="rect">
            <a:avLst/>
          </a:prstGeom>
          <a:noFill/>
          <a:ln/>
        </p:spPr>
        <p:txBody>
          <a:bodyPr wrap="square" lIns="0" tIns="0" rIns="0" bIns="0" rtlCol="0" anchor="ctr"/>
          <a:lstStyle/>
          <a:p>
            <a:pPr algn="ctr" indent="0" marL="0">
              <a:buNone/>
            </a:pPr>
            <a:r>
              <a:rPr lang="en-US" sz="1050" b="1" dirty="0">
                <a:solidFill>
                  <a:srgbClr val="0B1A2E"/>
                </a:solidFill>
                <a:latin typeface="Montserrat" pitchFamily="34" charset="0"/>
                <a:ea typeface="Montserrat" pitchFamily="34" charset="-122"/>
                <a:cs typeface="Montserrat" pitchFamily="34" charset="-120"/>
              </a:rPr>
              <a:t>Web app</a:t>
            </a:r>
            <a:endParaRPr lang="en-US" sz="1050" dirty="0"/>
          </a:p>
          <a:p>
            <a:pPr algn="ctr" indent="0" marL="0">
              <a:buNone/>
            </a:pPr>
            <a:r>
              <a:rPr lang="en-US" sz="950" dirty="0">
                <a:solidFill>
                  <a:srgbClr val="4F5E71"/>
                </a:solidFill>
                <a:latin typeface="Calibri" pitchFamily="34" charset="0"/>
                <a:ea typeface="Calibri" pitchFamily="34" charset="-122"/>
                <a:cs typeface="Calibri" pitchFamily="34" charset="-120"/>
              </a:rPr>
              <a:t>:4000</a:t>
            </a:r>
            <a:endParaRPr lang="en-US" sz="1050" dirty="0"/>
          </a:p>
        </p:txBody>
      </p:sp>
      <p:sp>
        <p:nvSpPr>
          <p:cNvPr id="18" name="Shape 15"/>
          <p:cNvSpPr/>
          <p:nvPr/>
        </p:nvSpPr>
        <p:spPr>
          <a:xfrm>
            <a:off x="2971800" y="2670048"/>
            <a:ext cx="1325880" cy="713232"/>
          </a:xfrm>
          <a:prstGeom prst="rect">
            <a:avLst/>
          </a:prstGeom>
          <a:solidFill>
            <a:srgbClr val="FFFFFF"/>
          </a:solidFill>
          <a:ln w="15875">
            <a:solidFill>
              <a:srgbClr val="0B1A2E"/>
            </a:solidFill>
            <a:prstDash val="solid"/>
          </a:ln>
        </p:spPr>
      </p:sp>
      <p:sp>
        <p:nvSpPr>
          <p:cNvPr id="19" name="Text 16"/>
          <p:cNvSpPr/>
          <p:nvPr/>
        </p:nvSpPr>
        <p:spPr>
          <a:xfrm>
            <a:off x="3026664" y="2670048"/>
            <a:ext cx="1216152" cy="713232"/>
          </a:xfrm>
          <a:prstGeom prst="rect">
            <a:avLst/>
          </a:prstGeom>
          <a:noFill/>
          <a:ln/>
        </p:spPr>
        <p:txBody>
          <a:bodyPr wrap="square" lIns="0" tIns="0" rIns="0" bIns="0" rtlCol="0" anchor="ctr"/>
          <a:lstStyle/>
          <a:p>
            <a:pPr algn="ctr" indent="0" marL="0">
              <a:buNone/>
            </a:pPr>
            <a:r>
              <a:rPr lang="en-US" sz="1050" b="1" dirty="0">
                <a:solidFill>
                  <a:srgbClr val="0B1A2E"/>
                </a:solidFill>
                <a:latin typeface="Montserrat" pitchFamily="34" charset="0"/>
                <a:ea typeface="Montserrat" pitchFamily="34" charset="-122"/>
                <a:cs typeface="Montserrat" pitchFamily="34" charset="-120"/>
              </a:rPr>
              <a:t>BFF</a:t>
            </a:r>
            <a:endParaRPr lang="en-US" sz="1050" dirty="0"/>
          </a:p>
          <a:p>
            <a:pPr algn="ctr" indent="0" marL="0">
              <a:buNone/>
            </a:pPr>
            <a:r>
              <a:rPr lang="en-US" sz="950" dirty="0">
                <a:solidFill>
                  <a:srgbClr val="4F5E71"/>
                </a:solidFill>
                <a:latin typeface="Calibri" pitchFamily="34" charset="0"/>
                <a:ea typeface="Calibri" pitchFamily="34" charset="-122"/>
                <a:cs typeface="Calibri" pitchFamily="34" charset="-120"/>
              </a:rPr>
              <a:t>:3001 · holds tokens</a:t>
            </a:r>
            <a:endParaRPr lang="en-US" sz="1050" dirty="0"/>
          </a:p>
        </p:txBody>
      </p:sp>
      <p:sp>
        <p:nvSpPr>
          <p:cNvPr id="20" name="Shape 17"/>
          <p:cNvSpPr/>
          <p:nvPr/>
        </p:nvSpPr>
        <p:spPr>
          <a:xfrm>
            <a:off x="4572000" y="2670048"/>
            <a:ext cx="1645920" cy="713232"/>
          </a:xfrm>
          <a:prstGeom prst="rect">
            <a:avLst/>
          </a:prstGeom>
          <a:solidFill>
            <a:srgbClr val="FFFFFF"/>
          </a:solidFill>
          <a:ln w="15875">
            <a:solidFill>
              <a:srgbClr val="0B1A2E"/>
            </a:solidFill>
            <a:prstDash val="solid"/>
          </a:ln>
        </p:spPr>
      </p:sp>
      <p:sp>
        <p:nvSpPr>
          <p:cNvPr id="21" name="Text 18"/>
          <p:cNvSpPr/>
          <p:nvPr/>
        </p:nvSpPr>
        <p:spPr>
          <a:xfrm>
            <a:off x="4626864" y="2670048"/>
            <a:ext cx="1536192" cy="713232"/>
          </a:xfrm>
          <a:prstGeom prst="rect">
            <a:avLst/>
          </a:prstGeom>
          <a:noFill/>
          <a:ln/>
        </p:spPr>
        <p:txBody>
          <a:bodyPr wrap="square" lIns="0" tIns="0" rIns="0" bIns="0" rtlCol="0" anchor="ctr"/>
          <a:lstStyle/>
          <a:p>
            <a:pPr algn="ctr" indent="0" marL="0">
              <a:buNone/>
            </a:pPr>
            <a:r>
              <a:rPr lang="en-US" sz="1050" b="1" dirty="0">
                <a:solidFill>
                  <a:srgbClr val="0B1A2E"/>
                </a:solidFill>
                <a:latin typeface="Montserrat" pitchFamily="34" charset="0"/>
                <a:ea typeface="Montserrat" pitchFamily="34" charset="-122"/>
                <a:cs typeface="Montserrat" pitchFamily="34" charset="-120"/>
              </a:rPr>
              <a:t>Agent gateway</a:t>
            </a:r>
            <a:endParaRPr lang="en-US" sz="1050" dirty="0"/>
          </a:p>
          <a:p>
            <a:pPr algn="ctr" indent="0" marL="0">
              <a:buNone/>
            </a:pPr>
            <a:r>
              <a:rPr lang="en-US" sz="950" dirty="0">
                <a:solidFill>
                  <a:srgbClr val="4F5E71"/>
                </a:solidFill>
                <a:latin typeface="Calibri" pitchFamily="34" charset="0"/>
                <a:ea typeface="Calibri" pitchFamily="34" charset="-122"/>
                <a:cs typeface="Calibri" pitchFamily="34" charset="-120"/>
              </a:rPr>
              <a:t>PingGateway</a:t>
            </a:r>
            <a:endParaRPr lang="en-US" sz="1050" dirty="0"/>
          </a:p>
        </p:txBody>
      </p:sp>
      <p:sp>
        <p:nvSpPr>
          <p:cNvPr id="22" name="Shape 19"/>
          <p:cNvSpPr/>
          <p:nvPr/>
        </p:nvSpPr>
        <p:spPr>
          <a:xfrm>
            <a:off x="6492240" y="2670048"/>
            <a:ext cx="2194560" cy="713232"/>
          </a:xfrm>
          <a:prstGeom prst="rect">
            <a:avLst/>
          </a:prstGeom>
          <a:solidFill>
            <a:srgbClr val="FFFFFF"/>
          </a:solidFill>
          <a:ln w="15875">
            <a:solidFill>
              <a:srgbClr val="0B1A2E"/>
            </a:solidFill>
            <a:prstDash val="solid"/>
          </a:ln>
        </p:spPr>
      </p:sp>
      <p:sp>
        <p:nvSpPr>
          <p:cNvPr id="23" name="Text 20"/>
          <p:cNvSpPr/>
          <p:nvPr/>
        </p:nvSpPr>
        <p:spPr>
          <a:xfrm>
            <a:off x="6547104" y="2670048"/>
            <a:ext cx="2084832" cy="713232"/>
          </a:xfrm>
          <a:prstGeom prst="rect">
            <a:avLst/>
          </a:prstGeom>
          <a:noFill/>
          <a:ln/>
        </p:spPr>
        <p:txBody>
          <a:bodyPr wrap="square" lIns="0" tIns="0" rIns="0" bIns="0" rtlCol="0" anchor="ctr"/>
          <a:lstStyle/>
          <a:p>
            <a:pPr algn="ctr" indent="0" marL="0">
              <a:buNone/>
            </a:pPr>
            <a:r>
              <a:rPr lang="en-US" sz="1050" b="1" dirty="0">
                <a:solidFill>
                  <a:srgbClr val="0B1A2E"/>
                </a:solidFill>
                <a:latin typeface="Montserrat" pitchFamily="34" charset="0"/>
                <a:ea typeface="Montserrat" pitchFamily="34" charset="-122"/>
                <a:cs typeface="Montserrat" pitchFamily="34" charset="-120"/>
              </a:rPr>
              <a:t>MCP tool servers</a:t>
            </a:r>
            <a:endParaRPr lang="en-US" sz="1050" dirty="0"/>
          </a:p>
          <a:p>
            <a:pPr algn="ctr" indent="0" marL="0">
              <a:buNone/>
            </a:pPr>
            <a:r>
              <a:rPr lang="en-US" sz="950" dirty="0">
                <a:solidFill>
                  <a:srgbClr val="4F5E71"/>
                </a:solidFill>
                <a:latin typeface="Calibri" pitchFamily="34" charset="0"/>
                <a:ea typeface="Calibri" pitchFamily="34" charset="-122"/>
                <a:cs typeface="Calibri" pitchFamily="34" charset="-120"/>
              </a:rPr>
              <a:t>banking · invest · mortgage · more</a:t>
            </a:r>
            <a:endParaRPr lang="en-US" sz="1050" dirty="0"/>
          </a:p>
        </p:txBody>
      </p:sp>
      <p:sp>
        <p:nvSpPr>
          <p:cNvPr id="24" name="Shape 21"/>
          <p:cNvSpPr/>
          <p:nvPr/>
        </p:nvSpPr>
        <p:spPr>
          <a:xfrm>
            <a:off x="1371600" y="3026664"/>
            <a:ext cx="274320" cy="0"/>
          </a:xfrm>
          <a:prstGeom prst="line">
            <a:avLst/>
          </a:prstGeom>
          <a:noFill/>
          <a:ln w="15875">
            <a:solidFill>
              <a:srgbClr val="0B1A2E"/>
            </a:solidFill>
            <a:prstDash val="solid"/>
            <a:tailEnd type="triangle"/>
          </a:ln>
        </p:spPr>
      </p:sp>
      <p:sp>
        <p:nvSpPr>
          <p:cNvPr id="25" name="Shape 22"/>
          <p:cNvSpPr/>
          <p:nvPr/>
        </p:nvSpPr>
        <p:spPr>
          <a:xfrm>
            <a:off x="2697480" y="3026664"/>
            <a:ext cx="274320" cy="0"/>
          </a:xfrm>
          <a:prstGeom prst="line">
            <a:avLst/>
          </a:prstGeom>
          <a:noFill/>
          <a:ln w="15875">
            <a:solidFill>
              <a:srgbClr val="0B1A2E"/>
            </a:solidFill>
            <a:prstDash val="solid"/>
            <a:tailEnd type="triangle"/>
          </a:ln>
        </p:spPr>
      </p:sp>
      <p:sp>
        <p:nvSpPr>
          <p:cNvPr id="26" name="Shape 23"/>
          <p:cNvSpPr/>
          <p:nvPr/>
        </p:nvSpPr>
        <p:spPr>
          <a:xfrm>
            <a:off x="4297680" y="3026664"/>
            <a:ext cx="274320" cy="0"/>
          </a:xfrm>
          <a:prstGeom prst="line">
            <a:avLst/>
          </a:prstGeom>
          <a:noFill/>
          <a:ln w="15875">
            <a:solidFill>
              <a:srgbClr val="0B1A2E"/>
            </a:solidFill>
            <a:prstDash val="solid"/>
            <a:tailEnd type="triangle"/>
          </a:ln>
        </p:spPr>
      </p:sp>
      <p:sp>
        <p:nvSpPr>
          <p:cNvPr id="27" name="Shape 24"/>
          <p:cNvSpPr/>
          <p:nvPr/>
        </p:nvSpPr>
        <p:spPr>
          <a:xfrm>
            <a:off x="6217920" y="3026664"/>
            <a:ext cx="274320" cy="0"/>
          </a:xfrm>
          <a:prstGeom prst="line">
            <a:avLst/>
          </a:prstGeom>
          <a:noFill/>
          <a:ln w="15875">
            <a:solidFill>
              <a:srgbClr val="0B1A2E"/>
            </a:solidFill>
            <a:prstDash val="solid"/>
            <a:tailEnd type="triangle"/>
          </a:ln>
        </p:spPr>
      </p:sp>
      <p:sp>
        <p:nvSpPr>
          <p:cNvPr id="28" name="Shape 25"/>
          <p:cNvSpPr/>
          <p:nvPr/>
        </p:nvSpPr>
        <p:spPr>
          <a:xfrm>
            <a:off x="3634740" y="2231136"/>
            <a:ext cx="0" cy="438912"/>
          </a:xfrm>
          <a:prstGeom prst="line">
            <a:avLst/>
          </a:prstGeom>
          <a:noFill/>
          <a:ln w="15875">
            <a:solidFill>
              <a:srgbClr val="0B1A2E"/>
            </a:solidFill>
            <a:prstDash val="solid"/>
            <a:headEnd type="triangle"/>
            <a:tailEnd type="triangle"/>
          </a:ln>
        </p:spPr>
      </p:sp>
      <p:sp>
        <p:nvSpPr>
          <p:cNvPr id="29" name="Text 26"/>
          <p:cNvSpPr/>
          <p:nvPr/>
        </p:nvSpPr>
        <p:spPr>
          <a:xfrm>
            <a:off x="3707892" y="2359152"/>
            <a:ext cx="914400" cy="182880"/>
          </a:xfrm>
          <a:prstGeom prst="rect">
            <a:avLst/>
          </a:prstGeom>
          <a:noFill/>
          <a:ln/>
        </p:spPr>
        <p:txBody>
          <a:bodyPr wrap="square" lIns="0" tIns="0" rIns="0" bIns="0" rtlCol="0" anchor="ctr"/>
          <a:lstStyle/>
          <a:p>
            <a:pPr indent="0" marL="0">
              <a:buNone/>
            </a:pPr>
            <a:r>
              <a:rPr lang="en-US" sz="900" i="1" dirty="0">
                <a:solidFill>
                  <a:srgbClr val="4F5E71"/>
                </a:solidFill>
                <a:latin typeface="Calibri" pitchFamily="34" charset="0"/>
                <a:ea typeface="Calibri" pitchFamily="34" charset="-122"/>
                <a:cs typeface="Calibri" pitchFamily="34" charset="-120"/>
              </a:rPr>
              <a:t>reasoning</a:t>
            </a:r>
            <a:endParaRPr lang="en-US" sz="900" dirty="0"/>
          </a:p>
        </p:txBody>
      </p:sp>
      <p:sp>
        <p:nvSpPr>
          <p:cNvPr id="30" name="Shape 27"/>
          <p:cNvSpPr/>
          <p:nvPr/>
        </p:nvSpPr>
        <p:spPr>
          <a:xfrm>
            <a:off x="5394960" y="2231136"/>
            <a:ext cx="0" cy="438912"/>
          </a:xfrm>
          <a:prstGeom prst="line">
            <a:avLst/>
          </a:prstGeom>
          <a:noFill/>
          <a:ln w="15875">
            <a:solidFill>
              <a:srgbClr val="0B1A2E"/>
            </a:solidFill>
            <a:prstDash val="solid"/>
            <a:headEnd type="triangle"/>
            <a:tailEnd type="triangle"/>
          </a:ln>
        </p:spPr>
      </p:sp>
      <p:sp>
        <p:nvSpPr>
          <p:cNvPr id="31" name="Text 28"/>
          <p:cNvSpPr/>
          <p:nvPr/>
        </p:nvSpPr>
        <p:spPr>
          <a:xfrm>
            <a:off x="5468112" y="2359152"/>
            <a:ext cx="914400" cy="182880"/>
          </a:xfrm>
          <a:prstGeom prst="rect">
            <a:avLst/>
          </a:prstGeom>
          <a:noFill/>
          <a:ln/>
        </p:spPr>
        <p:txBody>
          <a:bodyPr wrap="square" lIns="0" tIns="0" rIns="0" bIns="0" rtlCol="0" anchor="ctr"/>
          <a:lstStyle/>
          <a:p>
            <a:pPr indent="0" marL="0">
              <a:buNone/>
            </a:pPr>
            <a:r>
              <a:rPr lang="en-US" sz="900" i="1" dirty="0">
                <a:solidFill>
                  <a:srgbClr val="4F5E71"/>
                </a:solidFill>
                <a:latin typeface="Calibri" pitchFamily="34" charset="0"/>
                <a:ea typeface="Calibri" pitchFamily="34" charset="-122"/>
                <a:cs typeface="Calibri" pitchFamily="34" charset="-120"/>
              </a:rPr>
              <a:t>decision</a:t>
            </a:r>
            <a:endParaRPr lang="en-US" sz="900" dirty="0"/>
          </a:p>
        </p:txBody>
      </p:sp>
      <p:sp>
        <p:nvSpPr>
          <p:cNvPr id="32" name="Shape 29"/>
          <p:cNvSpPr/>
          <p:nvPr/>
        </p:nvSpPr>
        <p:spPr>
          <a:xfrm>
            <a:off x="1645920" y="3822192"/>
            <a:ext cx="4572000" cy="585216"/>
          </a:xfrm>
          <a:prstGeom prst="rect">
            <a:avLst/>
          </a:prstGeom>
          <a:solidFill>
            <a:srgbClr val="0B1A2E"/>
          </a:solidFill>
          <a:ln/>
        </p:spPr>
      </p:sp>
      <p:sp>
        <p:nvSpPr>
          <p:cNvPr id="33" name="Text 30"/>
          <p:cNvSpPr/>
          <p:nvPr/>
        </p:nvSpPr>
        <p:spPr>
          <a:xfrm>
            <a:off x="1700784" y="3822192"/>
            <a:ext cx="4462272" cy="585216"/>
          </a:xfrm>
          <a:prstGeom prst="rect">
            <a:avLst/>
          </a:prstGeom>
          <a:noFill/>
          <a:ln/>
        </p:spPr>
        <p:txBody>
          <a:bodyPr wrap="square" lIns="0" tIns="0" rIns="0" bIns="0" rtlCol="0" anchor="ct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PingOne</a:t>
            </a:r>
            <a:endParaRPr lang="en-US" sz="1050" dirty="0"/>
          </a:p>
          <a:p>
            <a:pPr algn="ctr" indent="0" marL="0">
              <a:buNone/>
            </a:pPr>
            <a:r>
              <a:rPr lang="en-US" sz="950" dirty="0">
                <a:solidFill>
                  <a:srgbClr val="B9C6D6"/>
                </a:solidFill>
                <a:latin typeface="Calibri" pitchFamily="34" charset="0"/>
                <a:ea typeface="Calibri" pitchFamily="34" charset="-122"/>
                <a:cs typeface="Calibri" pitchFamily="34" charset="-120"/>
              </a:rPr>
              <a:t>sign-in · token exchange</a:t>
            </a:r>
            <a:endParaRPr lang="en-US" sz="1050" dirty="0"/>
          </a:p>
        </p:txBody>
      </p:sp>
      <p:sp>
        <p:nvSpPr>
          <p:cNvPr id="34" name="Shape 31"/>
          <p:cNvSpPr/>
          <p:nvPr/>
        </p:nvSpPr>
        <p:spPr>
          <a:xfrm>
            <a:off x="3634740" y="3383280"/>
            <a:ext cx="0" cy="438912"/>
          </a:xfrm>
          <a:prstGeom prst="line">
            <a:avLst/>
          </a:prstGeom>
          <a:noFill/>
          <a:ln w="15875">
            <a:solidFill>
              <a:srgbClr val="0B1A2E"/>
            </a:solidFill>
            <a:prstDash val="solid"/>
            <a:headEnd type="triangle"/>
            <a:tailEnd type="triangle"/>
          </a:ln>
        </p:spPr>
      </p:sp>
      <p:sp>
        <p:nvSpPr>
          <p:cNvPr id="35" name="Text 32"/>
          <p:cNvSpPr/>
          <p:nvPr/>
        </p:nvSpPr>
        <p:spPr>
          <a:xfrm>
            <a:off x="3707892" y="3511296"/>
            <a:ext cx="914400" cy="182880"/>
          </a:xfrm>
          <a:prstGeom prst="rect">
            <a:avLst/>
          </a:prstGeom>
          <a:noFill/>
          <a:ln/>
        </p:spPr>
        <p:txBody>
          <a:bodyPr wrap="square" lIns="0" tIns="0" rIns="0" bIns="0" rtlCol="0" anchor="ctr"/>
          <a:lstStyle/>
          <a:p>
            <a:pPr indent="0" marL="0">
              <a:buNone/>
            </a:pPr>
            <a:r>
              <a:rPr lang="en-US" sz="900" i="1" dirty="0">
                <a:solidFill>
                  <a:srgbClr val="4F5E71"/>
                </a:solidFill>
                <a:latin typeface="Calibri" pitchFamily="34" charset="0"/>
                <a:ea typeface="Calibri" pitchFamily="34" charset="-122"/>
                <a:cs typeface="Calibri" pitchFamily="34" charset="-120"/>
              </a:rPr>
              <a:t>exchange #1</a:t>
            </a:r>
            <a:endParaRPr lang="en-US" sz="900" dirty="0"/>
          </a:p>
        </p:txBody>
      </p:sp>
      <p:sp>
        <p:nvSpPr>
          <p:cNvPr id="36" name="Shape 33"/>
          <p:cNvSpPr/>
          <p:nvPr/>
        </p:nvSpPr>
        <p:spPr>
          <a:xfrm>
            <a:off x="5394960" y="3383280"/>
            <a:ext cx="0" cy="438912"/>
          </a:xfrm>
          <a:prstGeom prst="line">
            <a:avLst/>
          </a:prstGeom>
          <a:noFill/>
          <a:ln w="15875">
            <a:solidFill>
              <a:srgbClr val="0B1A2E"/>
            </a:solidFill>
            <a:prstDash val="solid"/>
            <a:headEnd type="triangle"/>
            <a:tailEnd type="triangle"/>
          </a:ln>
        </p:spPr>
      </p:sp>
      <p:sp>
        <p:nvSpPr>
          <p:cNvPr id="37" name="Text 34"/>
          <p:cNvSpPr/>
          <p:nvPr/>
        </p:nvSpPr>
        <p:spPr>
          <a:xfrm>
            <a:off x="5468112" y="3511296"/>
            <a:ext cx="914400" cy="182880"/>
          </a:xfrm>
          <a:prstGeom prst="rect">
            <a:avLst/>
          </a:prstGeom>
          <a:noFill/>
          <a:ln/>
        </p:spPr>
        <p:txBody>
          <a:bodyPr wrap="square" lIns="0" tIns="0" rIns="0" bIns="0" rtlCol="0" anchor="ctr"/>
          <a:lstStyle/>
          <a:p>
            <a:pPr indent="0" marL="0">
              <a:buNone/>
            </a:pPr>
            <a:r>
              <a:rPr lang="en-US" sz="900" i="1" dirty="0">
                <a:solidFill>
                  <a:srgbClr val="4F5E71"/>
                </a:solidFill>
                <a:latin typeface="Calibri" pitchFamily="34" charset="0"/>
                <a:ea typeface="Calibri" pitchFamily="34" charset="-122"/>
                <a:cs typeface="Calibri" pitchFamily="34" charset="-120"/>
              </a:rPr>
              <a:t>exchange #2</a:t>
            </a:r>
            <a:endParaRPr lang="en-US" sz="900" dirty="0"/>
          </a:p>
        </p:txBody>
      </p:sp>
      <p:sp>
        <p:nvSpPr>
          <p:cNvPr id="38" name="Text 35"/>
          <p:cNvSpPr/>
          <p:nvPr/>
        </p:nvSpPr>
        <p:spPr>
          <a:xfrm>
            <a:off x="6492240" y="3822192"/>
            <a:ext cx="2194560" cy="585216"/>
          </a:xfrm>
          <a:prstGeom prst="rect">
            <a:avLst/>
          </a:prstGeom>
          <a:noFill/>
          <a:ln/>
        </p:spPr>
        <p:txBody>
          <a:bodyPr wrap="square" lIns="0" tIns="0" rIns="0" bIns="0" rtlCol="0" anchor="ctr"/>
          <a:lstStyle/>
          <a:p>
            <a:pPr indent="0" marL="0">
              <a:buNone/>
            </a:pPr>
            <a:r>
              <a:rPr lang="en-US" sz="950" i="1" dirty="0">
                <a:solidFill>
                  <a:srgbClr val="4F5E71"/>
                </a:solidFill>
                <a:latin typeface="Calibri" pitchFamily="34" charset="0"/>
                <a:ea typeface="Calibri" pitchFamily="34" charset="-122"/>
                <a:cs typeface="Calibri" pitchFamily="34" charset="-120"/>
              </a:rPr>
              <a:t>Optional: PingOne Agent Privilege in front of the agent gateway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7  ·  PINGONE PRIVILEGE</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Privilege governs the AI traffic: policy on every tool call, guardrails on every model call</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457200" y="1481328"/>
            <a:ext cx="3977640" cy="2423160"/>
          </a:xfrm>
          <a:prstGeom prst="rect">
            <a:avLst/>
          </a:prstGeom>
          <a:solidFill>
            <a:srgbClr val="FFFFFF"/>
          </a:solidFill>
          <a:ln w="9525">
            <a:solidFill>
              <a:srgbClr val="D5DBE3"/>
            </a:solidFill>
            <a:prstDash val="solid"/>
          </a:ln>
        </p:spPr>
      </p:sp>
      <p:sp>
        <p:nvSpPr>
          <p:cNvPr id="8" name="Shape 5"/>
          <p:cNvSpPr/>
          <p:nvPr/>
        </p:nvSpPr>
        <p:spPr>
          <a:xfrm>
            <a:off x="640080" y="1645920"/>
            <a:ext cx="420624" cy="420624"/>
          </a:xfrm>
          <a:prstGeom prst="ellipse">
            <a:avLst/>
          </a:prstGeom>
          <a:solidFill>
            <a:srgbClr val="0B1A2E"/>
          </a:solidFill>
          <a:ln/>
        </p:spPr>
      </p:sp>
      <p:pic>
        <p:nvPicPr>
          <p:cNvPr id="9" name="Image 0" descr="preencoded.png"/>
          <p:cNvPicPr>
            <a:picLocks noChangeAspect="1"/>
          </p:cNvPicPr>
          <p:nvPr/>
        </p:nvPicPr>
        <p:blipFill>
          <a:blip r:embed="rId1"/>
          <a:stretch>
            <a:fillRect/>
          </a:stretch>
        </p:blipFill>
        <p:spPr>
          <a:xfrm>
            <a:off x="753648" y="1759488"/>
            <a:ext cx="193487" cy="193487"/>
          </a:xfrm>
          <a:prstGeom prst="rect">
            <a:avLst/>
          </a:prstGeom>
        </p:spPr>
      </p:pic>
      <p:sp>
        <p:nvSpPr>
          <p:cNvPr id="10" name="Text 6"/>
          <p:cNvSpPr/>
          <p:nvPr/>
        </p:nvSpPr>
        <p:spPr>
          <a:xfrm>
            <a:off x="1170432" y="1645920"/>
            <a:ext cx="3108960" cy="420624"/>
          </a:xfrm>
          <a:prstGeom prst="rect">
            <a:avLst/>
          </a:prstGeom>
          <a:noFill/>
          <a:ln/>
        </p:spPr>
        <p:txBody>
          <a:bodyPr wrap="square" lIns="0" tIns="0" rIns="0" bIns="0" rtlCol="0" anchor="ctr"/>
          <a:lstStyle/>
          <a:p>
            <a:pPr indent="0" marL="0">
              <a:buNone/>
            </a:pPr>
            <a:r>
              <a:rPr lang="en-US" sz="1300" b="1" dirty="0">
                <a:solidFill>
                  <a:srgbClr val="0B1A2E"/>
                </a:solidFill>
                <a:latin typeface="Montserrat" pitchFamily="34" charset="0"/>
                <a:ea typeface="Montserrat" pitchFamily="34" charset="-122"/>
                <a:cs typeface="Montserrat" pitchFamily="34" charset="-120"/>
              </a:rPr>
              <a:t>Agent Privilege for MCP tools</a:t>
            </a:r>
            <a:endParaRPr lang="en-US" sz="1300" dirty="0"/>
          </a:p>
        </p:txBody>
      </p:sp>
      <p:sp>
        <p:nvSpPr>
          <p:cNvPr id="11" name="Text 7"/>
          <p:cNvSpPr/>
          <p:nvPr/>
        </p:nvSpPr>
        <p:spPr>
          <a:xfrm>
            <a:off x="658368" y="2231136"/>
            <a:ext cx="3593592" cy="1371600"/>
          </a:xfrm>
          <a:prstGeom prst="rect">
            <a:avLst/>
          </a:prstGeom>
          <a:noFill/>
          <a:ln/>
        </p:spPr>
        <p:txBody>
          <a:bodyPr wrap="square" lIns="0" tIns="0" rIns="0" bIns="0" rtlCol="0" anchor="t"/>
          <a:lstStyle/>
          <a:p>
            <a:pPr marL="177800" indent="-177800">
              <a:spcAft>
                <a:spcPts val="800"/>
              </a:spcAft>
              <a:buSzPct val="100000"/>
              <a:buChar char="•"/>
            </a:pPr>
            <a:r>
              <a:rPr lang="en-US" sz="1100" dirty="0">
                <a:solidFill>
                  <a:srgbClr val="0B1A2E"/>
                </a:solidFill>
                <a:latin typeface="Calibri" pitchFamily="34" charset="0"/>
                <a:ea typeface="Calibri" pitchFamily="34" charset="-122"/>
                <a:cs typeface="Calibri" pitchFamily="34" charset="-120"/>
              </a:rPr>
              <a:t>Fronts OpenSearch, Brave, Grafana, PingOne admin</a:t>
            </a:r>
            <a:endParaRPr lang="en-US" sz="1100" dirty="0"/>
          </a:p>
          <a:p>
            <a:pPr marL="177800" indent="-177800">
              <a:spcAft>
                <a:spcPts val="800"/>
              </a:spcAft>
              <a:buSzPct val="100000"/>
              <a:buChar char="•"/>
            </a:pPr>
            <a:r>
              <a:rPr lang="en-US" sz="1100" dirty="0">
                <a:solidFill>
                  <a:srgbClr val="0B1A2E"/>
                </a:solidFill>
                <a:latin typeface="Calibri" pitchFamily="34" charset="0"/>
                <a:ea typeface="Calibri" pitchFamily="34" charset="-122"/>
                <a:cs typeface="Calibri" pitchFamily="34" charset="-120"/>
              </a:rPr>
              <a:t>Clients discover, self-register (DCR), use PKCE</a:t>
            </a:r>
            <a:endParaRPr lang="en-US" sz="1100" dirty="0"/>
          </a:p>
          <a:p>
            <a:pPr marL="177800" indent="-177800">
              <a:spcAft>
                <a:spcPts val="800"/>
              </a:spcAft>
              <a:buSzPct val="100000"/>
              <a:buChar char="•"/>
            </a:pPr>
            <a:r>
              <a:rPr lang="en-US" sz="1100" dirty="0">
                <a:solidFill>
                  <a:srgbClr val="0B1A2E"/>
                </a:solidFill>
                <a:latin typeface="Calibri" pitchFamily="34" charset="0"/>
                <a:ea typeface="Calibri" pitchFamily="34" charset="-122"/>
                <a:cs typeface="Calibri" pitchFamily="34" charset="-120"/>
              </a:rPr>
              <a:t>Policy per app; new apps deny everything</a:t>
            </a:r>
            <a:endParaRPr lang="en-US" sz="1100" dirty="0"/>
          </a:p>
          <a:p>
            <a:pPr marL="177800" indent="-177800">
              <a:spcAft>
                <a:spcPts val="800"/>
              </a:spcAft>
              <a:buSzPct val="100000"/>
              <a:buChar char="•"/>
            </a:pPr>
            <a:r>
              <a:rPr lang="en-US" sz="1100" dirty="0">
                <a:solidFill>
                  <a:srgbClr val="0B1A2E"/>
                </a:solidFill>
                <a:latin typeface="Calibri" pitchFamily="34" charset="0"/>
                <a:ea typeface="Calibri" pitchFamily="34" charset="-122"/>
                <a:cs typeface="Calibri" pitchFamily="34" charset="-120"/>
              </a:rPr>
              <a:t>Privilege first: gate 1 before the Agent Gateway</a:t>
            </a:r>
            <a:endParaRPr lang="en-US" sz="1100" dirty="0"/>
          </a:p>
        </p:txBody>
      </p:sp>
      <p:sp>
        <p:nvSpPr>
          <p:cNvPr id="12" name="Shape 8"/>
          <p:cNvSpPr/>
          <p:nvPr/>
        </p:nvSpPr>
        <p:spPr>
          <a:xfrm>
            <a:off x="658368" y="3447288"/>
            <a:ext cx="3575304" cy="0"/>
          </a:xfrm>
          <a:prstGeom prst="line">
            <a:avLst/>
          </a:prstGeom>
          <a:noFill/>
          <a:ln w="9525">
            <a:solidFill>
              <a:srgbClr val="D5DBE3"/>
            </a:solidFill>
            <a:prstDash val="solid"/>
          </a:ln>
        </p:spPr>
      </p:sp>
      <p:sp>
        <p:nvSpPr>
          <p:cNvPr id="13" name="Text 9"/>
          <p:cNvSpPr/>
          <p:nvPr/>
        </p:nvSpPr>
        <p:spPr>
          <a:xfrm>
            <a:off x="658368" y="3502152"/>
            <a:ext cx="3575304" cy="292608"/>
          </a:xfrm>
          <a:prstGeom prst="rect">
            <a:avLst/>
          </a:prstGeom>
          <a:noFill/>
          <a:ln/>
        </p:spPr>
        <p:txBody>
          <a:bodyPr wrap="square" lIns="0" tIns="0" rIns="0" bIns="0" rtlCol="0" anchor="ctr"/>
          <a:lstStyle/>
          <a:p>
            <a:pPr indent="0" marL="0">
              <a:buNone/>
            </a:pPr>
            <a:r>
              <a:rPr lang="en-US" sz="950" b="1" dirty="0">
                <a:solidFill>
                  <a:srgbClr val="4F5E71"/>
                </a:solidFill>
                <a:latin typeface="Calibri" pitchFamily="34" charset="0"/>
                <a:ea typeface="Calibri" pitchFamily="34" charset="-122"/>
                <a:cs typeface="Calibri" pitchFamily="34" charset="-120"/>
              </a:rPr>
              <a:t>See it: /privilege-mcp-client, the same call through three doors</a:t>
            </a:r>
            <a:endParaRPr lang="en-US" sz="950" dirty="0"/>
          </a:p>
        </p:txBody>
      </p:sp>
      <p:sp>
        <p:nvSpPr>
          <p:cNvPr id="14" name="Shape 10"/>
          <p:cNvSpPr/>
          <p:nvPr/>
        </p:nvSpPr>
        <p:spPr>
          <a:xfrm>
            <a:off x="4709160" y="1481328"/>
            <a:ext cx="3977640" cy="2423160"/>
          </a:xfrm>
          <a:prstGeom prst="rect">
            <a:avLst/>
          </a:prstGeom>
          <a:solidFill>
            <a:srgbClr val="FFFFFF"/>
          </a:solidFill>
          <a:ln w="9525">
            <a:solidFill>
              <a:srgbClr val="D5DBE3"/>
            </a:solidFill>
            <a:prstDash val="solid"/>
          </a:ln>
        </p:spPr>
      </p:sp>
      <p:sp>
        <p:nvSpPr>
          <p:cNvPr id="15" name="Shape 11"/>
          <p:cNvSpPr/>
          <p:nvPr/>
        </p:nvSpPr>
        <p:spPr>
          <a:xfrm>
            <a:off x="4892040" y="1645920"/>
            <a:ext cx="420624" cy="420624"/>
          </a:xfrm>
          <a:prstGeom prst="ellipse">
            <a:avLst/>
          </a:prstGeom>
          <a:solidFill>
            <a:srgbClr val="0B1A2E"/>
          </a:solidFill>
          <a:ln/>
        </p:spPr>
      </p:sp>
      <p:pic>
        <p:nvPicPr>
          <p:cNvPr id="16" name="Image 1" descr="preencoded.png"/>
          <p:cNvPicPr>
            <a:picLocks noChangeAspect="1"/>
          </p:cNvPicPr>
          <p:nvPr/>
        </p:nvPicPr>
        <p:blipFill>
          <a:blip r:embed="rId2"/>
          <a:stretch>
            <a:fillRect/>
          </a:stretch>
        </p:blipFill>
        <p:spPr>
          <a:xfrm>
            <a:off x="5005608" y="1759488"/>
            <a:ext cx="193487" cy="193487"/>
          </a:xfrm>
          <a:prstGeom prst="rect">
            <a:avLst/>
          </a:prstGeom>
        </p:spPr>
      </p:pic>
      <p:sp>
        <p:nvSpPr>
          <p:cNvPr id="17" name="Text 12"/>
          <p:cNvSpPr/>
          <p:nvPr/>
        </p:nvSpPr>
        <p:spPr>
          <a:xfrm>
            <a:off x="5422392" y="1645920"/>
            <a:ext cx="3108960" cy="420624"/>
          </a:xfrm>
          <a:prstGeom prst="rect">
            <a:avLst/>
          </a:prstGeom>
          <a:noFill/>
          <a:ln/>
        </p:spPr>
        <p:txBody>
          <a:bodyPr wrap="square" lIns="0" tIns="0" rIns="0" bIns="0" rtlCol="0" anchor="ctr"/>
          <a:lstStyle/>
          <a:p>
            <a:pPr indent="0" marL="0">
              <a:buNone/>
            </a:pPr>
            <a:r>
              <a:rPr lang="en-US" sz="1300" b="1" dirty="0">
                <a:solidFill>
                  <a:srgbClr val="0B1A2E"/>
                </a:solidFill>
                <a:latin typeface="Montserrat" pitchFamily="34" charset="0"/>
                <a:ea typeface="Montserrat" pitchFamily="34" charset="-122"/>
                <a:cs typeface="Montserrat" pitchFamily="34" charset="-120"/>
              </a:rPr>
              <a:t>LLM Gateway for model calls</a:t>
            </a:r>
            <a:endParaRPr lang="en-US" sz="1300" dirty="0"/>
          </a:p>
        </p:txBody>
      </p:sp>
      <p:sp>
        <p:nvSpPr>
          <p:cNvPr id="18" name="Text 13"/>
          <p:cNvSpPr/>
          <p:nvPr/>
        </p:nvSpPr>
        <p:spPr>
          <a:xfrm>
            <a:off x="4910328" y="2231136"/>
            <a:ext cx="3593592" cy="1371600"/>
          </a:xfrm>
          <a:prstGeom prst="rect">
            <a:avLst/>
          </a:prstGeom>
          <a:noFill/>
          <a:ln/>
        </p:spPr>
        <p:txBody>
          <a:bodyPr wrap="square" lIns="0" tIns="0" rIns="0" bIns="0" rtlCol="0" anchor="t"/>
          <a:lstStyle/>
          <a:p>
            <a:pPr marL="177800" indent="-177800">
              <a:spcAft>
                <a:spcPts val="800"/>
              </a:spcAft>
              <a:buSzPct val="100000"/>
              <a:buChar char="•"/>
            </a:pPr>
            <a:r>
              <a:rPr lang="en-US" sz="1100" dirty="0">
                <a:solidFill>
                  <a:srgbClr val="0B1A2E"/>
                </a:solidFill>
                <a:latin typeface="Calibri" pitchFamily="34" charset="0"/>
                <a:ea typeface="Calibri" pitchFamily="34" charset="-122"/>
                <a:cs typeface="Calibri" pitchFamily="34" charset="-120"/>
              </a:rPr>
              <a:t>Virtual keys; provider keys stay in Privilege</a:t>
            </a:r>
            <a:endParaRPr lang="en-US" sz="1100" dirty="0"/>
          </a:p>
          <a:p>
            <a:pPr marL="177800" indent="-177800">
              <a:spcAft>
                <a:spcPts val="800"/>
              </a:spcAft>
              <a:buSzPct val="100000"/>
              <a:buChar char="•"/>
            </a:pPr>
            <a:r>
              <a:rPr lang="en-US" sz="1100" dirty="0">
                <a:solidFill>
                  <a:srgbClr val="0B1A2E"/>
                </a:solidFill>
                <a:latin typeface="Calibri" pitchFamily="34" charset="0"/>
                <a:ea typeface="Calibri" pitchFamily="34" charset="-122"/>
                <a:cs typeface="Calibri" pitchFamily="34" charset="-120"/>
              </a:rPr>
              <a:t>Every prompt: Allow, Alert, Sanitize or Block</a:t>
            </a:r>
            <a:endParaRPr lang="en-US" sz="1100" dirty="0"/>
          </a:p>
          <a:p>
            <a:pPr marL="177800" indent="-177800">
              <a:spcAft>
                <a:spcPts val="800"/>
              </a:spcAft>
              <a:buSzPct val="100000"/>
              <a:buChar char="•"/>
            </a:pPr>
            <a:r>
              <a:rPr lang="en-US" sz="1100" dirty="0">
                <a:solidFill>
                  <a:srgbClr val="0B1A2E"/>
                </a:solidFill>
                <a:latin typeface="Calibri" pitchFamily="34" charset="0"/>
                <a:ea typeface="Calibri" pitchFamily="34" charset="-122"/>
                <a:cs typeface="Calibri" pitchFamily="34" charset="-120"/>
              </a:rPr>
              <a:t>Only Block reaches the caller (HTTP 400)</a:t>
            </a:r>
            <a:endParaRPr lang="en-US" sz="1100" dirty="0"/>
          </a:p>
          <a:p>
            <a:pPr marL="177800" indent="-177800">
              <a:spcAft>
                <a:spcPts val="800"/>
              </a:spcAft>
              <a:buSzPct val="100000"/>
              <a:buChar char="•"/>
            </a:pPr>
            <a:r>
              <a:rPr lang="en-US" sz="1100" dirty="0">
                <a:solidFill>
                  <a:srgbClr val="0B1A2E"/>
                </a:solidFill>
                <a:latin typeface="Calibri" pitchFamily="34" charset="0"/>
                <a:ea typeface="Calibri" pitchFamily="34" charset="-122"/>
                <a:cs typeface="Calibri" pitchFamily="34" charset="-120"/>
              </a:rPr>
              <a:t>Local proxy (:8090) has no policy or guardrails</a:t>
            </a:r>
            <a:endParaRPr lang="en-US" sz="1100" dirty="0"/>
          </a:p>
        </p:txBody>
      </p:sp>
      <p:sp>
        <p:nvSpPr>
          <p:cNvPr id="19" name="Shape 14"/>
          <p:cNvSpPr/>
          <p:nvPr/>
        </p:nvSpPr>
        <p:spPr>
          <a:xfrm>
            <a:off x="4910328" y="3447288"/>
            <a:ext cx="3575304" cy="0"/>
          </a:xfrm>
          <a:prstGeom prst="line">
            <a:avLst/>
          </a:prstGeom>
          <a:noFill/>
          <a:ln w="9525">
            <a:solidFill>
              <a:srgbClr val="D5DBE3"/>
            </a:solidFill>
            <a:prstDash val="solid"/>
          </a:ln>
        </p:spPr>
      </p:sp>
      <p:sp>
        <p:nvSpPr>
          <p:cNvPr id="20" name="Text 15"/>
          <p:cNvSpPr/>
          <p:nvPr/>
        </p:nvSpPr>
        <p:spPr>
          <a:xfrm>
            <a:off x="4910328" y="3502152"/>
            <a:ext cx="3575304" cy="292608"/>
          </a:xfrm>
          <a:prstGeom prst="rect">
            <a:avLst/>
          </a:prstGeom>
          <a:noFill/>
          <a:ln/>
        </p:spPr>
        <p:txBody>
          <a:bodyPr wrap="square" lIns="0" tIns="0" rIns="0" bIns="0" rtlCol="0" anchor="ctr"/>
          <a:lstStyle/>
          <a:p>
            <a:pPr indent="0" marL="0">
              <a:buNone/>
            </a:pPr>
            <a:r>
              <a:rPr lang="en-US" sz="950" b="1" dirty="0">
                <a:solidFill>
                  <a:srgbClr val="4F5E71"/>
                </a:solidFill>
                <a:latin typeface="Calibri" pitchFamily="34" charset="0"/>
                <a:ea typeface="Calibri" pitchFamily="34" charset="-122"/>
                <a:cs typeface="Calibri" pitchFamily="34" charset="-120"/>
              </a:rPr>
              <a:t>See it: /llm-gateway (UC-TOOL3), /llm-test, LibreChat</a:t>
            </a:r>
            <a:endParaRPr lang="en-US" sz="950" dirty="0"/>
          </a:p>
        </p:txBody>
      </p:sp>
      <p:sp>
        <p:nvSpPr>
          <p:cNvPr id="21" name="Shape 16"/>
          <p:cNvSpPr/>
          <p:nvPr/>
        </p:nvSpPr>
        <p:spPr>
          <a:xfrm>
            <a:off x="457200" y="4279392"/>
            <a:ext cx="8229600" cy="329184"/>
          </a:xfrm>
          <a:prstGeom prst="rect">
            <a:avLst/>
          </a:prstGeom>
          <a:solidFill>
            <a:srgbClr val="E8ECF2"/>
          </a:solidFill>
          <a:ln w="9525">
            <a:solidFill>
              <a:srgbClr val="D5DBE3"/>
            </a:solidFill>
            <a:prstDash val="solid"/>
          </a:ln>
        </p:spPr>
      </p:sp>
      <p:sp>
        <p:nvSpPr>
          <p:cNvPr id="22" name="Text 17"/>
          <p:cNvSpPr/>
          <p:nvPr/>
        </p:nvSpPr>
        <p:spPr>
          <a:xfrm>
            <a:off x="594360" y="4279392"/>
            <a:ext cx="7955280" cy="329184"/>
          </a:xfrm>
          <a:prstGeom prst="rect">
            <a:avLst/>
          </a:prstGeom>
          <a:noFill/>
          <a:ln/>
        </p:spPr>
        <p:txBody>
          <a:bodyPr wrap="square" lIns="0" tIns="0" rIns="0" bIns="0" rtlCol="0" anchor="ctr"/>
          <a:lstStyle/>
          <a:p>
            <a:pPr indent="0" marL="0">
              <a:buNone/>
            </a:pPr>
            <a:r>
              <a:rPr lang="en-US" sz="1050" b="1" dirty="0">
                <a:solidFill>
                  <a:srgbClr val="0B1A2E"/>
                </a:solidFill>
                <a:latin typeface="Calibri" pitchFamily="34" charset="0"/>
                <a:ea typeface="Calibri" pitchFamily="34" charset="-122"/>
                <a:cs typeface="Calibri" pitchFamily="34" charset="-120"/>
              </a:rPr>
              <a:t xml:space="preserve">Also:  </a:t>
            </a:r>
            <a:pPr indent="0" marL="0">
              <a:buNone/>
            </a:pPr>
            <a:r>
              <a:rPr lang="en-US" sz="1050" dirty="0">
                <a:solidFill>
                  <a:srgbClr val="0B1A2E"/>
                </a:solidFill>
                <a:latin typeface="Calibri" pitchFamily="34" charset="0"/>
                <a:ea typeface="Calibri" pitchFamily="34" charset="-122"/>
                <a:cs typeface="Calibri" pitchFamily="34" charset="-120"/>
              </a:rPr>
              <a:t>PingOne Privilege PAM for just-in-time access to AWS, S3 and Kubernetes (UC-PAM). The MCP gateway runs on the Ping SE cluster.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8  ·  ATTACKS</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The demo attacks itself, and shows what stops each attack and what doesn't</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8229600" cy="914400"/>
        </p:xfrm>
        <a:graphic>
          <a:graphicData uri="http://schemas.openxmlformats.org/drawingml/2006/table">
            <a:tbl>
              <a:tblPr/>
              <a:tblGrid>
                <a:gridCol w="2514600"/>
                <a:gridCol w="3108960"/>
                <a:gridCol w="1097280"/>
                <a:gridCol w="1508760"/>
              </a:tblGrid>
              <a:tr h="205740">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Attack</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Stopped by</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Result</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Use case</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r>
              <a:tr h="205740">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Insufficient scope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Node gateway scope check</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403</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UC5</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05740">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Wrong audience or replayed token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Gateway audience check</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401</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UC11, UC12</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05740">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Another user's account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PingOne Authorize (resource owner)</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403</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UC10</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05740">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Rogue actor (confused deputy)</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PingOne Authorize (actor chain)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403</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UC13</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05740">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Transfer over the approved intent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PingOne Authorize (RAR cap)</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403</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UC14</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05740">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Impersonation, no act claim</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PingOne Authorize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403</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UC16</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05740">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Burst of calls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Node gateway rate limit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429</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UC18</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05740">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Fake consent ("already approved")</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BFF requires a real approval receipt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428</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UC27</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05740">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Out-of-scope third-party tool</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PingGateway policy</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DENY</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UC31, UC42</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05740">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Prompt injection or jailbreak</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BFF prompt guard; Privilege LLM Gateway</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400</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UC-TOOL3</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05740">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PII in the model's answer</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Privilege LLM Gateway redacts it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200, redacted</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UC-TOOL3</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05740">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Poisoned tool arguments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Nothing; the approval gate still applies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Not blocked</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Tester page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05740">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Hostile MCP server, ungoverned agent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Nothing, by design: the before picture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Not blocked</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UC-LEARN7</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bl>
          </a:graphicData>
        </a:graphic>
      </p:graphicFrame>
      <p:sp>
        <p:nvSpPr>
          <p:cNvPr id="8" name="Text 4"/>
          <p:cNvSpPr/>
          <p:nvPr/>
        </p:nvSpPr>
        <p:spPr>
          <a:xfrm>
            <a:off x="457200" y="4480560"/>
            <a:ext cx="8229600" cy="182880"/>
          </a:xfrm>
          <a:prstGeom prst="rect">
            <a:avLst/>
          </a:prstGeom>
          <a:noFill/>
          <a:ln/>
        </p:spPr>
        <p:txBody>
          <a:bodyPr wrap="square" lIns="0" tIns="0" rIns="0" bIns="0" rtlCol="0" anchor="ctr"/>
          <a:lstStyle/>
          <a:p>
            <a:pPr indent="0" marL="0">
              <a:buNone/>
            </a:pPr>
            <a:r>
              <a:rPr lang="en-US" sz="900" i="1" dirty="0">
                <a:solidFill>
                  <a:srgbClr val="4F5E71"/>
                </a:solidFill>
                <a:latin typeface="Calibri" pitchFamily="34" charset="0"/>
                <a:ea typeface="Calibri" pitchFamily="34" charset="-122"/>
                <a:cs typeface="Calibri" pitchFamily="34" charset="-120"/>
              </a:rPr>
              <a:t>Not demo-ready: UC15 tampered intent token (needs build); UC29 introspection outage (returns 501 here).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9  ·  WHAT YOU CAN SEE</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Every decision leaves a visible trail: in the chat, the trace, the gateway feed and Grafana</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8229600" cy="914400"/>
        </p:xfrm>
        <a:graphic>
          <a:graphicData uri="http://schemas.openxmlformats.org/drawingml/2006/table">
            <a:tbl>
              <a:tblPr/>
              <a:tblGrid>
                <a:gridCol w="2240280"/>
                <a:gridCol w="4069080"/>
                <a:gridCol w="1920240"/>
              </a:tblGrid>
              <a:tr h="246888">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Where</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What you see</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Who sees it</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r>
              <a:tr h="24688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Agent chat token chain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Token cards, the Authorize decision, the UC26 verdict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You, in your session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4688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/transaction-trace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Every hop, identity, decision and a PASS or FAIL verdict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Your own; admins see all</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4688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Dashboard sequence view</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Lifelines for the steps that actually ran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You, in your session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4688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/agent-gateway-inspector</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PingGateway PERMIT, DENY or HELD, with the policy statement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Your own; admins see all</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4688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/audit (UC20)</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Every MCP tool call, stored durably</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Admins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4688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UC35 "Why was that blocked?"</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The agent explains the last denial in plain words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You, in your chat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4688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/pingone-authorize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Run a test decision and read its statements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Anyone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4688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/monitoring/p1az</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Authorize decision stream, latency, fail-open counts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Anyone (needs New Relic)</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4688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Grafana</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Dashboards for the gateway, Authorize decisions, MCP servers, agents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Whoever can reach Grafana</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bl>
          </a:graphicData>
        </a:graphic>
      </p:graphicFrame>
      <p:sp>
        <p:nvSpPr>
          <p:cNvPr id="8" name="Shape 4"/>
          <p:cNvSpPr/>
          <p:nvPr/>
        </p:nvSpPr>
        <p:spPr>
          <a:xfrm>
            <a:off x="457200" y="4279392"/>
            <a:ext cx="8229600" cy="329184"/>
          </a:xfrm>
          <a:prstGeom prst="rect">
            <a:avLst/>
          </a:prstGeom>
          <a:solidFill>
            <a:srgbClr val="E8ECF2"/>
          </a:solidFill>
          <a:ln w="9525">
            <a:solidFill>
              <a:srgbClr val="D5DBE3"/>
            </a:solidFill>
            <a:prstDash val="solid"/>
          </a:ln>
        </p:spPr>
      </p:sp>
      <p:sp>
        <p:nvSpPr>
          <p:cNvPr id="9" name="Text 5"/>
          <p:cNvSpPr/>
          <p:nvPr/>
        </p:nvSpPr>
        <p:spPr>
          <a:xfrm>
            <a:off x="594360" y="4279392"/>
            <a:ext cx="7955280" cy="329184"/>
          </a:xfrm>
          <a:prstGeom prst="rect">
            <a:avLst/>
          </a:prstGeom>
          <a:noFill/>
          <a:ln/>
        </p:spPr>
        <p:txBody>
          <a:bodyPr wrap="square" lIns="0" tIns="0" rIns="0" bIns="0" rtlCol="0" anchor="ctr"/>
          <a:lstStyle/>
          <a:p>
            <a:pPr indent="0" marL="0">
              <a:buNone/>
            </a:pPr>
            <a:r>
              <a:rPr lang="en-US" sz="1050" b="1" dirty="0">
                <a:solidFill>
                  <a:srgbClr val="0B1A2E"/>
                </a:solidFill>
                <a:latin typeface="Calibri" pitchFamily="34" charset="0"/>
                <a:ea typeface="Calibri" pitchFamily="34" charset="-122"/>
                <a:cs typeface="Calibri" pitchFamily="34" charset="-120"/>
              </a:rPr>
              <a:t xml:space="preserve">Not in the app:  </a:t>
            </a:r>
            <a:pPr indent="0" marL="0">
              <a:buNone/>
            </a:pPr>
            <a:r>
              <a:rPr lang="en-US" sz="1050" dirty="0">
                <a:solidFill>
                  <a:srgbClr val="0B1A2E"/>
                </a:solidFill>
                <a:latin typeface="Calibri" pitchFamily="34" charset="0"/>
                <a:ea typeface="Calibri" pitchFamily="34" charset="-122"/>
                <a:cs typeface="Calibri" pitchFamily="34" charset="-120"/>
              </a:rPr>
              <a:t>Privilege Alert verdicts (gateway dashboard only). Sanitize is inferred from [REDACTED] markers.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10  ·  MCP SERVERS</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A dozen MCP servers, mostly behind PingGateway, from banking tools to a deliberately hostile one</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8229600" cy="914400"/>
        </p:xfrm>
        <a:graphic>
          <a:graphicData uri="http://schemas.openxmlformats.org/drawingml/2006/table">
            <a:tbl>
              <a:tblPr/>
              <a:tblGrid>
                <a:gridCol w="2148840"/>
                <a:gridCol w="3154680"/>
                <a:gridCol w="685800"/>
                <a:gridCol w="2240280"/>
              </a:tblGrid>
              <a:tr h="233172">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Server</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What it does</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Tools</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Fronted by</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r>
              <a:tr h="233172">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Banking MCP  :8080</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Accounts, transfers, mortgage, code search</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41</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PingGateway, Node gateway, facade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33172">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Resource server  :8081</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Investments and 10 verticals over SQLite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33</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PingGateway (token exchange)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33172">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Weather  :8896</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Real weather, with a state-scoped policy</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PingGateway</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33172">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Brave Search  :8897</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Real news search, with a crypto blocklist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PingGateway, facade, Privilege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33172">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JWT verifier  :8083</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Decode and verify JWTs (opt-in)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Node gateway</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33172">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PingOne audit  :8898</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Read-only PingOne audit log</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Node gateway, facade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33172">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OpenSearch  :9900</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Third-party sample backend (opt-in)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Agent Privilege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33172">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PingOne admin bridge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PingOne admin tools under Privilege policy</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Agent Privilege (SE)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33172">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Hosted PingOne MCP</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The ADMIN steps: apps, users, populations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by role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Direct from the BFF (PKCE)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33172">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Hostile MCP server  :8899</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Poisoned tool descriptions, for red-teaming</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None, by design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bl>
          </a:graphicData>
        </a:graphic>
      </p:graphicFrame>
      <p:sp>
        <p:nvSpPr>
          <p:cNvPr id="8" name="Shape 4"/>
          <p:cNvSpPr/>
          <p:nvPr/>
        </p:nvSpPr>
        <p:spPr>
          <a:xfrm>
            <a:off x="457200" y="4279392"/>
            <a:ext cx="8229600" cy="329184"/>
          </a:xfrm>
          <a:prstGeom prst="rect">
            <a:avLst/>
          </a:prstGeom>
          <a:solidFill>
            <a:srgbClr val="E8ECF2"/>
          </a:solidFill>
          <a:ln w="9525">
            <a:solidFill>
              <a:srgbClr val="D5DBE3"/>
            </a:solidFill>
            <a:prstDash val="solid"/>
          </a:ln>
        </p:spPr>
      </p:sp>
      <p:sp>
        <p:nvSpPr>
          <p:cNvPr id="9" name="Text 5"/>
          <p:cNvSpPr/>
          <p:nvPr/>
        </p:nvSpPr>
        <p:spPr>
          <a:xfrm>
            <a:off x="594360" y="4279392"/>
            <a:ext cx="7955280" cy="329184"/>
          </a:xfrm>
          <a:prstGeom prst="rect">
            <a:avLst/>
          </a:prstGeom>
          <a:noFill/>
          <a:ln/>
        </p:spPr>
        <p:txBody>
          <a:bodyPr wrap="square" lIns="0" tIns="0" rIns="0" bIns="0" rtlCol="0" anchor="ctr"/>
          <a:lstStyle/>
          <a:p>
            <a:pPr indent="0" marL="0">
              <a:buNone/>
            </a:pPr>
            <a:r>
              <a:rPr lang="en-US" sz="1050" b="1" dirty="0">
                <a:solidFill>
                  <a:srgbClr val="0B1A2E"/>
                </a:solidFill>
                <a:latin typeface="Calibri" pitchFamily="34" charset="0"/>
                <a:ea typeface="Calibri" pitchFamily="34" charset="-122"/>
                <a:cs typeface="Calibri" pitchFamily="34" charset="-120"/>
              </a:rPr>
              <a:t xml:space="preserve">Front doors:  </a:t>
            </a:r>
            <a:pPr indent="0" marL="0">
              <a:buNone/>
            </a:pPr>
            <a:r>
              <a:rPr lang="en-US" sz="1050" dirty="0">
                <a:solidFill>
                  <a:srgbClr val="0B1A2E"/>
                </a:solidFill>
                <a:latin typeface="Calibri" pitchFamily="34" charset="0"/>
                <a:ea typeface="Calibri" pitchFamily="34" charset="-122"/>
                <a:cs typeface="Calibri" pitchFamily="34" charset="-120"/>
              </a:rPr>
              <a:t>PingGateway (default) · Node gateway (opt-in) · Agent Privilege (SE) · BFF facade for outside MCP clients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11  ·  DAVINCI</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Three ways to run a DaVinci flow: the hosted widget, the Orchestration SDK, and server-side step-up</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457200" y="1481328"/>
            <a:ext cx="2590800" cy="2514600"/>
          </a:xfrm>
          <a:prstGeom prst="rect">
            <a:avLst/>
          </a:prstGeom>
          <a:solidFill>
            <a:srgbClr val="FFFFFF"/>
          </a:solidFill>
          <a:ln w="9525">
            <a:solidFill>
              <a:srgbClr val="D5DBE3"/>
            </a:solidFill>
            <a:prstDash val="solid"/>
          </a:ln>
        </p:spPr>
      </p:sp>
      <p:sp>
        <p:nvSpPr>
          <p:cNvPr id="8" name="Shape 5"/>
          <p:cNvSpPr/>
          <p:nvPr/>
        </p:nvSpPr>
        <p:spPr>
          <a:xfrm>
            <a:off x="603504" y="1627632"/>
            <a:ext cx="384048" cy="384048"/>
          </a:xfrm>
          <a:prstGeom prst="ellipse">
            <a:avLst/>
          </a:prstGeom>
          <a:solidFill>
            <a:srgbClr val="0B1A2E"/>
          </a:solidFill>
          <a:ln/>
        </p:spPr>
      </p:sp>
      <p:pic>
        <p:nvPicPr>
          <p:cNvPr id="9" name="Image 0" descr="preencoded.png"/>
          <p:cNvPicPr>
            <a:picLocks noChangeAspect="1"/>
          </p:cNvPicPr>
          <p:nvPr/>
        </p:nvPicPr>
        <p:blipFill>
          <a:blip r:embed="rId1"/>
          <a:stretch>
            <a:fillRect/>
          </a:stretch>
        </p:blipFill>
        <p:spPr>
          <a:xfrm>
            <a:off x="707197" y="1731325"/>
            <a:ext cx="176662" cy="176662"/>
          </a:xfrm>
          <a:prstGeom prst="rect">
            <a:avLst/>
          </a:prstGeom>
        </p:spPr>
      </p:pic>
      <p:sp>
        <p:nvSpPr>
          <p:cNvPr id="10" name="Text 6"/>
          <p:cNvSpPr/>
          <p:nvPr/>
        </p:nvSpPr>
        <p:spPr>
          <a:xfrm>
            <a:off x="1078992" y="1627632"/>
            <a:ext cx="1859280" cy="384048"/>
          </a:xfrm>
          <a:prstGeom prst="rect">
            <a:avLst/>
          </a:prstGeom>
          <a:noFill/>
          <a:ln/>
        </p:spPr>
        <p:txBody>
          <a:bodyPr wrap="square" lIns="0" tIns="0" rIns="0" bIns="0" rtlCol="0" anchor="ctr"/>
          <a:lstStyle/>
          <a:p>
            <a:pPr indent="0" marL="0">
              <a:buNone/>
            </a:pPr>
            <a:r>
              <a:rPr lang="en-US" sz="1200" b="1" dirty="0">
                <a:solidFill>
                  <a:srgbClr val="0B1A2E"/>
                </a:solidFill>
                <a:latin typeface="Montserrat" pitchFamily="34" charset="0"/>
                <a:ea typeface="Montserrat" pitchFamily="34" charset="-122"/>
                <a:cs typeface="Montserrat" pitchFamily="34" charset="-120"/>
              </a:rPr>
              <a:t>Hosted widget</a:t>
            </a:r>
            <a:endParaRPr lang="en-US" sz="1200" dirty="0"/>
          </a:p>
        </p:txBody>
      </p:sp>
      <p:sp>
        <p:nvSpPr>
          <p:cNvPr id="11" name="Shape 7"/>
          <p:cNvSpPr/>
          <p:nvPr/>
        </p:nvSpPr>
        <p:spPr>
          <a:xfrm>
            <a:off x="603504" y="2139696"/>
            <a:ext cx="1481328" cy="237744"/>
          </a:xfrm>
          <a:prstGeom prst="roundRect">
            <a:avLst>
              <a:gd name="adj" fmla="val 50000"/>
            </a:avLst>
          </a:prstGeom>
          <a:solidFill>
            <a:srgbClr val="E8ECF2"/>
          </a:solidFill>
          <a:ln/>
        </p:spPr>
      </p:sp>
      <p:sp>
        <p:nvSpPr>
          <p:cNvPr id="12" name="Text 8"/>
          <p:cNvSpPr/>
          <p:nvPr/>
        </p:nvSpPr>
        <p:spPr>
          <a:xfrm>
            <a:off x="603504" y="2139696"/>
            <a:ext cx="1481328" cy="237744"/>
          </a:xfrm>
          <a:prstGeom prst="rect">
            <a:avLst/>
          </a:prstGeom>
          <a:noFill/>
          <a:ln/>
        </p:spPr>
        <p:txBody>
          <a:bodyPr wrap="square" lIns="0" tIns="0" rIns="0" bIns="0" rtlCol="0" anchor="ctr"/>
          <a:lstStyle/>
          <a:p>
            <a:pPr algn="ctr" indent="0" marL="0">
              <a:buNone/>
            </a:pPr>
            <a:r>
              <a:rPr lang="en-US" sz="850" b="1" dirty="0">
                <a:solidFill>
                  <a:srgbClr val="0B1A2E"/>
                </a:solidFill>
                <a:latin typeface="Montserrat" pitchFamily="34" charset="0"/>
                <a:ea typeface="Montserrat" pitchFamily="34" charset="-122"/>
                <a:cs typeface="Montserrat" pitchFamily="34" charset="-120"/>
              </a:rPr>
              <a:t>Changing in PR #3245</a:t>
            </a:r>
            <a:endParaRPr lang="en-US" sz="850" dirty="0"/>
          </a:p>
        </p:txBody>
      </p:sp>
      <p:sp>
        <p:nvSpPr>
          <p:cNvPr id="13" name="Text 9"/>
          <p:cNvSpPr/>
          <p:nvPr/>
        </p:nvSpPr>
        <p:spPr>
          <a:xfrm>
            <a:off x="603504" y="2523744"/>
            <a:ext cx="2316480" cy="10972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0B1A2E"/>
                </a:solidFill>
                <a:latin typeface="Calibri" pitchFamily="34" charset="0"/>
                <a:ea typeface="Calibri" pitchFamily="34" charset="-122"/>
                <a:cs typeface="Calibri" pitchFamily="34" charset="-120"/>
              </a:rPr>
              <a:t>DaVinci's own screens, in our page</a:t>
            </a:r>
            <a:endParaRPr lang="en-US" sz="1000" dirty="0"/>
          </a:p>
          <a:p>
            <a:pPr marL="127000" indent="-127000">
              <a:spcAft>
                <a:spcPts val="700"/>
              </a:spcAft>
              <a:buSzPct val="100000"/>
              <a:buChar char="•"/>
            </a:pPr>
            <a:r>
              <a:rPr lang="en-US" sz="1000" dirty="0">
                <a:solidFill>
                  <a:srgbClr val="0B1A2E"/>
                </a:solidFill>
                <a:latin typeface="Calibri" pitchFamily="34" charset="0"/>
                <a:ea typeface="Calibri" pitchFamily="34" charset="-122"/>
                <a:cs typeface="Calibri" pitchFamily="34" charset="-120"/>
              </a:rPr>
              <a:t>The BFF mints a DaVinci SDK token</a:t>
            </a:r>
            <a:endParaRPr lang="en-US" sz="1000" dirty="0"/>
          </a:p>
          <a:p>
            <a:pPr marL="127000" indent="-127000">
              <a:spcAft>
                <a:spcPts val="700"/>
              </a:spcAft>
              <a:buSzPct val="100000"/>
              <a:buChar char="•"/>
            </a:pPr>
            <a:r>
              <a:rPr lang="en-US" sz="1000" dirty="0">
                <a:solidFill>
                  <a:srgbClr val="0B1A2E"/>
                </a:solidFill>
                <a:latin typeface="Calibri" pitchFamily="34" charset="0"/>
                <a:ea typeface="Calibri" pitchFamily="34" charset="-122"/>
                <a:cs typeface="Calibri" pitchFamily="34" charset="-120"/>
              </a:rPr>
              <a:t>Needs company, policy and API key</a:t>
            </a:r>
            <a:endParaRPr lang="en-US" sz="1000" dirty="0"/>
          </a:p>
        </p:txBody>
      </p:sp>
      <p:sp>
        <p:nvSpPr>
          <p:cNvPr id="14" name="Shape 10"/>
          <p:cNvSpPr/>
          <p:nvPr/>
        </p:nvSpPr>
        <p:spPr>
          <a:xfrm>
            <a:off x="603504" y="3575304"/>
            <a:ext cx="2298192" cy="0"/>
          </a:xfrm>
          <a:prstGeom prst="line">
            <a:avLst/>
          </a:prstGeom>
          <a:noFill/>
          <a:ln w="9525">
            <a:solidFill>
              <a:srgbClr val="D5DBE3"/>
            </a:solidFill>
            <a:prstDash val="solid"/>
          </a:ln>
        </p:spPr>
      </p:sp>
      <p:sp>
        <p:nvSpPr>
          <p:cNvPr id="15" name="Text 11"/>
          <p:cNvSpPr/>
          <p:nvPr/>
        </p:nvSpPr>
        <p:spPr>
          <a:xfrm>
            <a:off x="603504" y="3630168"/>
            <a:ext cx="2298192" cy="274320"/>
          </a:xfrm>
          <a:prstGeom prst="rect">
            <a:avLst/>
          </a:prstGeom>
          <a:noFill/>
          <a:ln/>
        </p:spPr>
        <p:txBody>
          <a:bodyPr wrap="square" lIns="0" tIns="0" rIns="0" bIns="0" rtlCol="0" anchor="ctr"/>
          <a:lstStyle/>
          <a:p>
            <a:pPr indent="0" marL="0">
              <a:buNone/>
            </a:pPr>
            <a:r>
              <a:rPr lang="en-US" sz="850" b="1" dirty="0">
                <a:solidFill>
                  <a:srgbClr val="4F5E71"/>
                </a:solidFill>
                <a:latin typeface="Calibri" pitchFamily="34" charset="0"/>
                <a:ea typeface="Calibri" pitchFamily="34" charset="-122"/>
                <a:cs typeface="Calibri" pitchFamily="34" charset="-120"/>
              </a:rPr>
              <a:t>/davinci-login-guide</a:t>
            </a:r>
            <a:endParaRPr lang="en-US" sz="850" dirty="0"/>
          </a:p>
        </p:txBody>
      </p:sp>
      <p:sp>
        <p:nvSpPr>
          <p:cNvPr id="16" name="Shape 12"/>
          <p:cNvSpPr/>
          <p:nvPr/>
        </p:nvSpPr>
        <p:spPr>
          <a:xfrm>
            <a:off x="3276600" y="1481328"/>
            <a:ext cx="2590800" cy="2514600"/>
          </a:xfrm>
          <a:prstGeom prst="rect">
            <a:avLst/>
          </a:prstGeom>
          <a:solidFill>
            <a:srgbClr val="FFFFFF"/>
          </a:solidFill>
          <a:ln w="9525">
            <a:solidFill>
              <a:srgbClr val="D5DBE3"/>
            </a:solidFill>
            <a:prstDash val="solid"/>
          </a:ln>
        </p:spPr>
      </p:sp>
      <p:sp>
        <p:nvSpPr>
          <p:cNvPr id="17" name="Shape 13"/>
          <p:cNvSpPr/>
          <p:nvPr/>
        </p:nvSpPr>
        <p:spPr>
          <a:xfrm>
            <a:off x="3422904" y="1627632"/>
            <a:ext cx="384048" cy="384048"/>
          </a:xfrm>
          <a:prstGeom prst="ellipse">
            <a:avLst/>
          </a:prstGeom>
          <a:solidFill>
            <a:srgbClr val="0B1A2E"/>
          </a:solidFill>
          <a:ln/>
        </p:spPr>
      </p:sp>
      <p:pic>
        <p:nvPicPr>
          <p:cNvPr id="18" name="Image 1" descr="preencoded.png"/>
          <p:cNvPicPr>
            <a:picLocks noChangeAspect="1"/>
          </p:cNvPicPr>
          <p:nvPr/>
        </p:nvPicPr>
        <p:blipFill>
          <a:blip r:embed="rId2"/>
          <a:stretch>
            <a:fillRect/>
          </a:stretch>
        </p:blipFill>
        <p:spPr>
          <a:xfrm>
            <a:off x="3526597" y="1731325"/>
            <a:ext cx="176662" cy="176662"/>
          </a:xfrm>
          <a:prstGeom prst="rect">
            <a:avLst/>
          </a:prstGeom>
        </p:spPr>
      </p:pic>
      <p:sp>
        <p:nvSpPr>
          <p:cNvPr id="19" name="Text 14"/>
          <p:cNvSpPr/>
          <p:nvPr/>
        </p:nvSpPr>
        <p:spPr>
          <a:xfrm>
            <a:off x="3898392" y="1627632"/>
            <a:ext cx="1859280" cy="384048"/>
          </a:xfrm>
          <a:prstGeom prst="rect">
            <a:avLst/>
          </a:prstGeom>
          <a:noFill/>
          <a:ln/>
        </p:spPr>
        <p:txBody>
          <a:bodyPr wrap="square" lIns="0" tIns="0" rIns="0" bIns="0" rtlCol="0" anchor="ctr"/>
          <a:lstStyle/>
          <a:p>
            <a:pPr indent="0" marL="0">
              <a:buNone/>
            </a:pPr>
            <a:r>
              <a:rPr lang="en-US" sz="1200" b="1" dirty="0">
                <a:solidFill>
                  <a:srgbClr val="0B1A2E"/>
                </a:solidFill>
                <a:latin typeface="Montserrat" pitchFamily="34" charset="0"/>
                <a:ea typeface="Montserrat" pitchFamily="34" charset="-122"/>
                <a:cs typeface="Montserrat" pitchFamily="34" charset="-120"/>
              </a:rPr>
              <a:t>Orchestration SDK</a:t>
            </a:r>
            <a:endParaRPr lang="en-US" sz="1200" dirty="0"/>
          </a:p>
        </p:txBody>
      </p:sp>
      <p:sp>
        <p:nvSpPr>
          <p:cNvPr id="20" name="Shape 15"/>
          <p:cNvSpPr/>
          <p:nvPr/>
        </p:nvSpPr>
        <p:spPr>
          <a:xfrm>
            <a:off x="3422904" y="2139696"/>
            <a:ext cx="515722" cy="237744"/>
          </a:xfrm>
          <a:prstGeom prst="roundRect">
            <a:avLst>
              <a:gd name="adj" fmla="val 50000"/>
            </a:avLst>
          </a:prstGeom>
          <a:solidFill>
            <a:srgbClr val="E8ECF2"/>
          </a:solidFill>
          <a:ln/>
        </p:spPr>
      </p:sp>
      <p:sp>
        <p:nvSpPr>
          <p:cNvPr id="21" name="Text 16"/>
          <p:cNvSpPr/>
          <p:nvPr/>
        </p:nvSpPr>
        <p:spPr>
          <a:xfrm>
            <a:off x="3422904" y="2139696"/>
            <a:ext cx="515722" cy="237744"/>
          </a:xfrm>
          <a:prstGeom prst="rect">
            <a:avLst/>
          </a:prstGeom>
          <a:noFill/>
          <a:ln/>
        </p:spPr>
        <p:txBody>
          <a:bodyPr wrap="square" lIns="0" tIns="0" rIns="0" bIns="0" rtlCol="0" anchor="ctr"/>
          <a:lstStyle/>
          <a:p>
            <a:pPr algn="ctr" indent="0" marL="0">
              <a:buNone/>
            </a:pPr>
            <a:r>
              <a:rPr lang="en-US" sz="850" b="1" dirty="0">
                <a:solidFill>
                  <a:srgbClr val="0B1A2E"/>
                </a:solidFill>
                <a:latin typeface="Montserrat" pitchFamily="34" charset="0"/>
                <a:ea typeface="Montserrat" pitchFamily="34" charset="-122"/>
                <a:cs typeface="Montserrat" pitchFamily="34" charset="-120"/>
              </a:rPr>
              <a:t>Live</a:t>
            </a:r>
            <a:endParaRPr lang="en-US" sz="850" dirty="0"/>
          </a:p>
        </p:txBody>
      </p:sp>
      <p:sp>
        <p:nvSpPr>
          <p:cNvPr id="22" name="Text 17"/>
          <p:cNvSpPr/>
          <p:nvPr/>
        </p:nvSpPr>
        <p:spPr>
          <a:xfrm>
            <a:off x="3422904" y="2523744"/>
            <a:ext cx="2316480" cy="10972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0B1A2E"/>
                </a:solidFill>
                <a:latin typeface="Calibri" pitchFamily="34" charset="0"/>
                <a:ea typeface="Calibri" pitchFamily="34" charset="-122"/>
                <a:cs typeface="Calibri" pitchFamily="34" charset="-120"/>
              </a:rPr>
              <a:t>Your own form, built from collectors</a:t>
            </a:r>
            <a:endParaRPr lang="en-US" sz="1000" dirty="0"/>
          </a:p>
          <a:p>
            <a:pPr marL="127000" indent="-127000">
              <a:spcAft>
                <a:spcPts val="700"/>
              </a:spcAft>
              <a:buSzPct val="100000"/>
              <a:buChar char="•"/>
            </a:pPr>
            <a:r>
              <a:rPr lang="en-US" sz="1000" dirty="0">
                <a:solidFill>
                  <a:srgbClr val="0B1A2E"/>
                </a:solidFill>
                <a:latin typeface="Calibri" pitchFamily="34" charset="0"/>
                <a:ea typeface="Calibri" pitchFamily="34" charset="-122"/>
                <a:cs typeface="Calibri" pitchFamily="34" charset="-120"/>
              </a:rPr>
              <a:t>pi.flow returns JSON, not redirects</a:t>
            </a:r>
            <a:endParaRPr lang="en-US" sz="1000" dirty="0"/>
          </a:p>
          <a:p>
            <a:pPr marL="127000" indent="-127000">
              <a:spcAft>
                <a:spcPts val="700"/>
              </a:spcAft>
              <a:buSzPct val="100000"/>
              <a:buChar char="•"/>
            </a:pPr>
            <a:r>
              <a:rPr lang="en-US" sz="1000" dirty="0">
                <a:solidFill>
                  <a:srgbClr val="0B1A2E"/>
                </a:solidFill>
                <a:latin typeface="Calibri" pitchFamily="34" charset="0"/>
                <a:ea typeface="Calibri" pitchFamily="34" charset="-122"/>
                <a:cs typeface="Calibri" pitchFamily="34" charset="-120"/>
              </a:rPr>
              <a:t>Public PKCE client, no secret</a:t>
            </a:r>
            <a:endParaRPr lang="en-US" sz="1000" dirty="0"/>
          </a:p>
        </p:txBody>
      </p:sp>
      <p:sp>
        <p:nvSpPr>
          <p:cNvPr id="23" name="Shape 18"/>
          <p:cNvSpPr/>
          <p:nvPr/>
        </p:nvSpPr>
        <p:spPr>
          <a:xfrm>
            <a:off x="3422904" y="3575304"/>
            <a:ext cx="2298192" cy="0"/>
          </a:xfrm>
          <a:prstGeom prst="line">
            <a:avLst/>
          </a:prstGeom>
          <a:noFill/>
          <a:ln w="9525">
            <a:solidFill>
              <a:srgbClr val="D5DBE3"/>
            </a:solidFill>
            <a:prstDash val="solid"/>
          </a:ln>
        </p:spPr>
      </p:sp>
      <p:sp>
        <p:nvSpPr>
          <p:cNvPr id="24" name="Text 19"/>
          <p:cNvSpPr/>
          <p:nvPr/>
        </p:nvSpPr>
        <p:spPr>
          <a:xfrm>
            <a:off x="3422904" y="3630168"/>
            <a:ext cx="2298192" cy="274320"/>
          </a:xfrm>
          <a:prstGeom prst="rect">
            <a:avLst/>
          </a:prstGeom>
          <a:noFill/>
          <a:ln/>
        </p:spPr>
        <p:txBody>
          <a:bodyPr wrap="square" lIns="0" tIns="0" rIns="0" bIns="0" rtlCol="0" anchor="ctr"/>
          <a:lstStyle/>
          <a:p>
            <a:pPr indent="0" marL="0">
              <a:buNone/>
            </a:pPr>
            <a:r>
              <a:rPr lang="en-US" sz="850" b="1" dirty="0">
                <a:solidFill>
                  <a:srgbClr val="4F5E71"/>
                </a:solidFill>
                <a:latin typeface="Calibri" pitchFamily="34" charset="0"/>
                <a:ea typeface="Calibri" pitchFamily="34" charset="-122"/>
                <a:cs typeface="Calibri" pitchFamily="34" charset="-120"/>
              </a:rPr>
              <a:t>/davinci-sdk-login · /orchestration-sdk</a:t>
            </a:r>
            <a:endParaRPr lang="en-US" sz="850" dirty="0"/>
          </a:p>
        </p:txBody>
      </p:sp>
      <p:sp>
        <p:nvSpPr>
          <p:cNvPr id="25" name="Shape 20"/>
          <p:cNvSpPr/>
          <p:nvPr/>
        </p:nvSpPr>
        <p:spPr>
          <a:xfrm>
            <a:off x="6096000" y="1481328"/>
            <a:ext cx="2590800" cy="2514600"/>
          </a:xfrm>
          <a:prstGeom prst="rect">
            <a:avLst/>
          </a:prstGeom>
          <a:solidFill>
            <a:srgbClr val="FFFFFF"/>
          </a:solidFill>
          <a:ln w="9525">
            <a:solidFill>
              <a:srgbClr val="D5DBE3"/>
            </a:solidFill>
            <a:prstDash val="solid"/>
          </a:ln>
        </p:spPr>
      </p:sp>
      <p:sp>
        <p:nvSpPr>
          <p:cNvPr id="26" name="Shape 21"/>
          <p:cNvSpPr/>
          <p:nvPr/>
        </p:nvSpPr>
        <p:spPr>
          <a:xfrm>
            <a:off x="6242304" y="1627632"/>
            <a:ext cx="384048" cy="384048"/>
          </a:xfrm>
          <a:prstGeom prst="ellipse">
            <a:avLst/>
          </a:prstGeom>
          <a:solidFill>
            <a:srgbClr val="0B1A2E"/>
          </a:solidFill>
          <a:ln/>
        </p:spPr>
      </p:sp>
      <p:pic>
        <p:nvPicPr>
          <p:cNvPr id="27" name="Image 2" descr="preencoded.png"/>
          <p:cNvPicPr>
            <a:picLocks noChangeAspect="1"/>
          </p:cNvPicPr>
          <p:nvPr/>
        </p:nvPicPr>
        <p:blipFill>
          <a:blip r:embed="rId3"/>
          <a:stretch>
            <a:fillRect/>
          </a:stretch>
        </p:blipFill>
        <p:spPr>
          <a:xfrm>
            <a:off x="6345997" y="1731325"/>
            <a:ext cx="176662" cy="176662"/>
          </a:xfrm>
          <a:prstGeom prst="rect">
            <a:avLst/>
          </a:prstGeom>
        </p:spPr>
      </p:pic>
      <p:sp>
        <p:nvSpPr>
          <p:cNvPr id="28" name="Text 22"/>
          <p:cNvSpPr/>
          <p:nvPr/>
        </p:nvSpPr>
        <p:spPr>
          <a:xfrm>
            <a:off x="6717792" y="1627632"/>
            <a:ext cx="1859280" cy="384048"/>
          </a:xfrm>
          <a:prstGeom prst="rect">
            <a:avLst/>
          </a:prstGeom>
          <a:noFill/>
          <a:ln/>
        </p:spPr>
        <p:txBody>
          <a:bodyPr wrap="square" lIns="0" tIns="0" rIns="0" bIns="0" rtlCol="0" anchor="ctr"/>
          <a:lstStyle/>
          <a:p>
            <a:pPr indent="0" marL="0">
              <a:buNone/>
            </a:pPr>
            <a:r>
              <a:rPr lang="en-US" sz="1200" b="1" dirty="0">
                <a:solidFill>
                  <a:srgbClr val="0B1A2E"/>
                </a:solidFill>
                <a:latin typeface="Montserrat" pitchFamily="34" charset="0"/>
                <a:ea typeface="Montserrat" pitchFamily="34" charset="-122"/>
                <a:cs typeface="Montserrat" pitchFamily="34" charset="-120"/>
              </a:rPr>
              <a:t>Transaction step-up</a:t>
            </a:r>
            <a:endParaRPr lang="en-US" sz="1200" dirty="0"/>
          </a:p>
        </p:txBody>
      </p:sp>
      <p:sp>
        <p:nvSpPr>
          <p:cNvPr id="29" name="Shape 23"/>
          <p:cNvSpPr/>
          <p:nvPr/>
        </p:nvSpPr>
        <p:spPr>
          <a:xfrm>
            <a:off x="6242304" y="2139696"/>
            <a:ext cx="1119226" cy="237744"/>
          </a:xfrm>
          <a:prstGeom prst="roundRect">
            <a:avLst>
              <a:gd name="adj" fmla="val 50000"/>
            </a:avLst>
          </a:prstGeom>
          <a:solidFill>
            <a:srgbClr val="E8ECF2"/>
          </a:solidFill>
          <a:ln/>
        </p:spPr>
      </p:sp>
      <p:sp>
        <p:nvSpPr>
          <p:cNvPr id="30" name="Text 24"/>
          <p:cNvSpPr/>
          <p:nvPr/>
        </p:nvSpPr>
        <p:spPr>
          <a:xfrm>
            <a:off x="6242304" y="2139696"/>
            <a:ext cx="1119226" cy="237744"/>
          </a:xfrm>
          <a:prstGeom prst="rect">
            <a:avLst/>
          </a:prstGeom>
          <a:noFill/>
          <a:ln/>
        </p:spPr>
        <p:txBody>
          <a:bodyPr wrap="square" lIns="0" tIns="0" rIns="0" bIns="0" rtlCol="0" anchor="ctr"/>
          <a:lstStyle/>
          <a:p>
            <a:pPr algn="ctr" indent="0" marL="0">
              <a:buNone/>
            </a:pPr>
            <a:r>
              <a:rPr lang="en-US" sz="850" b="1" dirty="0">
                <a:solidFill>
                  <a:srgbClr val="C8102E"/>
                </a:solidFill>
                <a:latin typeface="Montserrat" pitchFamily="34" charset="0"/>
                <a:ea typeface="Montserrat" pitchFamily="34" charset="-122"/>
                <a:cs typeface="Montserrat" pitchFamily="34" charset="-120"/>
              </a:rPr>
              <a:t>Off by default</a:t>
            </a:r>
            <a:endParaRPr lang="en-US" sz="850" dirty="0"/>
          </a:p>
        </p:txBody>
      </p:sp>
      <p:sp>
        <p:nvSpPr>
          <p:cNvPr id="31" name="Text 25"/>
          <p:cNvSpPr/>
          <p:nvPr/>
        </p:nvSpPr>
        <p:spPr>
          <a:xfrm>
            <a:off x="6242304" y="2523744"/>
            <a:ext cx="2316480" cy="10972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0B1A2E"/>
                </a:solidFill>
                <a:latin typeface="Calibri" pitchFamily="34" charset="0"/>
                <a:ea typeface="Calibri" pitchFamily="34" charset="-122"/>
                <a:cs typeface="Calibri" pitchFamily="34" charset="-120"/>
              </a:rPr>
              <a:t>Payment step-up runs a DaVinci flow</a:t>
            </a:r>
            <a:endParaRPr lang="en-US" sz="1000" dirty="0"/>
          </a:p>
          <a:p>
            <a:pPr marL="127000" indent="-127000">
              <a:spcAft>
                <a:spcPts val="700"/>
              </a:spcAft>
              <a:buSzPct val="100000"/>
              <a:buChar char="•"/>
            </a:pPr>
            <a:r>
              <a:rPr lang="en-US" sz="1000" dirty="0">
                <a:solidFill>
                  <a:srgbClr val="0B1A2E"/>
                </a:solidFill>
                <a:latin typeface="Calibri" pitchFamily="34" charset="0"/>
                <a:ea typeface="Calibri" pitchFamily="34" charset="-122"/>
                <a:cs typeface="Calibri" pitchFamily="34" charset="-120"/>
              </a:rPr>
              <a:t>SSO, Protect risk, MFA, Authorize</a:t>
            </a:r>
            <a:endParaRPr lang="en-US" sz="1000" dirty="0"/>
          </a:p>
          <a:p>
            <a:pPr marL="127000" indent="-127000">
              <a:spcAft>
                <a:spcPts val="700"/>
              </a:spcAft>
              <a:buSzPct val="100000"/>
              <a:buChar char="•"/>
            </a:pPr>
            <a:r>
              <a:rPr lang="en-US" sz="1000" dirty="0">
                <a:solidFill>
                  <a:srgbClr val="0B1A2E"/>
                </a:solidFill>
                <a:latin typeface="Calibri" pitchFamily="34" charset="0"/>
                <a:ea typeface="Calibri" pitchFamily="34" charset="-122"/>
                <a:cs typeface="Calibri" pitchFamily="34" charset="-120"/>
              </a:rPr>
              <a:t>Falls back to the built-in OTP/MFA</a:t>
            </a:r>
            <a:endParaRPr lang="en-US" sz="1000" dirty="0"/>
          </a:p>
        </p:txBody>
      </p:sp>
      <p:sp>
        <p:nvSpPr>
          <p:cNvPr id="32" name="Shape 26"/>
          <p:cNvSpPr/>
          <p:nvPr/>
        </p:nvSpPr>
        <p:spPr>
          <a:xfrm>
            <a:off x="6242304" y="3575304"/>
            <a:ext cx="2298192" cy="0"/>
          </a:xfrm>
          <a:prstGeom prst="line">
            <a:avLst/>
          </a:prstGeom>
          <a:noFill/>
          <a:ln w="9525">
            <a:solidFill>
              <a:srgbClr val="D5DBE3"/>
            </a:solidFill>
            <a:prstDash val="solid"/>
          </a:ln>
        </p:spPr>
      </p:sp>
      <p:sp>
        <p:nvSpPr>
          <p:cNvPr id="33" name="Text 27"/>
          <p:cNvSpPr/>
          <p:nvPr/>
        </p:nvSpPr>
        <p:spPr>
          <a:xfrm>
            <a:off x="6242304" y="3630168"/>
            <a:ext cx="2298192" cy="274320"/>
          </a:xfrm>
          <a:prstGeom prst="rect">
            <a:avLst/>
          </a:prstGeom>
          <a:noFill/>
          <a:ln/>
        </p:spPr>
        <p:txBody>
          <a:bodyPr wrap="square" lIns="0" tIns="0" rIns="0" bIns="0" rtlCol="0" anchor="ctr"/>
          <a:lstStyle/>
          <a:p>
            <a:pPr indent="0" marL="0">
              <a:buNone/>
            </a:pPr>
            <a:r>
              <a:rPr lang="en-US" sz="850" b="1" dirty="0">
                <a:solidFill>
                  <a:srgbClr val="4F5E71"/>
                </a:solidFill>
                <a:latin typeface="Calibri" pitchFamily="34" charset="0"/>
                <a:ea typeface="Calibri" pitchFamily="34" charset="-122"/>
                <a:cs typeface="Calibri" pitchFamily="34" charset="-120"/>
              </a:rPr>
              <a:t>/davinci-orchestration (flag off)</a:t>
            </a:r>
            <a:endParaRPr lang="en-US" sz="850" dirty="0"/>
          </a:p>
        </p:txBody>
      </p:sp>
      <p:sp>
        <p:nvSpPr>
          <p:cNvPr id="34" name="Shape 28"/>
          <p:cNvSpPr/>
          <p:nvPr/>
        </p:nvSpPr>
        <p:spPr>
          <a:xfrm>
            <a:off x="457200" y="4315968"/>
            <a:ext cx="8229600" cy="329184"/>
          </a:xfrm>
          <a:prstGeom prst="rect">
            <a:avLst/>
          </a:prstGeom>
          <a:solidFill>
            <a:srgbClr val="E8ECF2"/>
          </a:solidFill>
          <a:ln w="9525">
            <a:solidFill>
              <a:srgbClr val="D5DBE3"/>
            </a:solidFill>
            <a:prstDash val="solid"/>
          </a:ln>
        </p:spPr>
      </p:sp>
      <p:sp>
        <p:nvSpPr>
          <p:cNvPr id="35" name="Text 29"/>
          <p:cNvSpPr/>
          <p:nvPr/>
        </p:nvSpPr>
        <p:spPr>
          <a:xfrm>
            <a:off x="594360" y="4315968"/>
            <a:ext cx="7955280" cy="329184"/>
          </a:xfrm>
          <a:prstGeom prst="rect">
            <a:avLst/>
          </a:prstGeom>
          <a:noFill/>
          <a:ln/>
        </p:spPr>
        <p:txBody>
          <a:bodyPr wrap="square" lIns="0" tIns="0" rIns="0" bIns="0" rtlCol="0" anchor="ctr"/>
          <a:lstStyle/>
          <a:p>
            <a:pPr indent="0" marL="0">
              <a:buNone/>
            </a:pPr>
            <a:r>
              <a:rPr lang="en-US" sz="1050" b="1" dirty="0">
                <a:solidFill>
                  <a:srgbClr val="0B1A2E"/>
                </a:solidFill>
                <a:latin typeface="Calibri" pitchFamily="34" charset="0"/>
                <a:ea typeface="Calibri" pitchFamily="34" charset="-122"/>
                <a:cs typeface="Calibri" pitchFamily="34" charset="-120"/>
              </a:rPr>
              <a:t xml:space="preserve">Also:  </a:t>
            </a:r>
            <a:pPr indent="0" marL="0">
              <a:buNone/>
            </a:pPr>
            <a:r>
              <a:rPr lang="en-US" sz="1050" dirty="0">
                <a:solidFill>
                  <a:srgbClr val="0B1A2E"/>
                </a:solidFill>
                <a:latin typeface="Calibri" pitchFamily="34" charset="0"/>
                <a:ea typeface="Calibri" pitchFamily="34" charset="-122"/>
                <a:cs typeface="Calibri" pitchFamily="34" charset="-120"/>
              </a:rPr>
              <a:t>Verified Trust (UC37) can add a DaVinci-issued credential to agent handoffs; ADMIN10–12 list DaVinci flows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12  ·  PLATFORM EXTRAS</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Beyond the demo flows: diagrams, secret rotation, theming, sessions and sign-in</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457200" y="1481328"/>
            <a:ext cx="2590800" cy="1417320"/>
          </a:xfrm>
          <a:prstGeom prst="rect">
            <a:avLst/>
          </a:prstGeom>
          <a:solidFill>
            <a:srgbClr val="FFFFFF"/>
          </a:solidFill>
          <a:ln w="9525">
            <a:solidFill>
              <a:srgbClr val="D5DBE3"/>
            </a:solidFill>
            <a:prstDash val="solid"/>
          </a:ln>
        </p:spPr>
      </p:sp>
      <p:sp>
        <p:nvSpPr>
          <p:cNvPr id="8" name="Shape 5"/>
          <p:cNvSpPr/>
          <p:nvPr/>
        </p:nvSpPr>
        <p:spPr>
          <a:xfrm>
            <a:off x="585216" y="1591056"/>
            <a:ext cx="329184" cy="329184"/>
          </a:xfrm>
          <a:prstGeom prst="ellipse">
            <a:avLst/>
          </a:prstGeom>
          <a:solidFill>
            <a:srgbClr val="0B1A2E"/>
          </a:solidFill>
          <a:ln/>
        </p:spPr>
      </p:sp>
      <p:pic>
        <p:nvPicPr>
          <p:cNvPr id="9" name="Image 0" descr="preencoded.png"/>
          <p:cNvPicPr>
            <a:picLocks noChangeAspect="1"/>
          </p:cNvPicPr>
          <p:nvPr/>
        </p:nvPicPr>
        <p:blipFill>
          <a:blip r:embed="rId1"/>
          <a:stretch>
            <a:fillRect/>
          </a:stretch>
        </p:blipFill>
        <p:spPr>
          <a:xfrm>
            <a:off x="674096" y="1679936"/>
            <a:ext cx="151425" cy="151425"/>
          </a:xfrm>
          <a:prstGeom prst="rect">
            <a:avLst/>
          </a:prstGeom>
        </p:spPr>
      </p:pic>
      <p:sp>
        <p:nvSpPr>
          <p:cNvPr id="10" name="Text 6"/>
          <p:cNvSpPr/>
          <p:nvPr/>
        </p:nvSpPr>
        <p:spPr>
          <a:xfrm>
            <a:off x="1005840" y="1591056"/>
            <a:ext cx="1950720" cy="329184"/>
          </a:xfrm>
          <a:prstGeom prst="rect">
            <a:avLst/>
          </a:prstGeom>
          <a:noFill/>
          <a:ln/>
        </p:spPr>
        <p:txBody>
          <a:bodyPr wrap="square" lIns="0" tIns="0" rIns="0" bIns="0" rtlCol="0" anchor="ctr"/>
          <a:lstStyle/>
          <a:p>
            <a:pPr indent="0" marL="0">
              <a:buNone/>
            </a:pPr>
            <a:r>
              <a:rPr lang="en-US" sz="1150" b="1" dirty="0">
                <a:solidFill>
                  <a:srgbClr val="0B1A2E"/>
                </a:solidFill>
                <a:latin typeface="Montserrat" pitchFamily="34" charset="0"/>
                <a:ea typeface="Montserrat" pitchFamily="34" charset="-122"/>
                <a:cs typeface="Montserrat" pitchFamily="34" charset="-120"/>
              </a:rPr>
              <a:t>Diagrams</a:t>
            </a:r>
            <a:endParaRPr lang="en-US" sz="1150" dirty="0"/>
          </a:p>
        </p:txBody>
      </p:sp>
      <p:sp>
        <p:nvSpPr>
          <p:cNvPr id="11" name="Text 7"/>
          <p:cNvSpPr/>
          <p:nvPr/>
        </p:nvSpPr>
        <p:spPr>
          <a:xfrm>
            <a:off x="585216" y="1993392"/>
            <a:ext cx="2371344" cy="585216"/>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Live sequence diagram of each run</a:t>
            </a:r>
            <a:endParaRPr lang="en-US" sz="950" dirty="0"/>
          </a:p>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Lane names repeat at the foot</a:t>
            </a:r>
            <a:endParaRPr lang="en-US" sz="950" dirty="0"/>
          </a:p>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Architecture pages under /architecture</a:t>
            </a:r>
            <a:endParaRPr lang="en-US" sz="950" dirty="0"/>
          </a:p>
        </p:txBody>
      </p:sp>
      <p:sp>
        <p:nvSpPr>
          <p:cNvPr id="12" name="Shape 8"/>
          <p:cNvSpPr/>
          <p:nvPr/>
        </p:nvSpPr>
        <p:spPr>
          <a:xfrm>
            <a:off x="585216" y="2606040"/>
            <a:ext cx="2334768" cy="0"/>
          </a:xfrm>
          <a:prstGeom prst="line">
            <a:avLst/>
          </a:prstGeom>
          <a:noFill/>
          <a:ln w="9525">
            <a:solidFill>
              <a:srgbClr val="D5DBE3"/>
            </a:solidFill>
            <a:prstDash val="solid"/>
          </a:ln>
        </p:spPr>
      </p:sp>
      <p:sp>
        <p:nvSpPr>
          <p:cNvPr id="13" name="Text 9"/>
          <p:cNvSpPr/>
          <p:nvPr/>
        </p:nvSpPr>
        <p:spPr>
          <a:xfrm>
            <a:off x="585216" y="2633472"/>
            <a:ext cx="2334768" cy="201168"/>
          </a:xfrm>
          <a:prstGeom prst="rect">
            <a:avLst/>
          </a:prstGeom>
          <a:noFill/>
          <a:ln/>
        </p:spPr>
        <p:txBody>
          <a:bodyPr wrap="square" lIns="0" tIns="0" rIns="0" bIns="0" rtlCol="0" anchor="ctr"/>
          <a:lstStyle/>
          <a:p>
            <a:pPr indent="0" marL="0">
              <a:buNone/>
            </a:pPr>
            <a:r>
              <a:rPr lang="en-US" sz="850" b="1" dirty="0">
                <a:solidFill>
                  <a:srgbClr val="4F5E71"/>
                </a:solidFill>
                <a:latin typeface="Calibri" pitchFamily="34" charset="0"/>
                <a:ea typeface="Calibri" pitchFamily="34" charset="-122"/>
                <a:cs typeface="Calibri" pitchFamily="34" charset="-120"/>
              </a:rPr>
              <a:t>/transaction-trace · token-flow page</a:t>
            </a:r>
            <a:endParaRPr lang="en-US" sz="850" dirty="0"/>
          </a:p>
        </p:txBody>
      </p:sp>
      <p:sp>
        <p:nvSpPr>
          <p:cNvPr id="14" name="Shape 10"/>
          <p:cNvSpPr/>
          <p:nvPr/>
        </p:nvSpPr>
        <p:spPr>
          <a:xfrm>
            <a:off x="3276600" y="1481328"/>
            <a:ext cx="2590800" cy="1417320"/>
          </a:xfrm>
          <a:prstGeom prst="rect">
            <a:avLst/>
          </a:prstGeom>
          <a:solidFill>
            <a:srgbClr val="FFFFFF"/>
          </a:solidFill>
          <a:ln w="9525">
            <a:solidFill>
              <a:srgbClr val="D5DBE3"/>
            </a:solidFill>
            <a:prstDash val="solid"/>
          </a:ln>
        </p:spPr>
      </p:sp>
      <p:sp>
        <p:nvSpPr>
          <p:cNvPr id="15" name="Shape 11"/>
          <p:cNvSpPr/>
          <p:nvPr/>
        </p:nvSpPr>
        <p:spPr>
          <a:xfrm>
            <a:off x="3404616" y="1591056"/>
            <a:ext cx="329184" cy="329184"/>
          </a:xfrm>
          <a:prstGeom prst="ellipse">
            <a:avLst/>
          </a:prstGeom>
          <a:solidFill>
            <a:srgbClr val="0B1A2E"/>
          </a:solidFill>
          <a:ln/>
        </p:spPr>
      </p:sp>
      <p:pic>
        <p:nvPicPr>
          <p:cNvPr id="16" name="Image 1" descr="preencoded.png"/>
          <p:cNvPicPr>
            <a:picLocks noChangeAspect="1"/>
          </p:cNvPicPr>
          <p:nvPr/>
        </p:nvPicPr>
        <p:blipFill>
          <a:blip r:embed="rId2"/>
          <a:stretch>
            <a:fillRect/>
          </a:stretch>
        </p:blipFill>
        <p:spPr>
          <a:xfrm>
            <a:off x="3493496" y="1679936"/>
            <a:ext cx="151425" cy="151425"/>
          </a:xfrm>
          <a:prstGeom prst="rect">
            <a:avLst/>
          </a:prstGeom>
        </p:spPr>
      </p:pic>
      <p:sp>
        <p:nvSpPr>
          <p:cNvPr id="17" name="Text 12"/>
          <p:cNvSpPr/>
          <p:nvPr/>
        </p:nvSpPr>
        <p:spPr>
          <a:xfrm>
            <a:off x="3825240" y="1591056"/>
            <a:ext cx="1950720" cy="329184"/>
          </a:xfrm>
          <a:prstGeom prst="rect">
            <a:avLst/>
          </a:prstGeom>
          <a:noFill/>
          <a:ln/>
        </p:spPr>
        <p:txBody>
          <a:bodyPr wrap="square" lIns="0" tIns="0" rIns="0" bIns="0" rtlCol="0" anchor="ctr"/>
          <a:lstStyle/>
          <a:p>
            <a:pPr indent="0" marL="0">
              <a:buNone/>
            </a:pPr>
            <a:r>
              <a:rPr lang="en-US" sz="1150" b="1" dirty="0">
                <a:solidFill>
                  <a:srgbClr val="0B1A2E"/>
                </a:solidFill>
                <a:latin typeface="Montserrat" pitchFamily="34" charset="0"/>
                <a:ea typeface="Montserrat" pitchFamily="34" charset="-122"/>
                <a:cs typeface="Montserrat" pitchFamily="34" charset="-120"/>
              </a:rPr>
              <a:t>Secret rotation</a:t>
            </a:r>
            <a:endParaRPr lang="en-US" sz="1150" dirty="0"/>
          </a:p>
        </p:txBody>
      </p:sp>
      <p:sp>
        <p:nvSpPr>
          <p:cNvPr id="18" name="Text 13"/>
          <p:cNvSpPr/>
          <p:nvPr/>
        </p:nvSpPr>
        <p:spPr>
          <a:xfrm>
            <a:off x="3404616" y="1993392"/>
            <a:ext cx="2371344" cy="585216"/>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/secret-rotation regenerates a secret</a:t>
            </a:r>
            <a:endParaRPr lang="en-US" sz="950" dirty="0"/>
          </a:p>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Writes the vault and .env</a:t>
            </a:r>
            <a:endParaRPr lang="en-US" sz="950" dirty="0"/>
          </a:p>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Old secret dies at once, no overlap</a:t>
            </a:r>
            <a:endParaRPr lang="en-US" sz="950" dirty="0"/>
          </a:p>
        </p:txBody>
      </p:sp>
      <p:sp>
        <p:nvSpPr>
          <p:cNvPr id="19" name="Shape 14"/>
          <p:cNvSpPr/>
          <p:nvPr/>
        </p:nvSpPr>
        <p:spPr>
          <a:xfrm>
            <a:off x="3404616" y="2606040"/>
            <a:ext cx="2334768" cy="0"/>
          </a:xfrm>
          <a:prstGeom prst="line">
            <a:avLst/>
          </a:prstGeom>
          <a:noFill/>
          <a:ln w="9525">
            <a:solidFill>
              <a:srgbClr val="D5DBE3"/>
            </a:solidFill>
            <a:prstDash val="solid"/>
          </a:ln>
        </p:spPr>
      </p:sp>
      <p:sp>
        <p:nvSpPr>
          <p:cNvPr id="20" name="Text 15"/>
          <p:cNvSpPr/>
          <p:nvPr/>
        </p:nvSpPr>
        <p:spPr>
          <a:xfrm>
            <a:off x="3404616" y="2633472"/>
            <a:ext cx="2334768" cy="201168"/>
          </a:xfrm>
          <a:prstGeom prst="rect">
            <a:avLst/>
          </a:prstGeom>
          <a:noFill/>
          <a:ln/>
        </p:spPr>
        <p:txBody>
          <a:bodyPr wrap="square" lIns="0" tIns="0" rIns="0" bIns="0" rtlCol="0" anchor="ctr"/>
          <a:lstStyle/>
          <a:p>
            <a:pPr indent="0" marL="0">
              <a:buNone/>
            </a:pPr>
            <a:r>
              <a:rPr lang="en-US" sz="850" b="1" dirty="0">
                <a:solidFill>
                  <a:srgbClr val="C8102E"/>
                </a:solidFill>
                <a:latin typeface="Calibri" pitchFamily="34" charset="0"/>
                <a:ea typeface="Calibri" pitchFamily="34" charset="-122"/>
                <a:cs typeface="Calibri" pitchFamily="34" charset="-120"/>
              </a:rPr>
              <a:t>Never rotate the PingOne Privilege app</a:t>
            </a:r>
            <a:endParaRPr lang="en-US" sz="850" dirty="0"/>
          </a:p>
        </p:txBody>
      </p:sp>
      <p:sp>
        <p:nvSpPr>
          <p:cNvPr id="21" name="Shape 16"/>
          <p:cNvSpPr/>
          <p:nvPr/>
        </p:nvSpPr>
        <p:spPr>
          <a:xfrm>
            <a:off x="6096000" y="1481328"/>
            <a:ext cx="2590800" cy="1417320"/>
          </a:xfrm>
          <a:prstGeom prst="rect">
            <a:avLst/>
          </a:prstGeom>
          <a:solidFill>
            <a:srgbClr val="FFFFFF"/>
          </a:solidFill>
          <a:ln w="9525">
            <a:solidFill>
              <a:srgbClr val="D5DBE3"/>
            </a:solidFill>
            <a:prstDash val="solid"/>
          </a:ln>
        </p:spPr>
      </p:sp>
      <p:sp>
        <p:nvSpPr>
          <p:cNvPr id="22" name="Shape 17"/>
          <p:cNvSpPr/>
          <p:nvPr/>
        </p:nvSpPr>
        <p:spPr>
          <a:xfrm>
            <a:off x="6224016" y="1591056"/>
            <a:ext cx="329184" cy="329184"/>
          </a:xfrm>
          <a:prstGeom prst="ellipse">
            <a:avLst/>
          </a:prstGeom>
          <a:solidFill>
            <a:srgbClr val="0B1A2E"/>
          </a:solidFill>
          <a:ln/>
        </p:spPr>
      </p:sp>
      <p:pic>
        <p:nvPicPr>
          <p:cNvPr id="23" name="Image 2" descr="preencoded.png"/>
          <p:cNvPicPr>
            <a:picLocks noChangeAspect="1"/>
          </p:cNvPicPr>
          <p:nvPr/>
        </p:nvPicPr>
        <p:blipFill>
          <a:blip r:embed="rId3"/>
          <a:stretch>
            <a:fillRect/>
          </a:stretch>
        </p:blipFill>
        <p:spPr>
          <a:xfrm>
            <a:off x="6312896" y="1679936"/>
            <a:ext cx="151425" cy="151425"/>
          </a:xfrm>
          <a:prstGeom prst="rect">
            <a:avLst/>
          </a:prstGeom>
        </p:spPr>
      </p:pic>
      <p:sp>
        <p:nvSpPr>
          <p:cNvPr id="24" name="Text 18"/>
          <p:cNvSpPr/>
          <p:nvPr/>
        </p:nvSpPr>
        <p:spPr>
          <a:xfrm>
            <a:off x="6644640" y="1591056"/>
            <a:ext cx="1950720" cy="329184"/>
          </a:xfrm>
          <a:prstGeom prst="rect">
            <a:avLst/>
          </a:prstGeom>
          <a:noFill/>
          <a:ln/>
        </p:spPr>
        <p:txBody>
          <a:bodyPr wrap="square" lIns="0" tIns="0" rIns="0" bIns="0" rtlCol="0" anchor="ctr"/>
          <a:lstStyle/>
          <a:p>
            <a:pPr indent="0" marL="0">
              <a:buNone/>
            </a:pPr>
            <a:r>
              <a:rPr lang="en-US" sz="1150" b="1" dirty="0">
                <a:solidFill>
                  <a:srgbClr val="0B1A2E"/>
                </a:solidFill>
                <a:latin typeface="Montserrat" pitchFamily="34" charset="0"/>
                <a:ea typeface="Montserrat" pitchFamily="34" charset="-122"/>
                <a:cs typeface="Montserrat" pitchFamily="34" charset="-120"/>
              </a:rPr>
              <a:t>Light and dark mode</a:t>
            </a:r>
            <a:endParaRPr lang="en-US" sz="1150" dirty="0"/>
          </a:p>
        </p:txBody>
      </p:sp>
      <p:sp>
        <p:nvSpPr>
          <p:cNvPr id="25" name="Text 19"/>
          <p:cNvSpPr/>
          <p:nvPr/>
        </p:nvSpPr>
        <p:spPr>
          <a:xfrm>
            <a:off x="6224016" y="1993392"/>
            <a:ext cx="2371344" cy="585216"/>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App-wide toggle, saved per browser</a:t>
            </a:r>
            <a:endParaRPr lang="en-US" sz="950" dirty="0"/>
          </a:p>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Theme tokens; ignores the OS setting</a:t>
            </a:r>
            <a:endParaRPr lang="en-US" sz="950" dirty="0"/>
          </a:p>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Ratchet test stops new light-only CSS</a:t>
            </a:r>
            <a:endParaRPr lang="en-US" sz="950" dirty="0"/>
          </a:p>
        </p:txBody>
      </p:sp>
      <p:sp>
        <p:nvSpPr>
          <p:cNvPr id="26" name="Shape 20"/>
          <p:cNvSpPr/>
          <p:nvPr/>
        </p:nvSpPr>
        <p:spPr>
          <a:xfrm>
            <a:off x="6224016" y="2606040"/>
            <a:ext cx="2334768" cy="0"/>
          </a:xfrm>
          <a:prstGeom prst="line">
            <a:avLst/>
          </a:prstGeom>
          <a:noFill/>
          <a:ln w="9525">
            <a:solidFill>
              <a:srgbClr val="D5DBE3"/>
            </a:solidFill>
            <a:prstDash val="solid"/>
          </a:ln>
        </p:spPr>
      </p:sp>
      <p:sp>
        <p:nvSpPr>
          <p:cNvPr id="27" name="Text 21"/>
          <p:cNvSpPr/>
          <p:nvPr/>
        </p:nvSpPr>
        <p:spPr>
          <a:xfrm>
            <a:off x="6224016" y="2633472"/>
            <a:ext cx="2334768" cy="201168"/>
          </a:xfrm>
          <a:prstGeom prst="rect">
            <a:avLst/>
          </a:prstGeom>
          <a:noFill/>
          <a:ln/>
        </p:spPr>
        <p:txBody>
          <a:bodyPr wrap="square" lIns="0" tIns="0" rIns="0" bIns="0" rtlCol="0" anchor="ctr"/>
          <a:lstStyle/>
          <a:p>
            <a:pPr indent="0" marL="0">
              <a:buNone/>
            </a:pPr>
            <a:r>
              <a:rPr lang="en-US" sz="850" b="1" dirty="0">
                <a:solidFill>
                  <a:srgbClr val="4F5E71"/>
                </a:solidFill>
                <a:latin typeface="Calibri" pitchFamily="34" charset="0"/>
                <a:ea typeface="Calibri" pitchFamily="34" charset="-122"/>
                <a:cs typeface="Calibri" pitchFamily="34" charset="-120"/>
              </a:rPr>
              <a:t>Rules: THEMING.md (H1–H3)</a:t>
            </a:r>
            <a:endParaRPr lang="en-US" sz="850" dirty="0"/>
          </a:p>
        </p:txBody>
      </p:sp>
      <p:sp>
        <p:nvSpPr>
          <p:cNvPr id="28" name="Shape 22"/>
          <p:cNvSpPr/>
          <p:nvPr/>
        </p:nvSpPr>
        <p:spPr>
          <a:xfrm>
            <a:off x="457200" y="3081528"/>
            <a:ext cx="2590800" cy="1417320"/>
          </a:xfrm>
          <a:prstGeom prst="rect">
            <a:avLst/>
          </a:prstGeom>
          <a:solidFill>
            <a:srgbClr val="FFFFFF"/>
          </a:solidFill>
          <a:ln w="9525">
            <a:solidFill>
              <a:srgbClr val="D5DBE3"/>
            </a:solidFill>
            <a:prstDash val="solid"/>
          </a:ln>
        </p:spPr>
      </p:sp>
      <p:sp>
        <p:nvSpPr>
          <p:cNvPr id="29" name="Shape 23"/>
          <p:cNvSpPr/>
          <p:nvPr/>
        </p:nvSpPr>
        <p:spPr>
          <a:xfrm>
            <a:off x="585216" y="3191256"/>
            <a:ext cx="329184" cy="329184"/>
          </a:xfrm>
          <a:prstGeom prst="ellipse">
            <a:avLst/>
          </a:prstGeom>
          <a:solidFill>
            <a:srgbClr val="0B1A2E"/>
          </a:solidFill>
          <a:ln/>
        </p:spPr>
      </p:sp>
      <p:pic>
        <p:nvPicPr>
          <p:cNvPr id="30" name="Image 3" descr="preencoded.png"/>
          <p:cNvPicPr>
            <a:picLocks noChangeAspect="1"/>
          </p:cNvPicPr>
          <p:nvPr/>
        </p:nvPicPr>
        <p:blipFill>
          <a:blip r:embed="rId4"/>
          <a:stretch>
            <a:fillRect/>
          </a:stretch>
        </p:blipFill>
        <p:spPr>
          <a:xfrm>
            <a:off x="674096" y="3280136"/>
            <a:ext cx="151425" cy="151425"/>
          </a:xfrm>
          <a:prstGeom prst="rect">
            <a:avLst/>
          </a:prstGeom>
        </p:spPr>
      </p:pic>
      <p:sp>
        <p:nvSpPr>
          <p:cNvPr id="31" name="Text 24"/>
          <p:cNvSpPr/>
          <p:nvPr/>
        </p:nvSpPr>
        <p:spPr>
          <a:xfrm>
            <a:off x="1005840" y="3191256"/>
            <a:ext cx="1950720" cy="329184"/>
          </a:xfrm>
          <a:prstGeom prst="rect">
            <a:avLst/>
          </a:prstGeom>
          <a:noFill/>
          <a:ln/>
        </p:spPr>
        <p:txBody>
          <a:bodyPr wrap="square" lIns="0" tIns="0" rIns="0" bIns="0" rtlCol="0" anchor="ctr"/>
          <a:lstStyle/>
          <a:p>
            <a:pPr indent="0" marL="0">
              <a:buNone/>
            </a:pPr>
            <a:r>
              <a:rPr lang="en-US" sz="1150" b="1" dirty="0">
                <a:solidFill>
                  <a:srgbClr val="0B1A2E"/>
                </a:solidFill>
                <a:latin typeface="Montserrat" pitchFamily="34" charset="0"/>
                <a:ea typeface="Montserrat" pitchFamily="34" charset="-122"/>
                <a:cs typeface="Montserrat" pitchFamily="34" charset="-120"/>
              </a:rPr>
              <a:t>Sessions</a:t>
            </a:r>
            <a:endParaRPr lang="en-US" sz="1150" dirty="0"/>
          </a:p>
        </p:txBody>
      </p:sp>
      <p:sp>
        <p:nvSpPr>
          <p:cNvPr id="32" name="Text 25"/>
          <p:cNvSpPr/>
          <p:nvPr/>
        </p:nvSpPr>
        <p:spPr>
          <a:xfrm>
            <a:off x="585216" y="3593592"/>
            <a:ext cx="2371344" cy="585216"/>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Browser holds an httpOnly cookie only</a:t>
            </a:r>
            <a:endParaRPr lang="en-US" sz="950" dirty="0"/>
          </a:p>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Tokens refresh near expiry, in the BFF</a:t>
            </a:r>
            <a:endParaRPr lang="en-US" sz="950" dirty="0"/>
          </a:p>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Logout revokes tokens and PingOne SSO</a:t>
            </a:r>
            <a:endParaRPr lang="en-US" sz="950" dirty="0"/>
          </a:p>
        </p:txBody>
      </p:sp>
      <p:sp>
        <p:nvSpPr>
          <p:cNvPr id="33" name="Shape 26"/>
          <p:cNvSpPr/>
          <p:nvPr/>
        </p:nvSpPr>
        <p:spPr>
          <a:xfrm>
            <a:off x="585216" y="4206240"/>
            <a:ext cx="2334768" cy="0"/>
          </a:xfrm>
          <a:prstGeom prst="line">
            <a:avLst/>
          </a:prstGeom>
          <a:noFill/>
          <a:ln w="9525">
            <a:solidFill>
              <a:srgbClr val="D5DBE3"/>
            </a:solidFill>
            <a:prstDash val="solid"/>
          </a:ln>
        </p:spPr>
      </p:sp>
      <p:sp>
        <p:nvSpPr>
          <p:cNvPr id="34" name="Text 27"/>
          <p:cNvSpPr/>
          <p:nvPr/>
        </p:nvSpPr>
        <p:spPr>
          <a:xfrm>
            <a:off x="585216" y="4233672"/>
            <a:ext cx="2334768" cy="201168"/>
          </a:xfrm>
          <a:prstGeom prst="rect">
            <a:avLst/>
          </a:prstGeom>
          <a:noFill/>
          <a:ln/>
        </p:spPr>
        <p:txBody>
          <a:bodyPr wrap="square" lIns="0" tIns="0" rIns="0" bIns="0" rtlCol="0" anchor="ctr"/>
          <a:lstStyle/>
          <a:p>
            <a:pPr indent="0" marL="0">
              <a:buNone/>
            </a:pPr>
            <a:r>
              <a:rPr lang="en-US" sz="850" b="1" dirty="0">
                <a:solidFill>
                  <a:srgbClr val="4F5E71"/>
                </a:solidFill>
                <a:latin typeface="Calibri" pitchFamily="34" charset="0"/>
                <a:ea typeface="Calibri" pitchFamily="34" charset="-122"/>
                <a:cs typeface="Calibri" pitchFamily="34" charset="-120"/>
              </a:rPr>
              <a:t>Kill switch: /ai-control-plane</a:t>
            </a:r>
            <a:endParaRPr lang="en-US" sz="850" dirty="0"/>
          </a:p>
        </p:txBody>
      </p:sp>
      <p:sp>
        <p:nvSpPr>
          <p:cNvPr id="35" name="Shape 28"/>
          <p:cNvSpPr/>
          <p:nvPr/>
        </p:nvSpPr>
        <p:spPr>
          <a:xfrm>
            <a:off x="3276600" y="3081528"/>
            <a:ext cx="2590800" cy="1417320"/>
          </a:xfrm>
          <a:prstGeom prst="rect">
            <a:avLst/>
          </a:prstGeom>
          <a:solidFill>
            <a:srgbClr val="FFFFFF"/>
          </a:solidFill>
          <a:ln w="9525">
            <a:solidFill>
              <a:srgbClr val="D5DBE3"/>
            </a:solidFill>
            <a:prstDash val="solid"/>
          </a:ln>
        </p:spPr>
      </p:sp>
      <p:sp>
        <p:nvSpPr>
          <p:cNvPr id="36" name="Shape 29"/>
          <p:cNvSpPr/>
          <p:nvPr/>
        </p:nvSpPr>
        <p:spPr>
          <a:xfrm>
            <a:off x="3404616" y="3191256"/>
            <a:ext cx="329184" cy="329184"/>
          </a:xfrm>
          <a:prstGeom prst="ellipse">
            <a:avLst/>
          </a:prstGeom>
          <a:solidFill>
            <a:srgbClr val="0B1A2E"/>
          </a:solidFill>
          <a:ln/>
        </p:spPr>
      </p:sp>
      <p:pic>
        <p:nvPicPr>
          <p:cNvPr id="37" name="Image 4" descr="preencoded.png"/>
          <p:cNvPicPr>
            <a:picLocks noChangeAspect="1"/>
          </p:cNvPicPr>
          <p:nvPr/>
        </p:nvPicPr>
        <p:blipFill>
          <a:blip r:embed="rId5"/>
          <a:stretch>
            <a:fillRect/>
          </a:stretch>
        </p:blipFill>
        <p:spPr>
          <a:xfrm>
            <a:off x="3493496" y="3280136"/>
            <a:ext cx="151425" cy="151425"/>
          </a:xfrm>
          <a:prstGeom prst="rect">
            <a:avLst/>
          </a:prstGeom>
        </p:spPr>
      </p:pic>
      <p:sp>
        <p:nvSpPr>
          <p:cNvPr id="38" name="Text 30"/>
          <p:cNvSpPr/>
          <p:nvPr/>
        </p:nvSpPr>
        <p:spPr>
          <a:xfrm>
            <a:off x="3825240" y="3191256"/>
            <a:ext cx="1950720" cy="329184"/>
          </a:xfrm>
          <a:prstGeom prst="rect">
            <a:avLst/>
          </a:prstGeom>
          <a:noFill/>
          <a:ln/>
        </p:spPr>
        <p:txBody>
          <a:bodyPr wrap="square" lIns="0" tIns="0" rIns="0" bIns="0" rtlCol="0" anchor="ctr"/>
          <a:lstStyle/>
          <a:p>
            <a:pPr indent="0" marL="0">
              <a:buNone/>
            </a:pPr>
            <a:r>
              <a:rPr lang="en-US" sz="1150" b="1" dirty="0">
                <a:solidFill>
                  <a:srgbClr val="0B1A2E"/>
                </a:solidFill>
                <a:latin typeface="Montserrat" pitchFamily="34" charset="0"/>
                <a:ea typeface="Montserrat" pitchFamily="34" charset="-122"/>
                <a:cs typeface="Montserrat" pitchFamily="34" charset="-120"/>
              </a:rPr>
              <a:t>User login</a:t>
            </a:r>
            <a:endParaRPr lang="en-US" sz="1150" dirty="0"/>
          </a:p>
        </p:txBody>
      </p:sp>
      <p:sp>
        <p:nvSpPr>
          <p:cNvPr id="39" name="Text 31"/>
          <p:cNvSpPr/>
          <p:nvPr/>
        </p:nvSpPr>
        <p:spPr>
          <a:xfrm>
            <a:off x="3404616" y="3593592"/>
            <a:ext cx="2371344" cy="585216"/>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PKCE-only public client, no secret</a:t>
            </a:r>
            <a:endParaRPr lang="en-US" sz="950" dirty="0"/>
          </a:p>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Passkeys, plus MFA step-up on 428</a:t>
            </a:r>
            <a:endParaRPr lang="en-US" sz="950" dirty="0"/>
          </a:p>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Widget, DaVinci SDK and OIDC SDK pages</a:t>
            </a:r>
            <a:endParaRPr lang="en-US" sz="950" dirty="0"/>
          </a:p>
        </p:txBody>
      </p:sp>
      <p:sp>
        <p:nvSpPr>
          <p:cNvPr id="40" name="Shape 32"/>
          <p:cNvSpPr/>
          <p:nvPr/>
        </p:nvSpPr>
        <p:spPr>
          <a:xfrm>
            <a:off x="3404616" y="4206240"/>
            <a:ext cx="2334768" cy="0"/>
          </a:xfrm>
          <a:prstGeom prst="line">
            <a:avLst/>
          </a:prstGeom>
          <a:noFill/>
          <a:ln w="9525">
            <a:solidFill>
              <a:srgbClr val="D5DBE3"/>
            </a:solidFill>
            <a:prstDash val="solid"/>
          </a:ln>
        </p:spPr>
      </p:sp>
      <p:sp>
        <p:nvSpPr>
          <p:cNvPr id="41" name="Text 33"/>
          <p:cNvSpPr/>
          <p:nvPr/>
        </p:nvSpPr>
        <p:spPr>
          <a:xfrm>
            <a:off x="3404616" y="4233672"/>
            <a:ext cx="2334768" cy="201168"/>
          </a:xfrm>
          <a:prstGeom prst="rect">
            <a:avLst/>
          </a:prstGeom>
          <a:noFill/>
          <a:ln/>
        </p:spPr>
        <p:txBody>
          <a:bodyPr wrap="square" lIns="0" tIns="0" rIns="0" bIns="0" rtlCol="0" anchor="ctr"/>
          <a:lstStyle/>
          <a:p>
            <a:pPr indent="0" marL="0">
              <a:buNone/>
            </a:pPr>
            <a:r>
              <a:rPr lang="en-US" sz="850" b="1" dirty="0">
                <a:solidFill>
                  <a:srgbClr val="4F5E71"/>
                </a:solidFill>
                <a:latin typeface="Calibri" pitchFamily="34" charset="0"/>
                <a:ea typeface="Calibri" pitchFamily="34" charset="-122"/>
                <a:cs typeface="Calibri" pitchFamily="34" charset="-120"/>
              </a:rPr>
              <a:t>Only on local.ping-devops.com:4000</a:t>
            </a:r>
            <a:endParaRPr lang="en-US" sz="850" dirty="0"/>
          </a:p>
        </p:txBody>
      </p:sp>
      <p:sp>
        <p:nvSpPr>
          <p:cNvPr id="42" name="Shape 34"/>
          <p:cNvSpPr/>
          <p:nvPr/>
        </p:nvSpPr>
        <p:spPr>
          <a:xfrm>
            <a:off x="6096000" y="3081528"/>
            <a:ext cx="2590800" cy="1417320"/>
          </a:xfrm>
          <a:prstGeom prst="rect">
            <a:avLst/>
          </a:prstGeom>
          <a:solidFill>
            <a:srgbClr val="FFFFFF"/>
          </a:solidFill>
          <a:ln w="9525">
            <a:solidFill>
              <a:srgbClr val="D5DBE3"/>
            </a:solidFill>
            <a:prstDash val="solid"/>
          </a:ln>
        </p:spPr>
      </p:sp>
      <p:sp>
        <p:nvSpPr>
          <p:cNvPr id="43" name="Shape 35"/>
          <p:cNvSpPr/>
          <p:nvPr/>
        </p:nvSpPr>
        <p:spPr>
          <a:xfrm>
            <a:off x="6224016" y="3191256"/>
            <a:ext cx="329184" cy="329184"/>
          </a:xfrm>
          <a:prstGeom prst="ellipse">
            <a:avLst/>
          </a:prstGeom>
          <a:solidFill>
            <a:srgbClr val="0B1A2E"/>
          </a:solidFill>
          <a:ln/>
        </p:spPr>
      </p:sp>
      <p:pic>
        <p:nvPicPr>
          <p:cNvPr id="44" name="Image 5" descr="preencoded.png"/>
          <p:cNvPicPr>
            <a:picLocks noChangeAspect="1"/>
          </p:cNvPicPr>
          <p:nvPr/>
        </p:nvPicPr>
        <p:blipFill>
          <a:blip r:embed="rId6"/>
          <a:stretch>
            <a:fillRect/>
          </a:stretch>
        </p:blipFill>
        <p:spPr>
          <a:xfrm>
            <a:off x="6312896" y="3280136"/>
            <a:ext cx="151425" cy="151425"/>
          </a:xfrm>
          <a:prstGeom prst="rect">
            <a:avLst/>
          </a:prstGeom>
        </p:spPr>
      </p:pic>
      <p:sp>
        <p:nvSpPr>
          <p:cNvPr id="45" name="Text 36"/>
          <p:cNvSpPr/>
          <p:nvPr/>
        </p:nvSpPr>
        <p:spPr>
          <a:xfrm>
            <a:off x="6644640" y="3191256"/>
            <a:ext cx="1950720" cy="329184"/>
          </a:xfrm>
          <a:prstGeom prst="rect">
            <a:avLst/>
          </a:prstGeom>
          <a:noFill/>
          <a:ln/>
        </p:spPr>
        <p:txBody>
          <a:bodyPr wrap="square" lIns="0" tIns="0" rIns="0" bIns="0" rtlCol="0" anchor="ctr"/>
          <a:lstStyle/>
          <a:p>
            <a:pPr indent="0" marL="0">
              <a:buNone/>
            </a:pPr>
            <a:r>
              <a:rPr lang="en-US" sz="1150" b="1" dirty="0">
                <a:solidFill>
                  <a:srgbClr val="0B1A2E"/>
                </a:solidFill>
                <a:latin typeface="Montserrat" pitchFamily="34" charset="0"/>
                <a:ea typeface="Montserrat" pitchFamily="34" charset="-122"/>
                <a:cs typeface="Montserrat" pitchFamily="34" charset="-120"/>
              </a:rPr>
              <a:t>Admin login</a:t>
            </a:r>
            <a:endParaRPr lang="en-US" sz="1150" dirty="0"/>
          </a:p>
        </p:txBody>
      </p:sp>
      <p:sp>
        <p:nvSpPr>
          <p:cNvPr id="46" name="Text 37"/>
          <p:cNvSpPr/>
          <p:nvPr/>
        </p:nvSpPr>
        <p:spPr>
          <a:xfrm>
            <a:off x="6224016" y="3593592"/>
            <a:ext cx="2371344" cy="585216"/>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Own app: Demo AI App - Admin Login</a:t>
            </a:r>
            <a:endParaRPr lang="en-US" sz="950" dirty="0"/>
          </a:p>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Admin role re-checked at every login</a:t>
            </a:r>
            <a:endParaRPr lang="en-US" sz="950" dirty="0"/>
          </a:p>
          <a:p>
            <a:pPr marL="127000" indent="-127000">
              <a:spcAft>
                <a:spcPts val="300"/>
              </a:spcAft>
              <a:buSzPct val="100000"/>
              <a:buChar char="•"/>
            </a:pPr>
            <a:r>
              <a:rPr lang="en-US" sz="950" dirty="0">
                <a:solidFill>
                  <a:srgbClr val="0B1A2E"/>
                </a:solidFill>
                <a:latin typeface="Calibri" pitchFamily="34" charset="0"/>
                <a:ea typeface="Calibri" pitchFamily="34" charset="-122"/>
                <a:cs typeface="Calibri" pitchFamily="34" charset="-120"/>
              </a:rPr>
              <a:t>Flags, config, audit, ADMIN steps</a:t>
            </a:r>
            <a:endParaRPr lang="en-US" sz="950" dirty="0"/>
          </a:p>
        </p:txBody>
      </p:sp>
      <p:sp>
        <p:nvSpPr>
          <p:cNvPr id="47" name="Shape 38"/>
          <p:cNvSpPr/>
          <p:nvPr/>
        </p:nvSpPr>
        <p:spPr>
          <a:xfrm>
            <a:off x="6224016" y="4206240"/>
            <a:ext cx="2334768" cy="0"/>
          </a:xfrm>
          <a:prstGeom prst="line">
            <a:avLst/>
          </a:prstGeom>
          <a:noFill/>
          <a:ln w="9525">
            <a:solidFill>
              <a:srgbClr val="D5DBE3"/>
            </a:solidFill>
            <a:prstDash val="solid"/>
          </a:ln>
        </p:spPr>
      </p:sp>
      <p:sp>
        <p:nvSpPr>
          <p:cNvPr id="48" name="Text 39"/>
          <p:cNvSpPr/>
          <p:nvPr/>
        </p:nvSpPr>
        <p:spPr>
          <a:xfrm>
            <a:off x="6224016" y="4233672"/>
            <a:ext cx="2334768" cy="201168"/>
          </a:xfrm>
          <a:prstGeom prst="rect">
            <a:avLst/>
          </a:prstGeom>
          <a:noFill/>
          <a:ln/>
        </p:spPr>
        <p:txBody>
          <a:bodyPr wrap="square" lIns="0" tIns="0" rIns="0" bIns="0" rtlCol="0" anchor="ctr"/>
          <a:lstStyle/>
          <a:p>
            <a:pPr indent="0" marL="0">
              <a:buNone/>
            </a:pPr>
            <a:r>
              <a:rPr lang="en-US" sz="850" b="1" dirty="0">
                <a:solidFill>
                  <a:srgbClr val="4F5E71"/>
                </a:solidFill>
                <a:latin typeface="Calibri" pitchFamily="34" charset="0"/>
                <a:ea typeface="Calibri" pitchFamily="34" charset="-122"/>
                <a:cs typeface="Calibri" pitchFamily="34" charset="-120"/>
              </a:rPr>
              <a:t>Gates: auth-requirements.json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13  ·  VAULT AND OPEN SOURCE</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Secrets sit in one encrypted vault, and the AI stack around it is mostly open source</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457200" y="1481328"/>
            <a:ext cx="3886200" cy="3017520"/>
          </a:xfrm>
          <a:prstGeom prst="rect">
            <a:avLst/>
          </a:prstGeom>
          <a:solidFill>
            <a:srgbClr val="FFFFFF"/>
          </a:solidFill>
          <a:ln w="9525">
            <a:solidFill>
              <a:srgbClr val="D5DBE3"/>
            </a:solidFill>
            <a:prstDash val="solid"/>
          </a:ln>
        </p:spPr>
      </p:sp>
      <p:sp>
        <p:nvSpPr>
          <p:cNvPr id="8" name="Text 5"/>
          <p:cNvSpPr/>
          <p:nvPr/>
        </p:nvSpPr>
        <p:spPr>
          <a:xfrm>
            <a:off x="658368" y="1627632"/>
            <a:ext cx="3566160" cy="201168"/>
          </a:xfrm>
          <a:prstGeom prst="rect">
            <a:avLst/>
          </a:prstGeom>
          <a:noFill/>
          <a:ln/>
        </p:spPr>
        <p:txBody>
          <a:bodyPr wrap="square" lIns="0" tIns="0" rIns="0" bIns="0" rtlCol="0" anchor="t"/>
          <a:lstStyle/>
          <a:p>
            <a:pPr indent="0" marL="0">
              <a:buNone/>
            </a:pPr>
            <a:r>
              <a:rPr lang="en-US" sz="900" b="1" spc="200" kern="0" dirty="0">
                <a:solidFill>
                  <a:srgbClr val="4F5E71"/>
                </a:solidFill>
                <a:latin typeface="Montserrat" pitchFamily="34" charset="0"/>
                <a:ea typeface="Montserrat" pitchFamily="34" charset="-122"/>
                <a:cs typeface="Montserrat" pitchFamily="34" charset="-120"/>
              </a:rPr>
              <a:t>SECRETS VAULT</a:t>
            </a:r>
            <a:endParaRPr lang="en-US" sz="900" dirty="0"/>
          </a:p>
        </p:txBody>
      </p:sp>
      <p:sp>
        <p:nvSpPr>
          <p:cNvPr id="9" name="Shape 6"/>
          <p:cNvSpPr/>
          <p:nvPr/>
        </p:nvSpPr>
        <p:spPr>
          <a:xfrm>
            <a:off x="658368" y="1947672"/>
            <a:ext cx="201168" cy="201168"/>
          </a:xfrm>
          <a:prstGeom prst="ellipse">
            <a:avLst/>
          </a:prstGeom>
          <a:solidFill>
            <a:srgbClr val="C8102E"/>
          </a:solidFill>
          <a:ln/>
        </p:spPr>
      </p:sp>
      <p:sp>
        <p:nvSpPr>
          <p:cNvPr id="10" name="Text 7"/>
          <p:cNvSpPr/>
          <p:nvPr/>
        </p:nvSpPr>
        <p:spPr>
          <a:xfrm>
            <a:off x="658368" y="194767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1</a:t>
            </a:r>
            <a:endParaRPr lang="en-US" sz="800" dirty="0"/>
          </a:p>
        </p:txBody>
      </p:sp>
      <p:sp>
        <p:nvSpPr>
          <p:cNvPr id="11" name="Text 8"/>
          <p:cNvSpPr/>
          <p:nvPr/>
        </p:nvSpPr>
        <p:spPr>
          <a:xfrm>
            <a:off x="950976" y="1920240"/>
            <a:ext cx="713232" cy="256032"/>
          </a:xfrm>
          <a:prstGeom prst="rect">
            <a:avLst/>
          </a:prstGeom>
          <a:noFill/>
          <a:ln/>
        </p:spPr>
        <p:txBody>
          <a:bodyPr wrap="square" lIns="0" tIns="0" rIns="0" bIns="0" rtlCol="0" anchor="ctr"/>
          <a:lstStyle/>
          <a:p>
            <a:pPr indent="0" marL="0">
              <a:buNone/>
            </a:pPr>
            <a:r>
              <a:rPr lang="en-US" sz="1000" b="1" dirty="0">
                <a:solidFill>
                  <a:srgbClr val="0B1A2E"/>
                </a:solidFill>
                <a:latin typeface="Calibri" pitchFamily="34" charset="0"/>
                <a:ea typeface="Calibri" pitchFamily="34" charset="-122"/>
                <a:cs typeface="Calibri" pitchFamily="34" charset="-120"/>
              </a:rPr>
              <a:t>Store</a:t>
            </a:r>
            <a:endParaRPr lang="en-US" sz="1000" dirty="0"/>
          </a:p>
        </p:txBody>
      </p:sp>
      <p:sp>
        <p:nvSpPr>
          <p:cNvPr id="12" name="Text 9"/>
          <p:cNvSpPr/>
          <p:nvPr/>
        </p:nvSpPr>
        <p:spPr>
          <a:xfrm>
            <a:off x="1664208" y="1920240"/>
            <a:ext cx="2606040" cy="256032"/>
          </a:xfrm>
          <a:prstGeom prst="rect">
            <a:avLst/>
          </a:prstGeom>
          <a:noFill/>
          <a:ln/>
        </p:spPr>
        <p:txBody>
          <a:bodyPr wrap="square" lIns="0" tIns="0" rIns="0" bIns="0" rtlCol="0" anchor="ctr"/>
          <a:lstStyle/>
          <a:p>
            <a:pPr indent="0" marL="0">
              <a:buNone/>
            </a:pPr>
            <a:r>
              <a:rPr lang="en-US" sz="1000" dirty="0">
                <a:solidFill>
                  <a:srgbClr val="0B1A2E"/>
                </a:solidFill>
                <a:latin typeface="Calibri" pitchFamily="34" charset="0"/>
                <a:ea typeface="Calibri" pitchFamily="34" charset="-122"/>
                <a:cs typeface="Calibri" pitchFamily="34" charset="-120"/>
              </a:rPr>
              <a:t>vault:set writes secrets.vault</a:t>
            </a:r>
            <a:endParaRPr lang="en-US" sz="1000" dirty="0"/>
          </a:p>
        </p:txBody>
      </p:sp>
      <p:sp>
        <p:nvSpPr>
          <p:cNvPr id="13" name="Shape 10"/>
          <p:cNvSpPr/>
          <p:nvPr/>
        </p:nvSpPr>
        <p:spPr>
          <a:xfrm>
            <a:off x="658368" y="2286000"/>
            <a:ext cx="201168" cy="201168"/>
          </a:xfrm>
          <a:prstGeom prst="ellipse">
            <a:avLst/>
          </a:prstGeom>
          <a:solidFill>
            <a:srgbClr val="C8102E"/>
          </a:solidFill>
          <a:ln/>
        </p:spPr>
      </p:sp>
      <p:sp>
        <p:nvSpPr>
          <p:cNvPr id="14" name="Text 11"/>
          <p:cNvSpPr/>
          <p:nvPr/>
        </p:nvSpPr>
        <p:spPr>
          <a:xfrm>
            <a:off x="658368" y="2286000"/>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2</a:t>
            </a:r>
            <a:endParaRPr lang="en-US" sz="800" dirty="0"/>
          </a:p>
        </p:txBody>
      </p:sp>
      <p:sp>
        <p:nvSpPr>
          <p:cNvPr id="15" name="Text 12"/>
          <p:cNvSpPr/>
          <p:nvPr/>
        </p:nvSpPr>
        <p:spPr>
          <a:xfrm>
            <a:off x="950976" y="2258568"/>
            <a:ext cx="713232" cy="256032"/>
          </a:xfrm>
          <a:prstGeom prst="rect">
            <a:avLst/>
          </a:prstGeom>
          <a:noFill/>
          <a:ln/>
        </p:spPr>
        <p:txBody>
          <a:bodyPr wrap="square" lIns="0" tIns="0" rIns="0" bIns="0" rtlCol="0" anchor="ctr"/>
          <a:lstStyle/>
          <a:p>
            <a:pPr indent="0" marL="0">
              <a:buNone/>
            </a:pPr>
            <a:r>
              <a:rPr lang="en-US" sz="1000" b="1" dirty="0">
                <a:solidFill>
                  <a:srgbClr val="0B1A2E"/>
                </a:solidFill>
                <a:latin typeface="Calibri" pitchFamily="34" charset="0"/>
                <a:ea typeface="Calibri" pitchFamily="34" charset="-122"/>
                <a:cs typeface="Calibri" pitchFamily="34" charset="-120"/>
              </a:rPr>
              <a:t>Unlock</a:t>
            </a:r>
            <a:endParaRPr lang="en-US" sz="1000" dirty="0"/>
          </a:p>
        </p:txBody>
      </p:sp>
      <p:sp>
        <p:nvSpPr>
          <p:cNvPr id="16" name="Text 13"/>
          <p:cNvSpPr/>
          <p:nvPr/>
        </p:nvSpPr>
        <p:spPr>
          <a:xfrm>
            <a:off x="1664208" y="2258568"/>
            <a:ext cx="2606040" cy="256032"/>
          </a:xfrm>
          <a:prstGeom prst="rect">
            <a:avLst/>
          </a:prstGeom>
          <a:noFill/>
          <a:ln/>
        </p:spPr>
        <p:txBody>
          <a:bodyPr wrap="square" lIns="0" tIns="0" rIns="0" bIns="0" rtlCol="0" anchor="ctr"/>
          <a:lstStyle/>
          <a:p>
            <a:pPr indent="0" marL="0">
              <a:buNone/>
            </a:pPr>
            <a:r>
              <a:rPr lang="en-US" sz="1000" dirty="0">
                <a:solidFill>
                  <a:srgbClr val="0B1A2E"/>
                </a:solidFill>
                <a:latin typeface="Calibri" pitchFamily="34" charset="0"/>
                <a:ea typeface="Calibri" pitchFamily="34" charset="-122"/>
                <a:cs typeface="Calibri" pitchFamily="34" charset="-120"/>
              </a:rPr>
              <a:t>VAULT_PASSWORD from the BFF .env</a:t>
            </a:r>
            <a:endParaRPr lang="en-US" sz="1000" dirty="0"/>
          </a:p>
        </p:txBody>
      </p:sp>
      <p:sp>
        <p:nvSpPr>
          <p:cNvPr id="17" name="Shape 14"/>
          <p:cNvSpPr/>
          <p:nvPr/>
        </p:nvSpPr>
        <p:spPr>
          <a:xfrm>
            <a:off x="658368" y="2624328"/>
            <a:ext cx="201168" cy="201168"/>
          </a:xfrm>
          <a:prstGeom prst="ellipse">
            <a:avLst/>
          </a:prstGeom>
          <a:solidFill>
            <a:srgbClr val="C8102E"/>
          </a:solidFill>
          <a:ln/>
        </p:spPr>
      </p:sp>
      <p:sp>
        <p:nvSpPr>
          <p:cNvPr id="18" name="Text 15"/>
          <p:cNvSpPr/>
          <p:nvPr/>
        </p:nvSpPr>
        <p:spPr>
          <a:xfrm>
            <a:off x="658368" y="2624328"/>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3</a:t>
            </a:r>
            <a:endParaRPr lang="en-US" sz="800" dirty="0"/>
          </a:p>
        </p:txBody>
      </p:sp>
      <p:sp>
        <p:nvSpPr>
          <p:cNvPr id="19" name="Text 16"/>
          <p:cNvSpPr/>
          <p:nvPr/>
        </p:nvSpPr>
        <p:spPr>
          <a:xfrm>
            <a:off x="950976" y="2596896"/>
            <a:ext cx="713232" cy="256032"/>
          </a:xfrm>
          <a:prstGeom prst="rect">
            <a:avLst/>
          </a:prstGeom>
          <a:noFill/>
          <a:ln/>
        </p:spPr>
        <p:txBody>
          <a:bodyPr wrap="square" lIns="0" tIns="0" rIns="0" bIns="0" rtlCol="0" anchor="ctr"/>
          <a:lstStyle/>
          <a:p>
            <a:pPr indent="0" marL="0">
              <a:buNone/>
            </a:pPr>
            <a:r>
              <a:rPr lang="en-US" sz="1000" b="1" dirty="0">
                <a:solidFill>
                  <a:srgbClr val="0B1A2E"/>
                </a:solidFill>
                <a:latin typeface="Calibri" pitchFamily="34" charset="0"/>
                <a:ea typeface="Calibri" pitchFamily="34" charset="-122"/>
                <a:cs typeface="Calibri" pitchFamily="34" charset="-120"/>
              </a:rPr>
              <a:t>Boot</a:t>
            </a:r>
            <a:endParaRPr lang="en-US" sz="1000" dirty="0"/>
          </a:p>
        </p:txBody>
      </p:sp>
      <p:sp>
        <p:nvSpPr>
          <p:cNvPr id="20" name="Text 17"/>
          <p:cNvSpPr/>
          <p:nvPr/>
        </p:nvSpPr>
        <p:spPr>
          <a:xfrm>
            <a:off x="1664208" y="2596896"/>
            <a:ext cx="2606040" cy="256032"/>
          </a:xfrm>
          <a:prstGeom prst="rect">
            <a:avLst/>
          </a:prstGeom>
          <a:noFill/>
          <a:ln/>
        </p:spPr>
        <p:txBody>
          <a:bodyPr wrap="square" lIns="0" tIns="0" rIns="0" bIns="0" rtlCol="0" anchor="ctr"/>
          <a:lstStyle/>
          <a:p>
            <a:pPr indent="0" marL="0">
              <a:buNone/>
            </a:pPr>
            <a:r>
              <a:rPr lang="en-US" sz="1000" dirty="0">
                <a:solidFill>
                  <a:srgbClr val="0B1A2E"/>
                </a:solidFill>
                <a:latin typeface="Calibri" pitchFamily="34" charset="0"/>
                <a:ea typeface="Calibri" pitchFamily="34" charset="-122"/>
                <a:cs typeface="Calibri" pitchFamily="34" charset="-120"/>
              </a:rPr>
              <a:t>loaded into memory, password dropped</a:t>
            </a:r>
            <a:endParaRPr lang="en-US" sz="1000" dirty="0"/>
          </a:p>
        </p:txBody>
      </p:sp>
      <p:sp>
        <p:nvSpPr>
          <p:cNvPr id="21" name="Shape 18"/>
          <p:cNvSpPr/>
          <p:nvPr/>
        </p:nvSpPr>
        <p:spPr>
          <a:xfrm>
            <a:off x="658368" y="2962656"/>
            <a:ext cx="201168" cy="201168"/>
          </a:xfrm>
          <a:prstGeom prst="ellipse">
            <a:avLst/>
          </a:prstGeom>
          <a:solidFill>
            <a:srgbClr val="C8102E"/>
          </a:solidFill>
          <a:ln/>
        </p:spPr>
      </p:sp>
      <p:sp>
        <p:nvSpPr>
          <p:cNvPr id="22" name="Text 19"/>
          <p:cNvSpPr/>
          <p:nvPr/>
        </p:nvSpPr>
        <p:spPr>
          <a:xfrm>
            <a:off x="658368" y="2962656"/>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4</a:t>
            </a:r>
            <a:endParaRPr lang="en-US" sz="800" dirty="0"/>
          </a:p>
        </p:txBody>
      </p:sp>
      <p:sp>
        <p:nvSpPr>
          <p:cNvPr id="23" name="Text 20"/>
          <p:cNvSpPr/>
          <p:nvPr/>
        </p:nvSpPr>
        <p:spPr>
          <a:xfrm>
            <a:off x="950976" y="2935224"/>
            <a:ext cx="713232" cy="256032"/>
          </a:xfrm>
          <a:prstGeom prst="rect">
            <a:avLst/>
          </a:prstGeom>
          <a:noFill/>
          <a:ln/>
        </p:spPr>
        <p:txBody>
          <a:bodyPr wrap="square" lIns="0" tIns="0" rIns="0" bIns="0" rtlCol="0" anchor="ctr"/>
          <a:lstStyle/>
          <a:p>
            <a:pPr indent="0" marL="0">
              <a:buNone/>
            </a:pPr>
            <a:r>
              <a:rPr lang="en-US" sz="1000" b="1" dirty="0">
                <a:solidFill>
                  <a:srgbClr val="0B1A2E"/>
                </a:solidFill>
                <a:latin typeface="Calibri" pitchFamily="34" charset="0"/>
                <a:ea typeface="Calibri" pitchFamily="34" charset="-122"/>
                <a:cs typeface="Calibri" pitchFamily="34" charset="-120"/>
              </a:rPr>
              <a:t>Resolve</a:t>
            </a:r>
            <a:endParaRPr lang="en-US" sz="1000" dirty="0"/>
          </a:p>
        </p:txBody>
      </p:sp>
      <p:sp>
        <p:nvSpPr>
          <p:cNvPr id="24" name="Text 21"/>
          <p:cNvSpPr/>
          <p:nvPr/>
        </p:nvSpPr>
        <p:spPr>
          <a:xfrm>
            <a:off x="1664208" y="2935224"/>
            <a:ext cx="2606040" cy="256032"/>
          </a:xfrm>
          <a:prstGeom prst="rect">
            <a:avLst/>
          </a:prstGeom>
          <a:noFill/>
          <a:ln/>
        </p:spPr>
        <p:txBody>
          <a:bodyPr wrap="square" lIns="0" tIns="0" rIns="0" bIns="0" rtlCol="0" anchor="ctr"/>
          <a:lstStyle/>
          <a:p>
            <a:pPr indent="0" marL="0">
              <a:buNone/>
            </a:pPr>
            <a:r>
              <a:rPr lang="en-US" sz="1000" dirty="0">
                <a:solidFill>
                  <a:srgbClr val="0B1A2E"/>
                </a:solidFill>
                <a:latin typeface="Calibri" pitchFamily="34" charset="0"/>
                <a:ea typeface="Calibri" pitchFamily="34" charset="-122"/>
                <a:cs typeface="Calibri" pitchFamily="34" charset="-120"/>
              </a:rPr>
              <a:t>.env wins over the vault</a:t>
            </a:r>
            <a:endParaRPr lang="en-US" sz="1000" dirty="0"/>
          </a:p>
        </p:txBody>
      </p:sp>
      <p:sp>
        <p:nvSpPr>
          <p:cNvPr id="25" name="Shape 22"/>
          <p:cNvSpPr/>
          <p:nvPr/>
        </p:nvSpPr>
        <p:spPr>
          <a:xfrm>
            <a:off x="658368" y="3300984"/>
            <a:ext cx="201168" cy="201168"/>
          </a:xfrm>
          <a:prstGeom prst="ellipse">
            <a:avLst/>
          </a:prstGeom>
          <a:solidFill>
            <a:srgbClr val="C8102E"/>
          </a:solidFill>
          <a:ln/>
        </p:spPr>
      </p:sp>
      <p:sp>
        <p:nvSpPr>
          <p:cNvPr id="26" name="Text 23"/>
          <p:cNvSpPr/>
          <p:nvPr/>
        </p:nvSpPr>
        <p:spPr>
          <a:xfrm>
            <a:off x="658368" y="330098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5</a:t>
            </a:r>
            <a:endParaRPr lang="en-US" sz="800" dirty="0"/>
          </a:p>
        </p:txBody>
      </p:sp>
      <p:sp>
        <p:nvSpPr>
          <p:cNvPr id="27" name="Text 24"/>
          <p:cNvSpPr/>
          <p:nvPr/>
        </p:nvSpPr>
        <p:spPr>
          <a:xfrm>
            <a:off x="950976" y="3273552"/>
            <a:ext cx="713232" cy="256032"/>
          </a:xfrm>
          <a:prstGeom prst="rect">
            <a:avLst/>
          </a:prstGeom>
          <a:noFill/>
          <a:ln/>
        </p:spPr>
        <p:txBody>
          <a:bodyPr wrap="square" lIns="0" tIns="0" rIns="0" bIns="0" rtlCol="0" anchor="ctr"/>
          <a:lstStyle/>
          <a:p>
            <a:pPr indent="0" marL="0">
              <a:buNone/>
            </a:pPr>
            <a:r>
              <a:rPr lang="en-US" sz="1000" b="1" dirty="0">
                <a:solidFill>
                  <a:srgbClr val="0B1A2E"/>
                </a:solidFill>
                <a:latin typeface="Calibri" pitchFamily="34" charset="0"/>
                <a:ea typeface="Calibri" pitchFamily="34" charset="-122"/>
                <a:cs typeface="Calibri" pitchFamily="34" charset="-120"/>
              </a:rPr>
              <a:t>Fan out</a:t>
            </a:r>
            <a:endParaRPr lang="en-US" sz="1000" dirty="0"/>
          </a:p>
        </p:txBody>
      </p:sp>
      <p:sp>
        <p:nvSpPr>
          <p:cNvPr id="28" name="Text 25"/>
          <p:cNvSpPr/>
          <p:nvPr/>
        </p:nvSpPr>
        <p:spPr>
          <a:xfrm>
            <a:off x="1664208" y="3273552"/>
            <a:ext cx="2606040" cy="256032"/>
          </a:xfrm>
          <a:prstGeom prst="rect">
            <a:avLst/>
          </a:prstGeom>
          <a:noFill/>
          <a:ln/>
        </p:spPr>
        <p:txBody>
          <a:bodyPr wrap="square" lIns="0" tIns="0" rIns="0" bIns="0" rtlCol="0" anchor="ctr"/>
          <a:lstStyle/>
          <a:p>
            <a:pPr indent="0" marL="0">
              <a:buNone/>
            </a:pPr>
            <a:r>
              <a:rPr lang="en-US" sz="1000" dirty="0">
                <a:solidFill>
                  <a:srgbClr val="0B1A2E"/>
                </a:solidFill>
                <a:latin typeface="Calibri" pitchFamily="34" charset="0"/>
                <a:ea typeface="Calibri" pitchFamily="34" charset="-122"/>
                <a:cs typeface="Calibri" pitchFamily="34" charset="-120"/>
              </a:rPr>
              <a:t>service .env files and k8s secrets</a:t>
            </a:r>
            <a:endParaRPr lang="en-US" sz="1000" dirty="0"/>
          </a:p>
        </p:txBody>
      </p:sp>
      <p:sp>
        <p:nvSpPr>
          <p:cNvPr id="29" name="Shape 26"/>
          <p:cNvSpPr/>
          <p:nvPr/>
        </p:nvSpPr>
        <p:spPr>
          <a:xfrm>
            <a:off x="658368" y="3639312"/>
            <a:ext cx="201168" cy="201168"/>
          </a:xfrm>
          <a:prstGeom prst="ellipse">
            <a:avLst/>
          </a:prstGeom>
          <a:solidFill>
            <a:srgbClr val="C8102E"/>
          </a:solidFill>
          <a:ln/>
        </p:spPr>
      </p:sp>
      <p:sp>
        <p:nvSpPr>
          <p:cNvPr id="30" name="Text 27"/>
          <p:cNvSpPr/>
          <p:nvPr/>
        </p:nvSpPr>
        <p:spPr>
          <a:xfrm>
            <a:off x="658368" y="363931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6</a:t>
            </a:r>
            <a:endParaRPr lang="en-US" sz="800" dirty="0"/>
          </a:p>
        </p:txBody>
      </p:sp>
      <p:sp>
        <p:nvSpPr>
          <p:cNvPr id="31" name="Text 28"/>
          <p:cNvSpPr/>
          <p:nvPr/>
        </p:nvSpPr>
        <p:spPr>
          <a:xfrm>
            <a:off x="950976" y="3611880"/>
            <a:ext cx="713232" cy="256032"/>
          </a:xfrm>
          <a:prstGeom prst="rect">
            <a:avLst/>
          </a:prstGeom>
          <a:noFill/>
          <a:ln/>
        </p:spPr>
        <p:txBody>
          <a:bodyPr wrap="square" lIns="0" tIns="0" rIns="0" bIns="0" rtlCol="0" anchor="ctr"/>
          <a:lstStyle/>
          <a:p>
            <a:pPr indent="0" marL="0">
              <a:buNone/>
            </a:pPr>
            <a:r>
              <a:rPr lang="en-US" sz="1000" b="1" dirty="0">
                <a:solidFill>
                  <a:srgbClr val="0B1A2E"/>
                </a:solidFill>
                <a:latin typeface="Calibri" pitchFamily="34" charset="0"/>
                <a:ea typeface="Calibri" pitchFamily="34" charset="-122"/>
                <a:cs typeface="Calibri" pitchFamily="34" charset="-120"/>
              </a:rPr>
              <a:t>Rotate</a:t>
            </a:r>
            <a:endParaRPr lang="en-US" sz="1000" dirty="0"/>
          </a:p>
        </p:txBody>
      </p:sp>
      <p:sp>
        <p:nvSpPr>
          <p:cNvPr id="32" name="Text 29"/>
          <p:cNvSpPr/>
          <p:nvPr/>
        </p:nvSpPr>
        <p:spPr>
          <a:xfrm>
            <a:off x="1664208" y="3611880"/>
            <a:ext cx="2606040" cy="256032"/>
          </a:xfrm>
          <a:prstGeom prst="rect">
            <a:avLst/>
          </a:prstGeom>
          <a:noFill/>
          <a:ln/>
        </p:spPr>
        <p:txBody>
          <a:bodyPr wrap="square" lIns="0" tIns="0" rIns="0" bIns="0" rtlCol="0" anchor="ctr"/>
          <a:lstStyle/>
          <a:p>
            <a:pPr indent="0" marL="0">
              <a:buNone/>
            </a:pPr>
            <a:r>
              <a:rPr lang="en-US" sz="1000" dirty="0">
                <a:solidFill>
                  <a:srgbClr val="0B1A2E"/>
                </a:solidFill>
                <a:latin typeface="Calibri" pitchFamily="34" charset="0"/>
                <a:ea typeface="Calibri" pitchFamily="34" charset="-122"/>
                <a:cs typeface="Calibri" pitchFamily="34" charset="-120"/>
              </a:rPr>
              <a:t>/secret-rotation writes it back</a:t>
            </a:r>
            <a:endParaRPr lang="en-US" sz="1000" dirty="0"/>
          </a:p>
        </p:txBody>
      </p:sp>
      <p:sp>
        <p:nvSpPr>
          <p:cNvPr id="33" name="Shape 30"/>
          <p:cNvSpPr/>
          <p:nvPr/>
        </p:nvSpPr>
        <p:spPr>
          <a:xfrm>
            <a:off x="658368" y="4023360"/>
            <a:ext cx="3493008" cy="0"/>
          </a:xfrm>
          <a:prstGeom prst="line">
            <a:avLst/>
          </a:prstGeom>
          <a:noFill/>
          <a:ln w="9525">
            <a:solidFill>
              <a:srgbClr val="D5DBE3"/>
            </a:solidFill>
            <a:prstDash val="solid"/>
          </a:ln>
        </p:spPr>
      </p:sp>
      <p:sp>
        <p:nvSpPr>
          <p:cNvPr id="34" name="Text 31"/>
          <p:cNvSpPr/>
          <p:nvPr/>
        </p:nvSpPr>
        <p:spPr>
          <a:xfrm>
            <a:off x="658368" y="4078224"/>
            <a:ext cx="3566160" cy="274320"/>
          </a:xfrm>
          <a:prstGeom prst="rect">
            <a:avLst/>
          </a:prstGeom>
          <a:noFill/>
          <a:ln/>
        </p:spPr>
        <p:txBody>
          <a:bodyPr wrap="square" lIns="0" tIns="0" rIns="0" bIns="0" rtlCol="0" anchor="ctr"/>
          <a:lstStyle/>
          <a:p>
            <a:pPr indent="0" marL="0">
              <a:buNone/>
            </a:pPr>
            <a:r>
              <a:rPr lang="en-US" sz="900" b="1" dirty="0">
                <a:solidFill>
                  <a:srgbClr val="4F5E71"/>
                </a:solidFill>
                <a:latin typeface="Calibri" pitchFamily="34" charset="0"/>
                <a:ea typeface="Calibri" pitchFamily="34" charset="-122"/>
                <a:cs typeface="Calibri" pitchFamily="34" charset="-120"/>
              </a:rPr>
              <a:t>Argon2id + AES-256-GCM · homegrown · dotenvx is replacing it</a:t>
            </a:r>
            <a:endParaRPr lang="en-US" sz="900" dirty="0"/>
          </a:p>
        </p:txBody>
      </p:sp>
      <p:sp>
        <p:nvSpPr>
          <p:cNvPr id="35" name="Shape 32"/>
          <p:cNvSpPr/>
          <p:nvPr/>
        </p:nvSpPr>
        <p:spPr>
          <a:xfrm>
            <a:off x="4572000" y="1481328"/>
            <a:ext cx="4114800" cy="3017520"/>
          </a:xfrm>
          <a:prstGeom prst="rect">
            <a:avLst/>
          </a:prstGeom>
          <a:solidFill>
            <a:srgbClr val="FFFFFF"/>
          </a:solidFill>
          <a:ln w="9525">
            <a:solidFill>
              <a:srgbClr val="D5DBE3"/>
            </a:solidFill>
            <a:prstDash val="solid"/>
          </a:ln>
        </p:spPr>
      </p:sp>
      <p:sp>
        <p:nvSpPr>
          <p:cNvPr id="36" name="Text 33"/>
          <p:cNvSpPr/>
          <p:nvPr/>
        </p:nvSpPr>
        <p:spPr>
          <a:xfrm>
            <a:off x="4773168" y="1627632"/>
            <a:ext cx="3749040" cy="201168"/>
          </a:xfrm>
          <a:prstGeom prst="rect">
            <a:avLst/>
          </a:prstGeom>
          <a:noFill/>
          <a:ln/>
        </p:spPr>
        <p:txBody>
          <a:bodyPr wrap="square" lIns="0" tIns="0" rIns="0" bIns="0" rtlCol="0" anchor="t"/>
          <a:lstStyle/>
          <a:p>
            <a:pPr indent="0" marL="0">
              <a:buNone/>
            </a:pPr>
            <a:r>
              <a:rPr lang="en-US" sz="900" b="1" spc="200" kern="0" dirty="0">
                <a:solidFill>
                  <a:srgbClr val="4F5E71"/>
                </a:solidFill>
                <a:latin typeface="Montserrat" pitchFamily="34" charset="0"/>
                <a:ea typeface="Montserrat" pitchFamily="34" charset="-122"/>
                <a:cs typeface="Montserrat" pitchFamily="34" charset="-120"/>
              </a:rPr>
              <a:t>OPEN SOURCE WE BUILD ON</a:t>
            </a:r>
            <a:endParaRPr lang="en-US" sz="900" dirty="0"/>
          </a:p>
        </p:txBody>
      </p:sp>
      <p:sp>
        <p:nvSpPr>
          <p:cNvPr id="37" name="Text 34"/>
          <p:cNvSpPr/>
          <p:nvPr/>
        </p:nvSpPr>
        <p:spPr>
          <a:xfrm>
            <a:off x="4773168" y="1920240"/>
            <a:ext cx="1051560" cy="274320"/>
          </a:xfrm>
          <a:prstGeom prst="rect">
            <a:avLst/>
          </a:prstGeom>
          <a:noFill/>
          <a:ln/>
        </p:spPr>
        <p:txBody>
          <a:bodyPr wrap="square" lIns="0" tIns="0" rIns="0" bIns="0" rtlCol="0" anchor="ctr"/>
          <a:lstStyle/>
          <a:p>
            <a:pPr indent="0" marL="0">
              <a:buNone/>
            </a:pPr>
            <a:r>
              <a:rPr lang="en-US" sz="950" b="1" dirty="0">
                <a:solidFill>
                  <a:srgbClr val="0B1A2E"/>
                </a:solidFill>
                <a:latin typeface="Calibri" pitchFamily="34" charset="0"/>
                <a:ea typeface="Calibri" pitchFamily="34" charset="-122"/>
                <a:cs typeface="Calibri" pitchFamily="34" charset="-120"/>
              </a:rPr>
              <a:t>Agents</a:t>
            </a:r>
            <a:endParaRPr lang="en-US" sz="950" dirty="0"/>
          </a:p>
        </p:txBody>
      </p:sp>
      <p:sp>
        <p:nvSpPr>
          <p:cNvPr id="38" name="Text 35"/>
          <p:cNvSpPr/>
          <p:nvPr/>
        </p:nvSpPr>
        <p:spPr>
          <a:xfrm>
            <a:off x="5824728" y="1920240"/>
            <a:ext cx="2761488" cy="274320"/>
          </a:xfrm>
          <a:prstGeom prst="rect">
            <a:avLst/>
          </a:prstGeom>
          <a:noFill/>
          <a:ln/>
        </p:spPr>
        <p:txBody>
          <a:bodyPr wrap="square" lIns="0" tIns="0" rIns="0" bIns="0" rtlCol="0" anchor="ctr"/>
          <a:lstStyle/>
          <a:p>
            <a:pPr indent="0" marL="0">
              <a:buNone/>
            </a:pPr>
            <a:r>
              <a:rPr lang="en-US" sz="900" dirty="0">
                <a:solidFill>
                  <a:srgbClr val="0B1A2E"/>
                </a:solidFill>
                <a:latin typeface="Calibri" pitchFamily="34" charset="0"/>
                <a:ea typeface="Calibri" pitchFamily="34" charset="-122"/>
                <a:cs typeface="Calibri" pitchFamily="34" charset="-120"/>
              </a:rPr>
              <a:t>LangGraph · OpenAI SDK · Pydantic AI · Mastra</a:t>
            </a:r>
            <a:endParaRPr lang="en-US" sz="900" dirty="0"/>
          </a:p>
        </p:txBody>
      </p:sp>
      <p:sp>
        <p:nvSpPr>
          <p:cNvPr id="39" name="Text 36"/>
          <p:cNvSpPr/>
          <p:nvPr/>
        </p:nvSpPr>
        <p:spPr>
          <a:xfrm>
            <a:off x="4773168" y="2258568"/>
            <a:ext cx="1051560" cy="274320"/>
          </a:xfrm>
          <a:prstGeom prst="rect">
            <a:avLst/>
          </a:prstGeom>
          <a:noFill/>
          <a:ln/>
        </p:spPr>
        <p:txBody>
          <a:bodyPr wrap="square" lIns="0" tIns="0" rIns="0" bIns="0" rtlCol="0" anchor="ctr"/>
          <a:lstStyle/>
          <a:p>
            <a:pPr indent="0" marL="0">
              <a:buNone/>
            </a:pPr>
            <a:r>
              <a:rPr lang="en-US" sz="950" b="1" dirty="0">
                <a:solidFill>
                  <a:srgbClr val="0B1A2E"/>
                </a:solidFill>
                <a:latin typeface="Calibri" pitchFamily="34" charset="0"/>
                <a:ea typeface="Calibri" pitchFamily="34" charset="-122"/>
                <a:cs typeface="Calibri" pitchFamily="34" charset="-120"/>
              </a:rPr>
              <a:t>Protocols</a:t>
            </a:r>
            <a:endParaRPr lang="en-US" sz="950" dirty="0"/>
          </a:p>
        </p:txBody>
      </p:sp>
      <p:sp>
        <p:nvSpPr>
          <p:cNvPr id="40" name="Text 37"/>
          <p:cNvSpPr/>
          <p:nvPr/>
        </p:nvSpPr>
        <p:spPr>
          <a:xfrm>
            <a:off x="5824728" y="2258568"/>
            <a:ext cx="2761488" cy="274320"/>
          </a:xfrm>
          <a:prstGeom prst="rect">
            <a:avLst/>
          </a:prstGeom>
          <a:noFill/>
          <a:ln/>
        </p:spPr>
        <p:txBody>
          <a:bodyPr wrap="square" lIns="0" tIns="0" rIns="0" bIns="0" rtlCol="0" anchor="ctr"/>
          <a:lstStyle/>
          <a:p>
            <a:pPr indent="0" marL="0">
              <a:buNone/>
            </a:pPr>
            <a:r>
              <a:rPr lang="en-US" sz="900" dirty="0">
                <a:solidFill>
                  <a:srgbClr val="0B1A2E"/>
                </a:solidFill>
                <a:latin typeface="Calibri" pitchFamily="34" charset="0"/>
                <a:ea typeface="Calibri" pitchFamily="34" charset="-122"/>
                <a:cs typeface="Calibri" pitchFamily="34" charset="-120"/>
              </a:rPr>
              <a:t>MCP SDK · FastMCP · A2A JS SDK · AG-UI</a:t>
            </a:r>
            <a:endParaRPr lang="en-US" sz="900" dirty="0"/>
          </a:p>
        </p:txBody>
      </p:sp>
      <p:sp>
        <p:nvSpPr>
          <p:cNvPr id="41" name="Text 38"/>
          <p:cNvSpPr/>
          <p:nvPr/>
        </p:nvSpPr>
        <p:spPr>
          <a:xfrm>
            <a:off x="4773168" y="2596896"/>
            <a:ext cx="1051560" cy="274320"/>
          </a:xfrm>
          <a:prstGeom prst="rect">
            <a:avLst/>
          </a:prstGeom>
          <a:noFill/>
          <a:ln/>
        </p:spPr>
        <p:txBody>
          <a:bodyPr wrap="square" lIns="0" tIns="0" rIns="0" bIns="0" rtlCol="0" anchor="ctr"/>
          <a:lstStyle/>
          <a:p>
            <a:pPr indent="0" marL="0">
              <a:buNone/>
            </a:pPr>
            <a:r>
              <a:rPr lang="en-US" sz="950" b="1" dirty="0">
                <a:solidFill>
                  <a:srgbClr val="0B1A2E"/>
                </a:solidFill>
                <a:latin typeface="Calibri" pitchFamily="34" charset="0"/>
                <a:ea typeface="Calibri" pitchFamily="34" charset="-122"/>
                <a:cs typeface="Calibri" pitchFamily="34" charset="-120"/>
              </a:rPr>
              <a:t>Models</a:t>
            </a:r>
            <a:endParaRPr lang="en-US" sz="950" dirty="0"/>
          </a:p>
        </p:txBody>
      </p:sp>
      <p:sp>
        <p:nvSpPr>
          <p:cNvPr id="42" name="Text 39"/>
          <p:cNvSpPr/>
          <p:nvPr/>
        </p:nvSpPr>
        <p:spPr>
          <a:xfrm>
            <a:off x="5824728" y="2596896"/>
            <a:ext cx="2761488" cy="274320"/>
          </a:xfrm>
          <a:prstGeom prst="rect">
            <a:avLst/>
          </a:prstGeom>
          <a:noFill/>
          <a:ln/>
        </p:spPr>
        <p:txBody>
          <a:bodyPr wrap="square" lIns="0" tIns="0" rIns="0" bIns="0" rtlCol="0" anchor="ctr"/>
          <a:lstStyle/>
          <a:p>
            <a:pPr indent="0" marL="0">
              <a:buNone/>
            </a:pPr>
            <a:r>
              <a:rPr lang="en-US" sz="900" dirty="0">
                <a:solidFill>
                  <a:srgbClr val="0B1A2E"/>
                </a:solidFill>
                <a:latin typeface="Calibri" pitchFamily="34" charset="0"/>
                <a:ea typeface="Calibri" pitchFamily="34" charset="-122"/>
                <a:cs typeface="Calibri" pitchFamily="34" charset="-120"/>
              </a:rPr>
              <a:t>llama.cpp · oMLX · Phi-4-mini · gpt-oss-20b · DeBERTa</a:t>
            </a:r>
            <a:endParaRPr lang="en-US" sz="900" dirty="0"/>
          </a:p>
        </p:txBody>
      </p:sp>
      <p:sp>
        <p:nvSpPr>
          <p:cNvPr id="43" name="Text 40"/>
          <p:cNvSpPr/>
          <p:nvPr/>
        </p:nvSpPr>
        <p:spPr>
          <a:xfrm>
            <a:off x="4773168" y="2935224"/>
            <a:ext cx="1051560" cy="274320"/>
          </a:xfrm>
          <a:prstGeom prst="rect">
            <a:avLst/>
          </a:prstGeom>
          <a:noFill/>
          <a:ln/>
        </p:spPr>
        <p:txBody>
          <a:bodyPr wrap="square" lIns="0" tIns="0" rIns="0" bIns="0" rtlCol="0" anchor="ctr"/>
          <a:lstStyle/>
          <a:p>
            <a:pPr indent="0" marL="0">
              <a:buNone/>
            </a:pPr>
            <a:r>
              <a:rPr lang="en-US" sz="950" b="1" dirty="0">
                <a:solidFill>
                  <a:srgbClr val="0B1A2E"/>
                </a:solidFill>
                <a:latin typeface="Calibri" pitchFamily="34" charset="0"/>
                <a:ea typeface="Calibri" pitchFamily="34" charset="-122"/>
                <a:cs typeface="Calibri" pitchFamily="34" charset="-120"/>
              </a:rPr>
              <a:t>Data</a:t>
            </a:r>
            <a:endParaRPr lang="en-US" sz="950" dirty="0"/>
          </a:p>
        </p:txBody>
      </p:sp>
      <p:sp>
        <p:nvSpPr>
          <p:cNvPr id="44" name="Text 41"/>
          <p:cNvSpPr/>
          <p:nvPr/>
        </p:nvSpPr>
        <p:spPr>
          <a:xfrm>
            <a:off x="5824728" y="2935224"/>
            <a:ext cx="2761488" cy="274320"/>
          </a:xfrm>
          <a:prstGeom prst="rect">
            <a:avLst/>
          </a:prstGeom>
          <a:noFill/>
          <a:ln/>
        </p:spPr>
        <p:txBody>
          <a:bodyPr wrap="square" lIns="0" tIns="0" rIns="0" bIns="0" rtlCol="0" anchor="ctr"/>
          <a:lstStyle/>
          <a:p>
            <a:pPr indent="0" marL="0">
              <a:buNone/>
            </a:pPr>
            <a:r>
              <a:rPr lang="en-US" sz="900" dirty="0">
                <a:solidFill>
                  <a:srgbClr val="0B1A2E"/>
                </a:solidFill>
                <a:latin typeface="Calibri" pitchFamily="34" charset="0"/>
                <a:ea typeface="Calibri" pitchFamily="34" charset="-122"/>
                <a:cs typeface="Calibri" pitchFamily="34" charset="-120"/>
              </a:rPr>
              <a:t>Weaviate · LMDB · SQLite · argon2 · dotenvx</a:t>
            </a:r>
            <a:endParaRPr lang="en-US" sz="900" dirty="0"/>
          </a:p>
        </p:txBody>
      </p:sp>
      <p:sp>
        <p:nvSpPr>
          <p:cNvPr id="45" name="Text 42"/>
          <p:cNvSpPr/>
          <p:nvPr/>
        </p:nvSpPr>
        <p:spPr>
          <a:xfrm>
            <a:off x="4773168" y="3273552"/>
            <a:ext cx="1051560" cy="274320"/>
          </a:xfrm>
          <a:prstGeom prst="rect">
            <a:avLst/>
          </a:prstGeom>
          <a:noFill/>
          <a:ln/>
        </p:spPr>
        <p:txBody>
          <a:bodyPr wrap="square" lIns="0" tIns="0" rIns="0" bIns="0" rtlCol="0" anchor="ctr"/>
          <a:lstStyle/>
          <a:p>
            <a:pPr indent="0" marL="0">
              <a:buNone/>
            </a:pPr>
            <a:r>
              <a:rPr lang="en-US" sz="950" b="1" dirty="0">
                <a:solidFill>
                  <a:srgbClr val="0B1A2E"/>
                </a:solidFill>
                <a:latin typeface="Calibri" pitchFamily="34" charset="0"/>
                <a:ea typeface="Calibri" pitchFamily="34" charset="-122"/>
                <a:cs typeface="Calibri" pitchFamily="34" charset="-120"/>
              </a:rPr>
              <a:t>Observability</a:t>
            </a:r>
            <a:endParaRPr lang="en-US" sz="950" dirty="0"/>
          </a:p>
        </p:txBody>
      </p:sp>
      <p:sp>
        <p:nvSpPr>
          <p:cNvPr id="46" name="Text 43"/>
          <p:cNvSpPr/>
          <p:nvPr/>
        </p:nvSpPr>
        <p:spPr>
          <a:xfrm>
            <a:off x="5824728" y="3273552"/>
            <a:ext cx="2761488" cy="274320"/>
          </a:xfrm>
          <a:prstGeom prst="rect">
            <a:avLst/>
          </a:prstGeom>
          <a:noFill/>
          <a:ln/>
        </p:spPr>
        <p:txBody>
          <a:bodyPr wrap="square" lIns="0" tIns="0" rIns="0" bIns="0" rtlCol="0" anchor="ctr"/>
          <a:lstStyle/>
          <a:p>
            <a:pPr indent="0" marL="0">
              <a:buNone/>
            </a:pPr>
            <a:r>
              <a:rPr lang="en-US" sz="900" dirty="0">
                <a:solidFill>
                  <a:srgbClr val="0B1A2E"/>
                </a:solidFill>
                <a:latin typeface="Calibri" pitchFamily="34" charset="0"/>
                <a:ea typeface="Calibri" pitchFamily="34" charset="-122"/>
                <a:cs typeface="Calibri" pitchFamily="34" charset="-120"/>
              </a:rPr>
              <a:t>Prometheus · Grafana · Loki · Jaeger · OpenTelemetry</a:t>
            </a:r>
            <a:endParaRPr lang="en-US" sz="900" dirty="0"/>
          </a:p>
        </p:txBody>
      </p:sp>
      <p:sp>
        <p:nvSpPr>
          <p:cNvPr id="47" name="Text 44"/>
          <p:cNvSpPr/>
          <p:nvPr/>
        </p:nvSpPr>
        <p:spPr>
          <a:xfrm>
            <a:off x="4773168" y="3611880"/>
            <a:ext cx="1051560" cy="274320"/>
          </a:xfrm>
          <a:prstGeom prst="rect">
            <a:avLst/>
          </a:prstGeom>
          <a:noFill/>
          <a:ln/>
        </p:spPr>
        <p:txBody>
          <a:bodyPr wrap="square" lIns="0" tIns="0" rIns="0" bIns="0" rtlCol="0" anchor="ctr"/>
          <a:lstStyle/>
          <a:p>
            <a:pPr indent="0" marL="0">
              <a:buNone/>
            </a:pPr>
            <a:r>
              <a:rPr lang="en-US" sz="950" b="1" dirty="0">
                <a:solidFill>
                  <a:srgbClr val="0B1A2E"/>
                </a:solidFill>
                <a:latin typeface="Calibri" pitchFamily="34" charset="0"/>
                <a:ea typeface="Calibri" pitchFamily="34" charset="-122"/>
                <a:cs typeface="Calibri" pitchFamily="34" charset="-120"/>
              </a:rPr>
              <a:t>Web and infra</a:t>
            </a:r>
            <a:endParaRPr lang="en-US" sz="950" dirty="0"/>
          </a:p>
        </p:txBody>
      </p:sp>
      <p:sp>
        <p:nvSpPr>
          <p:cNvPr id="48" name="Text 45"/>
          <p:cNvSpPr/>
          <p:nvPr/>
        </p:nvSpPr>
        <p:spPr>
          <a:xfrm>
            <a:off x="5824728" y="3611880"/>
            <a:ext cx="2761488" cy="274320"/>
          </a:xfrm>
          <a:prstGeom prst="rect">
            <a:avLst/>
          </a:prstGeom>
          <a:noFill/>
          <a:ln/>
        </p:spPr>
        <p:txBody>
          <a:bodyPr wrap="square" lIns="0" tIns="0" rIns="0" bIns="0" rtlCol="0" anchor="ctr"/>
          <a:lstStyle/>
          <a:p>
            <a:pPr indent="0" marL="0">
              <a:buNone/>
            </a:pPr>
            <a:r>
              <a:rPr lang="en-US" sz="900" dirty="0">
                <a:solidFill>
                  <a:srgbClr val="0B1A2E"/>
                </a:solidFill>
                <a:latin typeface="Calibri" pitchFamily="34" charset="0"/>
                <a:ea typeface="Calibri" pitchFamily="34" charset="-122"/>
                <a:cs typeface="Calibri" pitchFamily="34" charset="-120"/>
              </a:rPr>
              <a:t>React · Vite · Express · Kubernetes · Helm · LibreChat</a:t>
            </a:r>
            <a:endParaRPr lang="en-US" sz="900" dirty="0"/>
          </a:p>
        </p:txBody>
      </p:sp>
      <p:sp>
        <p:nvSpPr>
          <p:cNvPr id="49" name="Shape 46"/>
          <p:cNvSpPr/>
          <p:nvPr/>
        </p:nvSpPr>
        <p:spPr>
          <a:xfrm>
            <a:off x="4773168" y="4023360"/>
            <a:ext cx="3712464" cy="0"/>
          </a:xfrm>
          <a:prstGeom prst="line">
            <a:avLst/>
          </a:prstGeom>
          <a:noFill/>
          <a:ln w="9525">
            <a:solidFill>
              <a:srgbClr val="D5DBE3"/>
            </a:solidFill>
            <a:prstDash val="solid"/>
          </a:ln>
        </p:spPr>
      </p:sp>
      <p:sp>
        <p:nvSpPr>
          <p:cNvPr id="50" name="Text 47"/>
          <p:cNvSpPr/>
          <p:nvPr/>
        </p:nvSpPr>
        <p:spPr>
          <a:xfrm>
            <a:off x="4773168" y="4078224"/>
            <a:ext cx="3749040" cy="274320"/>
          </a:xfrm>
          <a:prstGeom prst="rect">
            <a:avLst/>
          </a:prstGeom>
          <a:noFill/>
          <a:ln/>
        </p:spPr>
        <p:txBody>
          <a:bodyPr wrap="square" lIns="0" tIns="0" rIns="0" bIns="0" rtlCol="0" anchor="ctr"/>
          <a:lstStyle/>
          <a:p>
            <a:pPr indent="0" marL="0">
              <a:buNone/>
            </a:pPr>
            <a:r>
              <a:rPr lang="en-US" sz="900" b="1" dirty="0">
                <a:solidFill>
                  <a:srgbClr val="4F5E71"/>
                </a:solidFill>
                <a:latin typeface="Calibri" pitchFamily="34" charset="0"/>
                <a:ea typeface="Calibri" pitchFamily="34" charset="-122"/>
                <a:cs typeface="Calibri" pitchFamily="34" charset="-120"/>
              </a:rPr>
              <a:t>Ours: llm-gateway · mcp-inspector · ai-gateway-client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APPENDIX  ·  FOR DEVELOPERS</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Where each service lives, and the port to find it on</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52144"/>
          <a:ext cx="8229600" cy="914400"/>
        </p:xfrm>
        <a:graphic>
          <a:graphicData uri="http://schemas.openxmlformats.org/drawingml/2006/table">
            <a:tbl>
              <a:tblPr/>
              <a:tblGrid>
                <a:gridCol w="2103120"/>
                <a:gridCol w="3520440"/>
                <a:gridCol w="777240"/>
                <a:gridCol w="1828800"/>
              </a:tblGrid>
              <a:tr h="224028">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Service</a:t>
                      </a:r>
                      <a:endParaRPr lang="en-US" sz="950" dirty="0">
                        <a:latin typeface="Montserrat" charset="0"/>
                        <a:ea typeface="Montserrat" charset="0"/>
                        <a:cs typeface="Montserrat"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Directory</a:t>
                      </a:r>
                      <a:endParaRPr lang="en-US" sz="950" dirty="0">
                        <a:latin typeface="Montserrat" charset="0"/>
                        <a:ea typeface="Montserrat" charset="0"/>
                        <a:cs typeface="Montserrat"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Port</a:t>
                      </a:r>
                      <a:endParaRPr lang="en-US" sz="950" dirty="0">
                        <a:latin typeface="Montserrat" charset="0"/>
                        <a:ea typeface="Montserrat" charset="0"/>
                        <a:cs typeface="Montserrat"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Stack</a:t>
                      </a:r>
                      <a:endParaRPr lang="en-US" sz="950" dirty="0">
                        <a:latin typeface="Montserrat" charset="0"/>
                        <a:ea typeface="Montserrat" charset="0"/>
                        <a:cs typeface="Montserrat"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r>
              <a:tr h="22402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BFF API</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demo_api_server/</a:t>
                      </a:r>
                      <a:endParaRPr lang="en-US" sz="950" dirty="0">
                        <a:latin typeface="Consolas" charset="0"/>
                        <a:ea typeface="Consolas" charset="0"/>
                        <a:cs typeface="Consolas"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3001</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Node · Express · jest</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2402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Web app</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demo_api_ui/</a:t>
                      </a:r>
                      <a:endParaRPr lang="en-US" sz="950" dirty="0">
                        <a:latin typeface="Consolas" charset="0"/>
                        <a:ea typeface="Consolas" charset="0"/>
                        <a:cs typeface="Consolas"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4000</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React 19 · Vite 8 · vitest</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2402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Agent Gateway (PingGateway)</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ping-gateway/</a:t>
                      </a:r>
                      <a:endParaRPr lang="en-US" sz="950" dirty="0">
                        <a:latin typeface="Consolas" charset="0"/>
                        <a:ea typeface="Consolas" charset="0"/>
                        <a:cs typeface="Consolas"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3036</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PingGateway</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2402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Node MCP gateway (opt-in)</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demo_mcp_gateway/</a:t>
                      </a:r>
                      <a:endParaRPr lang="en-US" sz="950" dirty="0">
                        <a:latin typeface="Consolas" charset="0"/>
                        <a:ea typeface="Consolas" charset="0"/>
                        <a:cs typeface="Consolas"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3005</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TypeScript</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2402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Banking MCP</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oauth-mcp/</a:t>
                      </a:r>
                      <a:endParaRPr lang="en-US" sz="950" dirty="0">
                        <a:latin typeface="Consolas" charset="0"/>
                        <a:ea typeface="Consolas" charset="0"/>
                        <a:cs typeface="Consolas"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8080</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TypeScript</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2402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Invest MCP</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demo_mcp_resource_server/</a:t>
                      </a:r>
                      <a:endParaRPr lang="en-US" sz="950" dirty="0">
                        <a:latin typeface="Consolas" charset="0"/>
                        <a:ea typeface="Consolas" charset="0"/>
                        <a:cs typeface="Consolas"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8081</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TypeScript · SQLite</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2402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Mortgage API</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demo_api_resource_server/</a:t>
                      </a:r>
                      <a:endParaRPr lang="en-US" sz="950" dirty="0">
                        <a:latin typeface="Consolas" charset="0"/>
                        <a:ea typeface="Consolas" charset="0"/>
                        <a:cs typeface="Consolas"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8082</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Node</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2402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MCP proxy</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demo_mcp_proxy/</a:t>
                      </a:r>
                      <a:endParaRPr lang="en-US" sz="950" dirty="0">
                        <a:latin typeface="Consolas" charset="0"/>
                        <a:ea typeface="Consolas" charset="0"/>
                        <a:cs typeface="Consolas"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8895</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Node</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2402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HITL service</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demo_hitl_service/</a:t>
                      </a:r>
                      <a:endParaRPr lang="en-US" sz="950" dirty="0">
                        <a:latin typeface="Consolas" charset="0"/>
                        <a:ea typeface="Consolas" charset="0"/>
                        <a:cs typeface="Consolas"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3009</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Node</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2402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Authorize mock (opt-in)</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demo_authz_server/</a:t>
                      </a:r>
                      <a:endParaRPr lang="en-US" sz="950" dirty="0">
                        <a:latin typeface="Consolas" charset="0"/>
                        <a:ea typeface="Consolas" charset="0"/>
                        <a:cs typeface="Consolas"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9001</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Node</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2402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Agent service</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demo_agent_service/</a:t>
                      </a:r>
                      <a:endParaRPr lang="en-US" sz="950" dirty="0">
                        <a:latin typeface="Consolas" charset="0"/>
                        <a:ea typeface="Consolas" charset="0"/>
                        <a:cs typeface="Consolas"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3016</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TypeScript</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2402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LangChain agent</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langchain_agent/</a:t>
                      </a:r>
                      <a:endParaRPr lang="en-US" sz="950" dirty="0">
                        <a:latin typeface="Consolas" charset="0"/>
                        <a:ea typeface="Consolas" charset="0"/>
                        <a:cs typeface="Consolas"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8888</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Python · LangGraph</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2402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Other agents (opt-in)</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openai_agent/, mastra_agent/, pydantic_agent/</a:t>
                      </a:r>
                      <a:endParaRPr lang="en-US" sz="950" dirty="0">
                        <a:latin typeface="Consolas" charset="0"/>
                        <a:ea typeface="Consolas" charset="0"/>
                        <a:cs typeface="Consolas"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8891–8893</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Python · Node</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2402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LLM proxy</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demo_llm_proxy/</a:t>
                      </a:r>
                      <a:endParaRPr lang="en-US" sz="950" dirty="0">
                        <a:latin typeface="Consolas" charset="0"/>
                        <a:ea typeface="Consolas" charset="0"/>
                        <a:cs typeface="Consolas"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8090</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Node</a:t>
                      </a:r>
                      <a:endParaRPr lang="en-US" sz="950" dirty="0">
                        <a:latin typeface="Calibri" charset="0"/>
                        <a:ea typeface="Calibri" charset="0"/>
                        <a:cs typeface="Calibri" charset="0"/>
                      </a:endParaRPr>
                    </a:p>
                  </a:txBody>
                  <a:tcPr marL="91440"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APPENDIX  ·  BEFORE YOU FLIP A SWITCH</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A handful of flags change the story, and a few quietly remove the security</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444752"/>
          <a:ext cx="8229600" cy="914400"/>
        </p:xfrm>
        <a:graphic>
          <a:graphicData uri="http://schemas.openxmlformats.org/drawingml/2006/table">
            <a:tbl>
              <a:tblPr/>
              <a:tblGrid>
                <a:gridCol w="3246120"/>
                <a:gridCol w="777240"/>
                <a:gridCol w="4206240"/>
              </a:tblGrid>
              <a:tr h="320040">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Flag</a:t>
                      </a:r>
                      <a:endParaRPr lang="en-US" sz="1000" dirty="0">
                        <a:latin typeface="Montserrat" charset="0"/>
                        <a:ea typeface="Montserrat" charset="0"/>
                        <a:cs typeface="Montserrat"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Default</a:t>
                      </a:r>
                      <a:endParaRPr lang="en-US" sz="1000" dirty="0">
                        <a:latin typeface="Montserrat" charset="0"/>
                        <a:ea typeface="Montserrat" charset="0"/>
                        <a:cs typeface="Montserrat"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Flip it and…</a:t>
                      </a:r>
                      <a:endParaRPr lang="en-US" sz="1000" dirty="0">
                        <a:latin typeface="Montserrat" charset="0"/>
                        <a:ea typeface="Montserrat" charset="0"/>
                        <a:cs typeface="Montserrat"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r>
              <a:tr h="320040">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ff_mcp_gateway_pinggateway</a:t>
                      </a:r>
                      <a:endParaRPr lang="en-US" sz="950" dirty="0">
                        <a:latin typeface="Consolas" charset="0"/>
                        <a:ea typeface="Consolas" charset="0"/>
                        <a:cs typeface="Consolas"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B1A2E"/>
                          </a:solidFill>
                          <a:latin typeface="Calibri" pitchFamily="34" charset="0"/>
                          <a:ea typeface="Calibri" pitchFamily="34" charset="-122"/>
                          <a:cs typeface="Calibri" pitchFamily="34" charset="-120"/>
                        </a:rPr>
                        <a:t>ON</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OFF uses the Node gateway; start the demo-auth group first</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20040">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ff_authorize_real</a:t>
                      </a:r>
                      <a:endParaRPr lang="en-US" sz="950" dirty="0">
                        <a:latin typeface="Consolas" charset="0"/>
                        <a:ea typeface="Consolas" charset="0"/>
                        <a:cs typeface="Consolas"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algn="ctr" indent="0" marL="0">
                        <a:buNone/>
                      </a:pPr>
                      <a:r>
                        <a:rPr lang="en-US" sz="1050" b="1" dirty="0">
                          <a:solidFill>
                            <a:srgbClr val="0B1A2E"/>
                          </a:solidFill>
                          <a:latin typeface="Calibri" pitchFamily="34" charset="0"/>
                          <a:ea typeface="Calibri" pitchFamily="34" charset="-122"/>
                          <a:cs typeface="Calibri" pitchFamily="34" charset="-120"/>
                        </a:rPr>
                        <a:t>ON</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OFF swaps PingOne Authorize for the local mock engine</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320040">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ff_hitl_enabled</a:t>
                      </a:r>
                      <a:endParaRPr lang="en-US" sz="950" dirty="0">
                        <a:latin typeface="Consolas" charset="0"/>
                        <a:ea typeface="Consolas" charset="0"/>
                        <a:cs typeface="Consolas"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B1A2E"/>
                          </a:solidFill>
                          <a:latin typeface="Calibri" pitchFamily="34" charset="0"/>
                          <a:ea typeface="Calibri" pitchFamily="34" charset="-122"/>
                          <a:cs typeface="Calibri" pitchFamily="34" charset="-120"/>
                        </a:rPr>
                        <a:t>ON</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OFF removes the consent moment from the demo</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20040">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ff_prompt_injection_guard</a:t>
                      </a:r>
                      <a:endParaRPr lang="en-US" sz="950" dirty="0">
                        <a:latin typeface="Consolas" charset="0"/>
                        <a:ea typeface="Consolas" charset="0"/>
                        <a:cs typeface="Consolas"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algn="ctr" indent="0" marL="0">
                        <a:buNone/>
                      </a:pPr>
                      <a:r>
                        <a:rPr lang="en-US" sz="1050" b="1" dirty="0">
                          <a:solidFill>
                            <a:srgbClr val="0B1A2E"/>
                          </a:solidFill>
                          <a:latin typeface="Calibri" pitchFamily="34" charset="0"/>
                          <a:ea typeface="Calibri" pitchFamily="34" charset="-122"/>
                          <a:cs typeface="Calibri" pitchFamily="34" charset="-120"/>
                        </a:rPr>
                        <a:t>ON</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OFF lets injection patterns reach the model</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320040">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ff_authorize_fail_open</a:t>
                      </a:r>
                      <a:endParaRPr lang="en-US" sz="950" dirty="0">
                        <a:latin typeface="Consolas" charset="0"/>
                        <a:ea typeface="Consolas" charset="0"/>
                        <a:cs typeface="Consolas"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4F5E71"/>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ON lets calls through when Authorize fails</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20040">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ff_skip_token_exchange</a:t>
                      </a:r>
                      <a:endParaRPr lang="en-US" sz="950" dirty="0">
                        <a:latin typeface="Consolas" charset="0"/>
                        <a:ea typeface="Consolas" charset="0"/>
                        <a:cs typeface="Consolas"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algn="ctr" indent="0" marL="0">
                        <a:buNone/>
                      </a:pPr>
                      <a:r>
                        <a:rPr lang="en-US" sz="1050" b="1" dirty="0">
                          <a:solidFill>
                            <a:srgbClr val="4F5E71"/>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ON sends the raw user token: no act claim, no delegation</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320040">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ff_local_fallback_on_exchange_failure</a:t>
                      </a:r>
                      <a:endParaRPr lang="en-US" sz="950" dirty="0">
                        <a:latin typeface="Consolas" charset="0"/>
                        <a:ea typeface="Consolas" charset="0"/>
                        <a:cs typeface="Consolas"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4F5E71"/>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ON runs tools without authorization if the exchange fails</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20040">
                <a:tc>
                  <a:txBody>
                    <a:bodyPr/>
                    <a:lstStyle/>
                    <a:p>
                      <a:pPr indent="0" marL="0">
                        <a:buNone/>
                      </a:pPr>
                      <a:r>
                        <a:rPr lang="en-US" sz="950" dirty="0">
                          <a:solidFill>
                            <a:srgbClr val="0B1A2E"/>
                          </a:solidFill>
                          <a:latin typeface="Consolas" pitchFamily="34" charset="0"/>
                          <a:ea typeface="Consolas" pitchFamily="34" charset="-122"/>
                          <a:cs typeface="Consolas" pitchFamily="34" charset="-120"/>
                        </a:rPr>
                        <a:t>step_up_enabled · ciba_enabled · ff_rar</a:t>
                      </a:r>
                      <a:endParaRPr lang="en-US" sz="950" dirty="0">
                        <a:latin typeface="Consolas" charset="0"/>
                        <a:ea typeface="Consolas" charset="0"/>
                        <a:cs typeface="Consolas"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algn="ctr" indent="0" marL="0">
                        <a:buNone/>
                      </a:pPr>
                      <a:r>
                        <a:rPr lang="en-US" sz="1050" b="1" dirty="0">
                          <a:solidFill>
                            <a:srgbClr val="4F5E71"/>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Turn on for step-up MFA (UC7), CIBA (UC22), intent binding (UC14)</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bl>
          </a:graphicData>
        </a:graphic>
      </p:graphicFrame>
      <p:sp>
        <p:nvSpPr>
          <p:cNvPr id="8" name="Text 4"/>
          <p:cNvSpPr/>
          <p:nvPr/>
        </p:nvSpPr>
        <p:spPr>
          <a:xfrm>
            <a:off x="457200" y="4462272"/>
            <a:ext cx="7315200" cy="201168"/>
          </a:xfrm>
          <a:prstGeom prst="rect">
            <a:avLst/>
          </a:prstGeom>
          <a:noFill/>
          <a:ln/>
        </p:spPr>
        <p:txBody>
          <a:bodyPr wrap="square" lIns="0" tIns="0" rIns="0" bIns="0" rtlCol="0" anchor="ctr"/>
          <a:lstStyle/>
          <a:p>
            <a:pPr indent="0" marL="0">
              <a:buNone/>
            </a:pPr>
            <a:r>
              <a:rPr lang="en-US" sz="1000" i="1" dirty="0">
                <a:solidFill>
                  <a:srgbClr val="4F5E71"/>
                </a:solidFill>
                <a:latin typeface="Calibri" pitchFamily="34" charset="0"/>
                <a:ea typeface="Calibri" pitchFamily="34" charset="-122"/>
                <a:cs typeface="Calibri" pitchFamily="34" charset="-120"/>
              </a:rPr>
              <a:t>Red rows remove a security control. Never leave them on after a demo.</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APPENDIX  ·  WHEN SOMETHING BREAKS</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Something broke? Open this PingOne app first</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840480"/>
                <a:gridCol w="4389120"/>
              </a:tblGrid>
              <a:tr h="265176">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You see</a:t>
                      </a:r>
                      <a:endParaRPr lang="en-US" sz="1000" dirty="0">
                        <a:latin typeface="Montserrat" charset="0"/>
                        <a:ea typeface="Montserrat" charset="0"/>
                        <a:cs typeface="Montserrat"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PingOne app to open</a:t>
                      </a:r>
                      <a:endParaRPr lang="en-US" sz="1000" dirty="0">
                        <a:latin typeface="Montserrat" charset="0"/>
                        <a:ea typeface="Montserrat" charset="0"/>
                        <a:cs typeface="Montserrat"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r>
              <a:tr h="265176">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Customer can't sign in, or loops back to sign-in</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Demo AI App - User Login</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Admin can't sign in</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Demo AI App - Admin Login</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65176">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Token exchange fails (invalid_client)</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Demo AI App - AI Agent Actor, then Token Exchanger</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Gateway rejects the agent's token (401, inactive)</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Demo AI App - Token Exchanger (the gateway introspects with it)</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65176">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Tool fails after the gateway hop (401 or 502)</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Demo AI App - MCP Gateway; banking tools also Step 9 Exchanger</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PingOne Authorize decisions fail, worker errors</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Demo AI App - Introspection Worker (the operator worker)</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65176">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CIBA approval won't start (UC22)</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Demo AI App - Admin Login (the environment has no CIBA app)</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Agent-to-agent handoff 401, audience mismatch</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Demo AI App - &lt;vertical&gt; Specialist Agent (11 apps)</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65176">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Enterprise-managed MCP fails (UC25, UC39, UC40)</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Demo AI App - Enterprise IdP Federation</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DaVinci SDK login page fails</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Demo AI App - DaVinci SDK Login</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65176">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Claude Code banking-gateway login fails</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Claude Code - Banking Gateway</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0B1A2E"/>
                          </a:solidFill>
                          <a:latin typeface="Calibri" pitchFamily="34" charset="0"/>
                          <a:ea typeface="Calibri" pitchFamily="34" charset="-122"/>
                          <a:cs typeface="Calibri" pitchFamily="34" charset="-120"/>
                        </a:rPr>
                        <a:t>Grafana's PingOne sign-in fails</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1050" b="1" dirty="0">
                          <a:solidFill>
                            <a:srgbClr val="0B1A2E"/>
                          </a:solidFill>
                          <a:latin typeface="Calibri" pitchFamily="34" charset="0"/>
                          <a:ea typeface="Calibri" pitchFamily="34" charset="-122"/>
                          <a:cs typeface="Calibri" pitchFamily="34" charset="-120"/>
                        </a:rPr>
                        <a:t>Demo AI App - Grafana Login</a:t>
                      </a:r>
                      <a:endParaRPr lang="en-US" sz="1050" dirty="0">
                        <a:latin typeface="Calibri" charset="0"/>
                        <a:ea typeface="Calibri" charset="0"/>
                        <a:cs typeface="Calibri"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APPENDIX  ·  DEMO STEPS 1–12</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Every Demo Step, and the PingOne apps it touches</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051560"/>
                <a:gridCol w="2103120"/>
                <a:gridCol w="2377440"/>
                <a:gridCol w="2697480"/>
              </a:tblGrid>
              <a:tr h="242316">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Step</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Demo Step</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What it shows</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PingOne apps</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1 · UC24</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Public catalog access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Public tool, no token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2 · UC1</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Delegated access with proof</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Two RFC 8693 exchanges + Authorize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Standard chain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3 · UC8</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Human-in-the-loop consent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Authorize asks; one-time receipt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Standard chain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4 · UC7</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Step-up required</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Authorize step-up, then PingOne MFA</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Standard chain + PingOne MFA</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5 · UC14b</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Intent verified (PAR + RAR)</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Pushed intent within the cap</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AI Agent Actor (PAR) + Authorize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6 · UC14</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Intent violation (PAR + RAR)</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Over the cap, Authorize denies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Token Exchanger + Introspection Worker</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7 · UC12</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Token theft / replay</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Replayed token rejected at gateway</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User Login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8 · UC6</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Authorization denied</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Authorize denies a $2,500 transfer</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Standard chain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9 · UC2</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Agent-to-agent delegation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Nested act chain, two hops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AI Agent Actor + Specialist Agent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10 · UC2.5</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A2A orchestrator</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Orchestrator picks a specialist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AI Agent Actor + Specialist Agent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11 · UC2.7</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A2A protocol + identity</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Agent Card, then the UC2 chain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None signed out; UC2 apps signed in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12 · UC22</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CIBA approval</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Authorize step-up approved by phone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Standard chain + Admin Login (CIBA)</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bl>
          </a:graphicData>
        </a:graphic>
      </p:graphicFrame>
      <p:sp>
        <p:nvSpPr>
          <p:cNvPr id="8" name="Text 4"/>
          <p:cNvSpPr/>
          <p:nvPr/>
        </p:nvSpPr>
        <p:spPr>
          <a:xfrm>
            <a:off x="457200" y="4443984"/>
            <a:ext cx="8229600" cy="182880"/>
          </a:xfrm>
          <a:prstGeom prst="rect">
            <a:avLst/>
          </a:prstGeom>
          <a:noFill/>
          <a:ln/>
        </p:spPr>
        <p:txBody>
          <a:bodyPr wrap="square" lIns="0" tIns="0" rIns="0" bIns="0" rtlCol="0" anchor="ctr"/>
          <a:lstStyle/>
          <a:p>
            <a:pPr indent="0" marL="0">
              <a:buNone/>
            </a:pPr>
            <a:r>
              <a:rPr lang="en-US" sz="900" i="1" dirty="0">
                <a:solidFill>
                  <a:srgbClr val="4F5E71"/>
                </a:solidFill>
                <a:latin typeface="Calibri" pitchFamily="34" charset="0"/>
                <a:ea typeface="Calibri" pitchFamily="34" charset="-122"/>
                <a:cs typeface="Calibri" pitchFamily="34" charset="-120"/>
              </a:rPr>
              <a:t>Standard chain: User Login, AI Agent Actor (exchange #1), Token Exchanger (exchange #2), MCP Gateway; Authorize via Introspection Worker.</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APPENDIX  ·  DEMO STEPS 13–24</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Attacks, third-party tools and the newest demos</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051560"/>
                <a:gridCol w="2103120"/>
                <a:gridCol w="2377440"/>
                <a:gridCol w="2697480"/>
              </a:tblGrid>
              <a:tr h="242316">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Step</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Demo Step</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What it shows</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PingOne apps</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13 · UC5</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Insufficient scope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Read-only token, gateway 403</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Token Exchanger</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14 · UC10</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Another user's account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Authorize denies on ownership</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Standard chain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15 · UC13</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Confused-deputy actor</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Rogue actor, Authorize denies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Standard chain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16 · UC11</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Bad client at the gateway</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Wrong audience, gateway 401</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User Login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17 · UC20</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Audit trail</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UC1 chip with evidence tags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Standard chain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18 · UC18</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Rate-limit defense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Burst of calls, gateway 429</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Token Exchanger</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19 · UC30</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Third-party MCP permitted</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PingGateway policy permits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20 · UC31</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Third-party MCP denied</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PingGateway policy denies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21 · UC32</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Live-reconfigure the policy</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Admin setting read live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22 · UC40</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Enterprise-managed MCP</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Demo IdP grant (ID-JAG mocked)</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Enterprise IdP Federation + worker</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23 · UC38</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Personal Agent Concierge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MFA, registered agent, exchange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User Login + Introspection Worker</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242316">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24 · UC-TOOL1</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Protected RAG</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code:search exchange + Authorize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Standard chain</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bl>
          </a:graphicData>
        </a:graphic>
      </p:graphicFrame>
      <p:sp>
        <p:nvSpPr>
          <p:cNvPr id="8" name="Text 4"/>
          <p:cNvSpPr/>
          <p:nvPr/>
        </p:nvSpPr>
        <p:spPr>
          <a:xfrm>
            <a:off x="457200" y="4443984"/>
            <a:ext cx="8229600" cy="182880"/>
          </a:xfrm>
          <a:prstGeom prst="rect">
            <a:avLst/>
          </a:prstGeom>
          <a:noFill/>
          <a:ln/>
        </p:spPr>
        <p:txBody>
          <a:bodyPr wrap="square" lIns="0" tIns="0" rIns="0" bIns="0" rtlCol="0" anchor="ctr"/>
          <a:lstStyle/>
          <a:p>
            <a:pPr indent="0" marL="0">
              <a:buNone/>
            </a:pPr>
            <a:r>
              <a:rPr lang="en-US" sz="900" i="1" dirty="0">
                <a:solidFill>
                  <a:srgbClr val="4F5E71"/>
                </a:solidFill>
                <a:latin typeface="Calibri" pitchFamily="34" charset="0"/>
                <a:ea typeface="Calibri" pitchFamily="34" charset="-122"/>
                <a:cs typeface="Calibri" pitchFamily="34" charset="-120"/>
              </a:rPr>
              <a:t>Standard chain: User Login, AI Agent Actor (exchange #1), Token Exchanger (exchange #2), MCP Gateway; Authorize via Introspection Worker.</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rect">
            <a:avLst/>
          </a:prstGeom>
          <a:solidFill>
            <a:srgbClr val="C8102E"/>
          </a:solidFill>
          <a:ln/>
        </p:spPr>
      </p:sp>
      <p:sp>
        <p:nvSpPr>
          <p:cNvPr id="3" name="Text 1"/>
          <p:cNvSpPr/>
          <p:nvPr/>
        </p:nvSpPr>
        <p:spPr>
          <a:xfrm>
            <a:off x="640080" y="301752"/>
            <a:ext cx="6400800" cy="274320"/>
          </a:xfrm>
          <a:prstGeom prst="rect">
            <a:avLst/>
          </a:prstGeom>
          <a:noFill/>
          <a:ln/>
        </p:spPr>
        <p:txBody>
          <a:bodyPr wrap="square" lIns="0" tIns="0" rIns="0" bIns="0" rtlCol="0" anchor="ctr"/>
          <a:lstStyle/>
          <a:p>
            <a:pPr indent="0" marL="0">
              <a:buNone/>
            </a:pPr>
            <a:r>
              <a:rPr lang="en-US" sz="1000" b="1" spc="300" kern="0" dirty="0">
                <a:solidFill>
                  <a:srgbClr val="4F5E71"/>
                </a:solidFill>
                <a:latin typeface="Montserrat" pitchFamily="34" charset="0"/>
                <a:ea typeface="Montserrat" pitchFamily="34" charset="-122"/>
                <a:cs typeface="Montserrat" pitchFamily="34" charset="-120"/>
              </a:rPr>
              <a:t>APPENDIX  ·  PINGONE ADMIN STEPS</a:t>
            </a:r>
            <a:endParaRPr lang="en-US" sz="1000" dirty="0"/>
          </a:p>
        </p:txBody>
      </p:sp>
      <p:sp>
        <p:nvSpPr>
          <p:cNvPr id="4" name="Text 2"/>
          <p:cNvSpPr/>
          <p:nvPr/>
        </p:nvSpPr>
        <p:spPr>
          <a:xfrm>
            <a:off x="457200" y="603504"/>
            <a:ext cx="8229600" cy="786384"/>
          </a:xfrm>
          <a:prstGeom prst="rect">
            <a:avLst/>
          </a:prstGeom>
          <a:noFill/>
          <a:ln/>
        </p:spPr>
        <p:txBody>
          <a:bodyPr wrap="square" lIns="0" tIns="0" rIns="0" bIns="0" rtlCol="0" anchor="t"/>
          <a:lstStyle/>
          <a:p>
            <a:pPr indent="0" marL="0">
              <a:buNone/>
            </a:pPr>
            <a:r>
              <a:rPr lang="en-US" sz="2100" b="1" dirty="0">
                <a:solidFill>
                  <a:srgbClr val="0B1A2E"/>
                </a:solidFill>
                <a:latin typeface="Montserrat" pitchFamily="34" charset="0"/>
                <a:ea typeface="Montserrat" pitchFamily="34" charset="-122"/>
                <a:cs typeface="Montserrat" pitchFamily="34" charset="-120"/>
              </a:rPr>
              <a:t>PingOne Admin steps call PingOne itself, not the bank</a:t>
            </a:r>
            <a:endParaRPr lang="en-US" sz="2100" dirty="0"/>
          </a:p>
        </p:txBody>
      </p:sp>
      <p:sp>
        <p:nvSpPr>
          <p:cNvPr id="5" name="Text 3"/>
          <p:cNvSpPr/>
          <p:nvPr/>
        </p:nvSpPr>
        <p:spPr>
          <a:xfrm>
            <a:off x="8229600" y="4846320"/>
            <a:ext cx="457200" cy="182880"/>
          </a:xfrm>
          <a:prstGeom prst="rect">
            <a:avLst/>
          </a:prstGeom>
          <a:noFill/>
          <a:ln/>
        </p:spPr>
        <p:txBody>
          <a:bodyPr wrap="square" lIns="0" tIns="0" rIns="0" bIns="0" rtlCol="0" anchor="ctr"/>
          <a:lstStyle/>
          <a:p>
            <a:pPr algn="r" indent="0" marL="0">
              <a:buNone/>
            </a:pPr>
            <a:r>
              <a:rPr lang="en-US" sz="900" dirty="0">
                <a:solidFill>
                  <a:srgbClr val="4F5E71"/>
                </a:solidFill>
                <a:latin typeface="Calibri" pitchFamily="34" charset="0"/>
                <a:ea typeface="Calibri" pitchFamily="34" charset="-122"/>
                <a:cs typeface="Calibri"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097280"/>
                <a:gridCol w="2743200"/>
                <a:gridCol w="2011680"/>
                <a:gridCol w="2377440"/>
              </a:tblGrid>
              <a:tr h="384048">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Steps</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What they do</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Hosted PingOne MCP</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Fallback app</a:t>
                      </a:r>
                      <a:endParaRPr lang="en-US" sz="950" dirty="0">
                        <a:latin typeface="Montserrat" charset="0"/>
                        <a:ea typeface="Montserrat" charset="0"/>
                        <a:cs typeface="Montserrat"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1A2E"/>
                    </a:solidFill>
                  </a:tcPr>
                </a:tc>
              </a:tr>
              <a:tr h="38404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ADMIN1–4, 9</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Apps, users, populations, environment, services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list / get tools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Introspection Worker (Management API)</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ADMIN5–6</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Search users or apps by name prefix</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Same tools, with a filter</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Same as ADMIN1–2</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38404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ADMIN7–8</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PingOne MCP tools; resources and scopes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Tool list; resources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Scopes via Introspection Worker</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ADMIN10–12</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DaVinci flows, applications, connectors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listDavinci tools</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4F5F7"/>
                    </a:solidFill>
                  </a:tcPr>
                </a:tc>
              </a:tr>
              <a:tr h="384048">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ADMIN13</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0B1A2E"/>
                          </a:solidFill>
                          <a:latin typeface="Calibri" pitchFamily="34" charset="0"/>
                          <a:ea typeface="Calibri" pitchFamily="34" charset="-122"/>
                          <a:cs typeface="Calibri" pitchFamily="34" charset="-120"/>
                        </a:rPr>
                        <a:t>Govern PingOne MCP with Privilege</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4F5E71"/>
                          </a:solidFill>
                          <a:latin typeface="Calibri" pitchFamily="34" charset="0"/>
                          <a:ea typeface="Calibri" pitchFamily="34" charset="-122"/>
                          <a:cs typeface="Calibri" pitchFamily="34" charset="-120"/>
                        </a:rPr>
                        <a:t>Link to /privilege-mcp-client</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0B1A2E"/>
                          </a:solidFill>
                          <a:latin typeface="Calibri" pitchFamily="34" charset="0"/>
                          <a:ea typeface="Calibri" pitchFamily="34" charset="-122"/>
                          <a:cs typeface="Calibri" pitchFamily="34" charset="-120"/>
                        </a:rPr>
                        <a:t>Not traced</a:t>
                      </a:r>
                      <a:endParaRPr lang="en-US" sz="950" dirty="0">
                        <a:latin typeface="Calibri" charset="0"/>
                        <a:ea typeface="Calibri" charset="0"/>
                        <a:cs typeface="Calibri" charset="0"/>
                      </a:endParaRPr>
                    </a:p>
                  </a:txBody>
                  <a:tcPr marL="73152" marR="73152"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bl>
          </a:graphicData>
        </a:graphic>
      </p:graphicFrame>
      <p:sp>
        <p:nvSpPr>
          <p:cNvPr id="8" name="Text 4"/>
          <p:cNvSpPr/>
          <p:nvPr/>
        </p:nvSpPr>
        <p:spPr>
          <a:xfrm>
            <a:off x="457200" y="3611880"/>
            <a:ext cx="8229600" cy="274320"/>
          </a:xfrm>
          <a:prstGeom prst="rect">
            <a:avLst/>
          </a:prstGeom>
          <a:noFill/>
          <a:ln/>
        </p:spPr>
        <p:txBody>
          <a:bodyPr wrap="square" lIns="0" tIns="0" rIns="0" bIns="0" rtlCol="0" anchor="ctr"/>
          <a:lstStyle/>
          <a:p>
            <a:pPr indent="0" marL="0">
              <a:buNone/>
            </a:pPr>
            <a:r>
              <a:rPr lang="en-US" sz="1050" i="1" dirty="0">
                <a:solidFill>
                  <a:srgbClr val="4F5E71"/>
                </a:solidFill>
                <a:latin typeface="Calibri" pitchFamily="34" charset="0"/>
                <a:ea typeface="Calibri" pitchFamily="34" charset="-122"/>
                <a:cs typeface="Calibri" pitchFamily="34" charset="-120"/>
              </a:rPr>
              <a:t>Sign-in for every ADMIN step: PingOne's built-in pingone-mcp-server client, which isn't an app in this environment.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A2E"/>
        </a:solidFill>
      </p:bgPr>
    </p:bg>
    <p:spTree>
      <p:nvGrpSpPr>
        <p:cNvPr id="1" name=""/>
        <p:cNvGrpSpPr/>
        <p:nvPr/>
      </p:nvGrpSpPr>
      <p:grpSpPr>
        <a:xfrm>
          <a:off x="0" y="0"/>
          <a:ext cx="0" cy="0"/>
          <a:chOff x="0" y="0"/>
          <a:chExt cx="0" cy="0"/>
        </a:xfrm>
      </p:grpSpPr>
      <p:sp>
        <p:nvSpPr>
          <p:cNvPr id="2" name="Shape 0"/>
          <p:cNvSpPr/>
          <p:nvPr/>
        </p:nvSpPr>
        <p:spPr>
          <a:xfrm>
            <a:off x="502920" y="502920"/>
            <a:ext cx="457200" cy="0"/>
          </a:xfrm>
          <a:prstGeom prst="line">
            <a:avLst/>
          </a:prstGeom>
          <a:noFill/>
          <a:ln w="22225">
            <a:solidFill>
              <a:srgbClr val="C8102E"/>
            </a:solidFill>
            <a:prstDash val="solid"/>
          </a:ln>
        </p:spPr>
      </p:sp>
      <p:sp>
        <p:nvSpPr>
          <p:cNvPr id="3" name="Shape 1"/>
          <p:cNvSpPr/>
          <p:nvPr/>
        </p:nvSpPr>
        <p:spPr>
          <a:xfrm>
            <a:off x="502920" y="502920"/>
            <a:ext cx="0" cy="457200"/>
          </a:xfrm>
          <a:prstGeom prst="line">
            <a:avLst/>
          </a:prstGeom>
          <a:noFill/>
          <a:ln w="22225">
            <a:solidFill>
              <a:srgbClr val="C8102E"/>
            </a:solidFill>
            <a:prstDash val="solid"/>
          </a:ln>
        </p:spPr>
      </p:sp>
      <p:sp>
        <p:nvSpPr>
          <p:cNvPr id="4" name="Shape 2"/>
          <p:cNvSpPr/>
          <p:nvPr/>
        </p:nvSpPr>
        <p:spPr>
          <a:xfrm>
            <a:off x="8183880" y="4636008"/>
            <a:ext cx="457200" cy="0"/>
          </a:xfrm>
          <a:prstGeom prst="line">
            <a:avLst/>
          </a:prstGeom>
          <a:noFill/>
          <a:ln w="22225">
            <a:solidFill>
              <a:srgbClr val="C8102E"/>
            </a:solidFill>
            <a:prstDash val="solid"/>
          </a:ln>
        </p:spPr>
      </p:sp>
      <p:sp>
        <p:nvSpPr>
          <p:cNvPr id="5" name="Shape 3"/>
          <p:cNvSpPr/>
          <p:nvPr/>
        </p:nvSpPr>
        <p:spPr>
          <a:xfrm>
            <a:off x="8641080" y="4178808"/>
            <a:ext cx="0" cy="457200"/>
          </a:xfrm>
          <a:prstGeom prst="line">
            <a:avLst/>
          </a:prstGeom>
          <a:noFill/>
          <a:ln w="22225">
            <a:solidFill>
              <a:srgbClr val="C8102E"/>
            </a:solidFill>
            <a:prstDash val="solid"/>
          </a:ln>
        </p:spPr>
      </p:sp>
      <p:sp>
        <p:nvSpPr>
          <p:cNvPr id="6" name="Text 4"/>
          <p:cNvSpPr/>
          <p:nvPr/>
        </p:nvSpPr>
        <p:spPr>
          <a:xfrm>
            <a:off x="914400" y="86868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ontserrat" pitchFamily="34" charset="0"/>
                <a:ea typeface="Montserrat" pitchFamily="34" charset="-122"/>
                <a:cs typeface="Montserrat" pitchFamily="34" charset="-120"/>
              </a:rPr>
              <a:t>Where to find everything</a:t>
            </a:r>
            <a:endParaRPr lang="en-US" sz="3000" dirty="0"/>
          </a:p>
        </p:txBody>
      </p:sp>
      <p:sp>
        <p:nvSpPr>
          <p:cNvPr id="7" name="Shape 5"/>
          <p:cNvSpPr/>
          <p:nvPr/>
        </p:nvSpPr>
        <p:spPr>
          <a:xfrm>
            <a:off x="914400" y="1737360"/>
            <a:ext cx="402336" cy="402336"/>
          </a:xfrm>
          <a:prstGeom prst="ellipse">
            <a:avLst/>
          </a:prstGeom>
          <a:solidFill>
            <a:srgbClr val="C8102E"/>
          </a:solidFill>
          <a:ln/>
        </p:spPr>
      </p:sp>
      <p:pic>
        <p:nvPicPr>
          <p:cNvPr id="8" name="Image 0" descr="preencoded.png"/>
          <p:cNvPicPr>
            <a:picLocks noChangeAspect="1"/>
          </p:cNvPicPr>
          <p:nvPr/>
        </p:nvPicPr>
        <p:blipFill>
          <a:blip r:embed="rId1"/>
          <a:stretch>
            <a:fillRect/>
          </a:stretch>
        </p:blipFill>
        <p:spPr>
          <a:xfrm>
            <a:off x="1023031" y="1845991"/>
            <a:ext cx="185075" cy="185075"/>
          </a:xfrm>
          <a:prstGeom prst="rect">
            <a:avLst/>
          </a:prstGeom>
        </p:spPr>
      </p:pic>
      <p:sp>
        <p:nvSpPr>
          <p:cNvPr id="9" name="Text 6"/>
          <p:cNvSpPr/>
          <p:nvPr/>
        </p:nvSpPr>
        <p:spPr>
          <a:xfrm>
            <a:off x="1481328" y="1737360"/>
            <a:ext cx="1920240" cy="402336"/>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GitHub</a:t>
            </a:r>
            <a:endParaRPr lang="en-US" sz="1250" dirty="0"/>
          </a:p>
        </p:txBody>
      </p:sp>
      <p:sp>
        <p:nvSpPr>
          <p:cNvPr id="10" name="Text 7"/>
          <p:cNvSpPr/>
          <p:nvPr/>
        </p:nvSpPr>
        <p:spPr>
          <a:xfrm>
            <a:off x="3429000" y="1700784"/>
            <a:ext cx="4846320" cy="475488"/>
          </a:xfrm>
          <a:prstGeom prst="rect">
            <a:avLst/>
          </a:prstGeom>
          <a:noFill/>
          <a:ln/>
        </p:spPr>
        <p:txBody>
          <a:bodyPr wrap="square" lIns="0" tIns="0" rIns="0" bIns="0" rtlCol="0" anchor="ctr"/>
          <a:lstStyle/>
          <a:p>
            <a:pPr indent="0" marL="0">
              <a:buNone/>
            </a:pPr>
            <a:r>
              <a:rPr lang="en-US" sz="1200" dirty="0">
                <a:solidFill>
                  <a:srgbClr val="B9C6D6"/>
                </a:solidFill>
                <a:latin typeface="Calibri" pitchFamily="34" charset="0"/>
                <a:ea typeface="Calibri" pitchFamily="34" charset="-122"/>
                <a:cs typeface="Calibri" pitchFamily="34" charset="-120"/>
              </a:rPr>
              <a:t>github.com/curtismu7/AI-DEMO2</a:t>
            </a:r>
            <a:endParaRPr lang="en-US" sz="1200" dirty="0"/>
          </a:p>
        </p:txBody>
      </p:sp>
      <p:sp>
        <p:nvSpPr>
          <p:cNvPr id="11" name="Shape 8"/>
          <p:cNvSpPr/>
          <p:nvPr/>
        </p:nvSpPr>
        <p:spPr>
          <a:xfrm>
            <a:off x="914400" y="2322576"/>
            <a:ext cx="402336" cy="402336"/>
          </a:xfrm>
          <a:prstGeom prst="ellipse">
            <a:avLst/>
          </a:prstGeom>
          <a:solidFill>
            <a:srgbClr val="C8102E"/>
          </a:solidFill>
          <a:ln/>
        </p:spPr>
      </p:sp>
      <p:pic>
        <p:nvPicPr>
          <p:cNvPr id="12" name="Image 1" descr="preencoded.png"/>
          <p:cNvPicPr>
            <a:picLocks noChangeAspect="1"/>
          </p:cNvPicPr>
          <p:nvPr/>
        </p:nvPicPr>
        <p:blipFill>
          <a:blip r:embed="rId2"/>
          <a:stretch>
            <a:fillRect/>
          </a:stretch>
        </p:blipFill>
        <p:spPr>
          <a:xfrm>
            <a:off x="1023031" y="2431207"/>
            <a:ext cx="185075" cy="185075"/>
          </a:xfrm>
          <a:prstGeom prst="rect">
            <a:avLst/>
          </a:prstGeom>
        </p:spPr>
      </p:pic>
      <p:sp>
        <p:nvSpPr>
          <p:cNvPr id="13" name="Text 9"/>
          <p:cNvSpPr/>
          <p:nvPr/>
        </p:nvSpPr>
        <p:spPr>
          <a:xfrm>
            <a:off x="1481328" y="2322576"/>
            <a:ext cx="1920240" cy="402336"/>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FAQ</a:t>
            </a:r>
            <a:endParaRPr lang="en-US" sz="1250" dirty="0"/>
          </a:p>
        </p:txBody>
      </p:sp>
      <p:sp>
        <p:nvSpPr>
          <p:cNvPr id="14" name="Text 10"/>
          <p:cNvSpPr/>
          <p:nvPr/>
        </p:nvSpPr>
        <p:spPr>
          <a:xfrm>
            <a:off x="3429000" y="2286000"/>
            <a:ext cx="4846320" cy="475488"/>
          </a:xfrm>
          <a:prstGeom prst="rect">
            <a:avLst/>
          </a:prstGeom>
          <a:noFill/>
          <a:ln/>
        </p:spPr>
        <p:txBody>
          <a:bodyPr wrap="square" lIns="0" tIns="0" rIns="0" bIns="0" rtlCol="0" anchor="ctr"/>
          <a:lstStyle/>
          <a:p>
            <a:pPr indent="0" marL="0">
              <a:buNone/>
            </a:pPr>
            <a:r>
              <a:rPr lang="en-US" sz="1200" dirty="0">
                <a:solidFill>
                  <a:srgbClr val="B9C6D6"/>
                </a:solidFill>
                <a:latin typeface="Calibri" pitchFamily="34" charset="0"/>
                <a:ea typeface="Calibri" pitchFamily="34" charset="-122"/>
                <a:cs typeface="Calibri" pitchFamily="34" charset="-120"/>
              </a:rPr>
              <a:t>docs/FAQ.md in the repo</a:t>
            </a:r>
            <a:endParaRPr lang="en-US" sz="1200" dirty="0"/>
          </a:p>
        </p:txBody>
      </p:sp>
      <p:sp>
        <p:nvSpPr>
          <p:cNvPr id="15" name="Shape 11"/>
          <p:cNvSpPr/>
          <p:nvPr/>
        </p:nvSpPr>
        <p:spPr>
          <a:xfrm>
            <a:off x="914400" y="2907792"/>
            <a:ext cx="402336" cy="402336"/>
          </a:xfrm>
          <a:prstGeom prst="ellipse">
            <a:avLst/>
          </a:prstGeom>
          <a:solidFill>
            <a:srgbClr val="C8102E"/>
          </a:solidFill>
          <a:ln/>
        </p:spPr>
      </p:sp>
      <p:pic>
        <p:nvPicPr>
          <p:cNvPr id="16" name="Image 2" descr="preencoded.png"/>
          <p:cNvPicPr>
            <a:picLocks noChangeAspect="1"/>
          </p:cNvPicPr>
          <p:nvPr/>
        </p:nvPicPr>
        <p:blipFill>
          <a:blip r:embed="rId3"/>
          <a:stretch>
            <a:fillRect/>
          </a:stretch>
        </p:blipFill>
        <p:spPr>
          <a:xfrm>
            <a:off x="1023031" y="3016423"/>
            <a:ext cx="185075" cy="185075"/>
          </a:xfrm>
          <a:prstGeom prst="rect">
            <a:avLst/>
          </a:prstGeom>
        </p:spPr>
      </p:pic>
      <p:sp>
        <p:nvSpPr>
          <p:cNvPr id="17" name="Text 12"/>
          <p:cNvSpPr/>
          <p:nvPr/>
        </p:nvSpPr>
        <p:spPr>
          <a:xfrm>
            <a:off x="1481328" y="2907792"/>
            <a:ext cx="1920240" cy="402336"/>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Install instructions</a:t>
            </a:r>
            <a:endParaRPr lang="en-US" sz="1250" dirty="0"/>
          </a:p>
        </p:txBody>
      </p:sp>
      <p:sp>
        <p:nvSpPr>
          <p:cNvPr id="18" name="Text 13"/>
          <p:cNvSpPr/>
          <p:nvPr/>
        </p:nvSpPr>
        <p:spPr>
          <a:xfrm>
            <a:off x="3429000" y="2871216"/>
            <a:ext cx="4846320" cy="475488"/>
          </a:xfrm>
          <a:prstGeom prst="rect">
            <a:avLst/>
          </a:prstGeom>
          <a:noFill/>
          <a:ln/>
        </p:spPr>
        <p:txBody>
          <a:bodyPr wrap="square" lIns="0" tIns="0" rIns="0" bIns="0" rtlCol="0" anchor="ctr"/>
          <a:lstStyle/>
          <a:p>
            <a:pPr indent="0" marL="0">
              <a:buNone/>
            </a:pPr>
            <a:r>
              <a:rPr lang="en-US" sz="1200" dirty="0">
                <a:solidFill>
                  <a:srgbClr val="B9C6D6"/>
                </a:solidFill>
                <a:latin typeface="Calibri" pitchFamily="34" charset="0"/>
                <a:ea typeface="Calibri" pitchFamily="34" charset="-122"/>
                <a:cs typeface="Calibri" pitchFamily="34" charset="-120"/>
              </a:rPr>
              <a:t>docs/FAQ.md, "Download and install" · docs/user-guide/getting-started.md</a:t>
            </a:r>
            <a:endParaRPr lang="en-US" sz="1200" dirty="0"/>
          </a:p>
        </p:txBody>
      </p:sp>
      <p:sp>
        <p:nvSpPr>
          <p:cNvPr id="19" name="Shape 14"/>
          <p:cNvSpPr/>
          <p:nvPr/>
        </p:nvSpPr>
        <p:spPr>
          <a:xfrm>
            <a:off x="914400" y="3493008"/>
            <a:ext cx="402336" cy="402336"/>
          </a:xfrm>
          <a:prstGeom prst="ellipse">
            <a:avLst/>
          </a:prstGeom>
          <a:solidFill>
            <a:srgbClr val="C8102E"/>
          </a:solidFill>
          <a:ln/>
        </p:spPr>
      </p:sp>
      <p:pic>
        <p:nvPicPr>
          <p:cNvPr id="20" name="Image 3" descr="preencoded.png"/>
          <p:cNvPicPr>
            <a:picLocks noChangeAspect="1"/>
          </p:cNvPicPr>
          <p:nvPr/>
        </p:nvPicPr>
        <p:blipFill>
          <a:blip r:embed="rId4"/>
          <a:stretch>
            <a:fillRect/>
          </a:stretch>
        </p:blipFill>
        <p:spPr>
          <a:xfrm>
            <a:off x="1023031" y="3601639"/>
            <a:ext cx="185075" cy="185075"/>
          </a:xfrm>
          <a:prstGeom prst="rect">
            <a:avLst/>
          </a:prstGeom>
        </p:spPr>
      </p:pic>
      <p:sp>
        <p:nvSpPr>
          <p:cNvPr id="21" name="Text 15"/>
          <p:cNvSpPr/>
          <p:nvPr/>
        </p:nvSpPr>
        <p:spPr>
          <a:xfrm>
            <a:off x="1481328" y="3493008"/>
            <a:ext cx="1920240" cy="402336"/>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Demo guide</a:t>
            </a:r>
            <a:endParaRPr lang="en-US" sz="1250" dirty="0"/>
          </a:p>
        </p:txBody>
      </p:sp>
      <p:sp>
        <p:nvSpPr>
          <p:cNvPr id="22" name="Text 16"/>
          <p:cNvSpPr/>
          <p:nvPr/>
        </p:nvSpPr>
        <p:spPr>
          <a:xfrm>
            <a:off x="3429000" y="3456432"/>
            <a:ext cx="4846320" cy="475488"/>
          </a:xfrm>
          <a:prstGeom prst="rect">
            <a:avLst/>
          </a:prstGeom>
          <a:noFill/>
          <a:ln/>
        </p:spPr>
        <p:txBody>
          <a:bodyPr wrap="square" lIns="0" tIns="0" rIns="0" bIns="0" rtlCol="0" anchor="ctr"/>
          <a:lstStyle/>
          <a:p>
            <a:pPr indent="0" marL="0">
              <a:buNone/>
            </a:pPr>
            <a:r>
              <a:rPr lang="en-US" sz="1200" dirty="0">
                <a:solidFill>
                  <a:srgbClr val="B9C6D6"/>
                </a:solidFill>
                <a:latin typeface="Calibri" pitchFamily="34" charset="0"/>
                <a:ea typeface="Calibri" pitchFamily="34" charset="-122"/>
                <a:cs typeface="Calibri" pitchFamily="34" charset="-120"/>
              </a:rPr>
              <a:t>In the app: /demo-track (Guided Demo Track)</a:t>
            </a:r>
            <a:endParaRPr lang="en-US" sz="1200" dirty="0"/>
          </a:p>
          <a:p>
            <a:pPr indent="0" marL="0">
              <a:buNone/>
            </a:pPr>
            <a:r>
              <a:rPr lang="en-US" sz="1200" dirty="0">
                <a:solidFill>
                  <a:srgbClr val="B9C6D6"/>
                </a:solidFill>
                <a:latin typeface="Calibri" pitchFamily="34" charset="0"/>
                <a:ea typeface="Calibri" pitchFamily="34" charset="-122"/>
                <a:cs typeface="Calibri" pitchFamily="34" charset="-120"/>
              </a:rPr>
              <a:t>docs/user-guide/AGENT_SHOWCASE_DEMO_SCENARIOS.md</a:t>
            </a:r>
            <a:endParaRPr lang="en-US" sz="1200" dirty="0"/>
          </a:p>
        </p:txBody>
      </p:sp>
      <p:sp>
        <p:nvSpPr>
          <p:cNvPr id="23" name="Text 17"/>
          <p:cNvSpPr/>
          <p:nvPr/>
        </p:nvSpPr>
        <p:spPr>
          <a:xfrm>
            <a:off x="914400" y="4114800"/>
            <a:ext cx="73152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xml:space="preserve">Take the tools:  </a:t>
            </a:r>
            <a:pPr indent="0" marL="0">
              <a:buNone/>
            </a:pPr>
            <a:r>
              <a:rPr lang="en-US" sz="1100" dirty="0">
                <a:solidFill>
                  <a:srgbClr val="B9C6D6"/>
                </a:solidFill>
                <a:latin typeface="Calibri" pitchFamily="34" charset="0"/>
                <a:ea typeface="Calibri" pitchFamily="34" charset="-122"/>
                <a:cs typeface="Calibri" pitchFamily="34" charset="-120"/>
              </a:rPr>
              <a:t>github.com/curtismu7/ai-gateway-client · mcp-inspector · llm-gateway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Super Banking AI Demo</dc:title>
  <dc:subject>PptxGenJS Presentation</dc:subject>
  <dc:creator>Curtis Muir</dc:creator>
  <cp:lastModifiedBy>Curtis Muir</cp:lastModifiedBy>
  <cp:revision>1</cp:revision>
  <dcterms:created xsi:type="dcterms:W3CDTF">2026-09-13T17:24:02Z</dcterms:created>
  <dcterms:modified xsi:type="dcterms:W3CDTF">2026-09-13T17:24:02Z</dcterms:modified>
</cp:coreProperties>
</file>