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use this deck: the headline on each slide is the one-sentence takeaway for executives. The body is the level of detail for SEs and technical buyers. Speaker notes carry developer detail (directories, ports, flags). The appendix (ports, flags) is for developer onboarding.
Companion FAQ: docs/FAQ.md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- 62 use cases: demo_api_server/config/useCases.js, served by GET /api/use-cases. Sign-in gates: demo_api_server/config/auth-requirements.json.
- 11 verticals (VERTICALS in useCases.js): banking, healthcare, retail, abercrombie-fitch, government, university, workforce, sporting-goods (Super Sports), manufacturing, investment, airlines.
- Agent frameworks, selected by the llm_framework setting: langchain (default), openai_agents, mastra, pydantic_ai.
- Zero tokens in the browser: docs/adr/0006-bff-only-token-custody.md.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Core services start with ./run-docker.sh (list in run-docker.sh CORE_SERVICES, plus the rag group by default).
- Opt-in groups: ./run-docker.sh optional start &lt;group&gt; with demo-auth (Node MCP gateway :3005, Authorize mock :9001), agents (openai :8891, mastra :8892, pydantic :8893), tracing (Jaeger), observability (Prometheus, Loki, Grafana, Alertmanager), mcpgw (self-hosted Privilege gateway).
- PingGateway is the default MCP gateway (ff_mcp_gateway_pinggateway ON). Inside the stack it listens on 8080; the host port is 3036.
- The BFF also exposes a loopback MCP facade on 3002.
- Directories: BFF demo_api_server/, UI demo_api_ui/, banking MCP oauth-mcp/, invest MCP demo_mcp_resource_server/, mortgage demo_api_resource_server/, HITL demo_hitl_service/, LLM proxy demo_llm_proxy/.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In-app agent: demo_api_server/services/demoAgentLangGraphService.js drives agent-service; tool calls go runMcpToolPipeline, then callToolViaGateway.
- Other frameworks: openai_agent/, mastra_agent/, pydantic_agent/ expose POST /run (BFF_INTERNAL_SECRET); they call tools back through the BFF, which holds the delegated token.
- A2A: demo_api_server/config/a2aSpecialists.js, flag ff_a2a_delegation.
- Standalone public repos (canonical copies live in this repo): github.com/curtismu7/ai-gateway-client (standalone/ai-gateway-client/), github.com/curtismu7/mcp-inspector (standalone/mcp-inspector/), github.com/curtismu7/llm-gateway (demo_llm_proxy/).
- LibreChat: librechat/ has its own compose file, port 3080. Its local config reaches the banking MCP server with auth disabled, so it is a convenience path, not a security demo.
- Copilot Studio token broker: agent_token_service (:8097), scope agent:invoke.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(use case IDs are in demo_api_server/config/useCases.js; each has docs/use-cases/&lt;slug&gt;.md):
- Sign-in: routes/oauthUser.js (PKCE, S256 required), components/FidoStepUpModal.js, routes/davinciLogin.js, /davinci-sdk-login, /sdk-login.
- Delegation: UC1 delegated access, UC3 may_act gate, UC17 short-lived credentials, UC33 mortgage.
- Intent: PAR (RFC 9126) plus RAR (RFC 9396); a transfer over the approved amount or payee is denied. UC14 and UC14b need ff_rar plus the RarMaxAmount rule imported into PingOne Authorize.
- Step-up: UC7 ($500 threshold) needs step_up_enabled. CIBA: UC22, needs ciba_enabled; approval page /ciba-approve.
- Token attacks: UC5 scope, UC10 cross-owner, UC11 audience, UC12 replay (DPoP needs ff_dpop), UC13 actor injection, UC16 impersonation. UC15 and UC29 are still marked needs-build.
- Enterprise MCP: UC25, UC39, UC40 need ff_enterprise_managed_mcp_auth. PingOne does not yet issue native ID-JAG; routes/xaaIdJagDemo.js is a mock.
- The Protocol Playground (/protocol-playground) PKCE, PAR and DPoP steps are self-contained mocks with no PingOne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Agent chat to MCP tools: SPA, then BFF, then gateway, then banking MCP (8080), invest (8081), mortgage (8082). UC34 free-form reasoning uses the same exchange, gateway and Authorize path as a chip.
- HITL: UC8 raises a 428 from the BFF; the consent modal plus email OTP produces a single-use receipt (demo_hitl_service). UC27 shows a client claiming prior consent being refused. UC23 walks progressive trust. ff_hitl_enabled defaults ON.
- The $250 / $500 / $2,000 thresholds are the simulated Authorize engine defaults (demo_authz_server); a real PingOne Authorize policy can differ.
- A2A: UC2 nested act chain from two exchanges; UC2.5 orchestrator (a2aOrchestratorService.js); UC2.6 unregistered generalist denied; UC2.7 the Linux Foundation A2A wire protocol side by side (/a2a-protocol-learning, public).
- Third-party tools: UC32 flips ff_weather_mcp_allowed_state live with no restart. UC26 gives a live verdict for every use case.
- Governance: UC-NHI1 inventory, UC-NHI2 lifecycle export (admin), UC19 credential retirement, ADMIN1–13 PingOne admin agent on the hosted PingOne MCP (config/admin/demoSteps.js).
- Flag-gated: UC37 Verified Trust (ff_verified_trust_a2a, not demo-ready), UC38 concierge (ff_personal_agent_concierge, airlines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Sign-in: PKCE S256 required, the customer app has no client secret (routes/oauthUser.js). Token custody: docs/adr/0006-bff-only-token-custody.md.
- Before the model: services/promptGuard.js (ff_prompt_injection_guard, default ON). LLM token custody rules: REGRESSION_PLAN.md section 1; services/agentReasoningClient.js, routes/agentTool.js. JWTs are stripped from every tool result the model sees.
- Exchange: services/mcpToolPipeline.js. UC16 enforcement (ff_require_act_for_agent_tools) at the Node gateway also needs REQUIRE_ACT_FOR_AGENT_TOOLS=true.
- Gateway: demo_mcp_gateway/src/auth/GatewayTokenPolicy.ts and ping-gateway/. mTLS to MCP servers: MCP_MTLS_ON in the root .env (recreate containers to change it).
- Policy: authorize_mode is pingone, simulated or pingone_with_fallback; ff_authorize_fail_open is OFF by default.
- Human and audit: demo_hitl_service single-use receipts; routes/ciba.js; step_up_enabled; ff_transaction_ledger; RFC 7009 revocation; Grafana, Loki, Jaeger; docs/incident-response/README.md.
- Honest gaps to acknowledge if asked: the agent-to-agent hop has no proof-of-possession (PingOne cannot yet issue sender-constrained tokens, see TECH_DEBT.md), and tool poisoning is caught by the normal consent gate rather than blocked outright.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 detail:
- The browser sends only a session cookie; the BFF holds every token.
- Exchange #1 (BFF): user token as subject, agent as actor, gives a token for the gateway with act = agent.
- Exchange #2 (gateway): gives a token scoped to one backend. MCP_GW_PASSTHROUGH_TO_MCP_SERVER=false in docker-compose.yml; PingGateway does an IG-native RFC 8693 exchange. Weather and Brave get the token forwarded unchanged. Some older docs (ARCHITECTURE.md, ARCHITECTURE-TRUTHS T-2/T-5) still describe a single exchange; compose is the source of truth.
- Gateway default is PingGateway; the Node gateway (demo_mcp_gateway, :3005) is the opt-in alternative.
- Authorize answers PERMIT, DENY or INDETERMINATE; INDETERMINATE from the demo engine means pause for consent or step-up.
- MCP servers re-check audience and scope as the last line. The mortgage backend takes an API key instead.
- Optional: the PingOne Privilege AI Gateway can sit in front of the Agent Gateway (ff_mcp_gateway_privilege_first, SE cluster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services run from the main checkout's docker-compose.yml. Never run docker compose up from a git worktree: a worktree has no .env files, so services start unconfigured while PingGateway still reports healthy. Use npm run serve:worktree to try worktree code in the running stack.
Each service directory has its own CLAUDE.md with versions and hard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Flags live in FLAG_REGISTRY in demo_api_server/routes/featureFlags.js; defaults in demo_api_server/services/configStore.js. Change them from the admin Feature Flags page.
Some flags are pinned by environment variables (for example FF_MCP_GATEWAY_PINGGATEWAY). While the variable is set, the UI toggle has no effect.
After switching gateways, run ./run-docker.sh demo-sync so the containers match the flags.
Full list, plus environment switches (LLM_BACKEND, MCP_MTLS_ON, authorize_mode): docs/FAQ.md.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apps are in the main demo environment (01d89b06) unless noted. App names verified against the live app list on 2026-09-13.
Full table, with the config keys each app is read from and which services use it: docs/FAQ.md, section 'Which PingOne app does what'.
Two traps:
- The live environment has no dedicated 'Demo AI App - CIBA' app, so CIBA falls back to the Admin Login app.
- Management API calls try PINGONE_MGMT_* and PINGONE_MANAGEMENT_* first, then the Admin Login app, and only then the worker (services/configStore.js). A Management API failure can therefore be the Admin Login app.
Privilege AI Gateway sign-in uses a client in the Privilege tenant (0428ba4f), not this environment; its secret lives in the vault.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24 Demo Steps are the same for all 11 customer verticals (demo_api_ui/src/config/demoUseCaseSteps.js); details come from demo_api_server/config/useCases.js.
- UC7: the PingOne MFA client used for step-up wasn't traced.
- UC14b: the PAR push uses the AI Agent Actor app (routes/intentBinding.js). UC14 sends the actor and admin client IDs in the context header; Authorize applies the RarMaxAmount rule.
- UC12: the simulation replays a token at the gateway; it doesn't send a DPoP proof.
- UC2 / UC2.5: the second agent is that vertical's Specialist Agent app (banking = Demo AI App - Investment Advisor Agent). Authorize checks the act chain depth.
- UC22: CIBA uses PINGONE_CIBA_CLIENT_ID if set; the environment has no CIBA app, so it falls back to Admin Login, then to simulated CIBA.
Symptom-to-app lookup and the full app inventory: docs/FAQ.md, 'Which PingOne app does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UC11: the exchange client oauthService uses by default wasn't traced.
- UC5 and UC18 run against the Node Demo Agent Gateway.
- UC30–UC32: the PingGateway weather route has no OAuth filter, so no PingOne app is involved.
- UC40: PingOne doesn't issue native ID-JAG yet; routes/enterpriseIdp.js signs the grant after a PingOne group check done with the worker. Needs ff_enterprise_managed_mcp_auth, which Demo Steps doesn't auto-arm for public steps.
- UC38: the worker creates the agent app through the Management API (agentBuilderService.js); the exchange client wasn't traced. Only airlines gets the chip.
- The other 38 catalog use cases aren't Demo Steps; most of them run the standard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ADMIN1–13 are admin-gated and pass through neither the gateway nor Authorize (demo_api_server/config/admin/demoSteps.js, pingone-admin/tools.js).
They sign in with PingOne's built-in pingone-mcp-server client over a loopback redirect and call https://mcp.pingone.&lt;region&gt;/admin/&lt;envId&gt;/mcp. When that fails, most fall back to the Management API with the worker, then to a mock.
ADMIN13 links to /privilege-mcp-client; what that page calls wasn't traced.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standalone repos run with no PingOne tenant and no demo stack; their canonical source is in this repo (standalone/ and demo_llm_proxy/).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A2E"/>
        </a:solidFill>
      </p:bgPr>
    </p:bg>
    <p:spTree>
      <p:nvGrpSpPr>
        <p:cNvPr id="1" name=""/>
        <p:cNvGrpSpPr/>
        <p:nvPr/>
      </p:nvGrpSpPr>
      <p:grpSpPr>
        <a:xfrm>
          <a:off x="0" y="0"/>
          <a:ext cx="0" cy="0"/>
          <a:chOff x="0" y="0"/>
          <a:chExt cx="0" cy="0"/>
        </a:xfrm>
      </p:grpSpPr>
      <p:sp>
        <p:nvSpPr>
          <p:cNvPr id="2" name="Shape 0"/>
          <p:cNvSpPr/>
          <p:nvPr/>
        </p:nvSpPr>
        <p:spPr>
          <a:xfrm>
            <a:off x="502920" y="502920"/>
            <a:ext cx="457200" cy="0"/>
          </a:xfrm>
          <a:prstGeom prst="line">
            <a:avLst/>
          </a:prstGeom>
          <a:noFill/>
          <a:ln w="22225">
            <a:solidFill>
              <a:srgbClr val="C8102E"/>
            </a:solidFill>
            <a:prstDash val="solid"/>
          </a:ln>
        </p:spPr>
      </p:sp>
      <p:sp>
        <p:nvSpPr>
          <p:cNvPr id="3" name="Shape 1"/>
          <p:cNvSpPr/>
          <p:nvPr/>
        </p:nvSpPr>
        <p:spPr>
          <a:xfrm>
            <a:off x="502920" y="502920"/>
            <a:ext cx="0" cy="457200"/>
          </a:xfrm>
          <a:prstGeom prst="line">
            <a:avLst/>
          </a:prstGeom>
          <a:noFill/>
          <a:ln w="22225">
            <a:solidFill>
              <a:srgbClr val="C8102E"/>
            </a:solidFill>
            <a:prstDash val="solid"/>
          </a:ln>
        </p:spPr>
      </p:sp>
      <p:sp>
        <p:nvSpPr>
          <p:cNvPr id="4" name="Shape 2"/>
          <p:cNvSpPr/>
          <p:nvPr/>
        </p:nvSpPr>
        <p:spPr>
          <a:xfrm>
            <a:off x="8183880" y="4636008"/>
            <a:ext cx="457200" cy="0"/>
          </a:xfrm>
          <a:prstGeom prst="line">
            <a:avLst/>
          </a:prstGeom>
          <a:noFill/>
          <a:ln w="22225">
            <a:solidFill>
              <a:srgbClr val="C8102E"/>
            </a:solidFill>
            <a:prstDash val="solid"/>
          </a:ln>
        </p:spPr>
      </p:sp>
      <p:sp>
        <p:nvSpPr>
          <p:cNvPr id="5" name="Shape 3"/>
          <p:cNvSpPr/>
          <p:nvPr/>
        </p:nvSpPr>
        <p:spPr>
          <a:xfrm>
            <a:off x="8641080" y="4178808"/>
            <a:ext cx="0" cy="457200"/>
          </a:xfrm>
          <a:prstGeom prst="line">
            <a:avLst/>
          </a:prstGeom>
          <a:noFill/>
          <a:ln w="22225">
            <a:solidFill>
              <a:srgbClr val="C8102E"/>
            </a:solidFill>
            <a:prstDash val="solid"/>
          </a:ln>
        </p:spPr>
      </p:sp>
      <p:sp>
        <p:nvSpPr>
          <p:cNvPr id="6" name="Shape 4"/>
          <p:cNvSpPr/>
          <p:nvPr/>
        </p:nvSpPr>
        <p:spPr>
          <a:xfrm>
            <a:off x="914400" y="1481328"/>
            <a:ext cx="118872" cy="118872"/>
          </a:xfrm>
          <a:prstGeom prst="rect">
            <a:avLst/>
          </a:prstGeom>
          <a:solidFill>
            <a:srgbClr val="C8102E"/>
          </a:solidFill>
          <a:ln/>
        </p:spPr>
      </p:sp>
      <p:sp>
        <p:nvSpPr>
          <p:cNvPr id="7" name="Text 5"/>
          <p:cNvSpPr/>
          <p:nvPr/>
        </p:nvSpPr>
        <p:spPr>
          <a:xfrm>
            <a:off x="1115568" y="1389888"/>
            <a:ext cx="6400800" cy="292608"/>
          </a:xfrm>
          <a:prstGeom prst="rect">
            <a:avLst/>
          </a:prstGeom>
          <a:noFill/>
          <a:ln/>
        </p:spPr>
        <p:txBody>
          <a:bodyPr wrap="square" lIns="0" tIns="0" rIns="0" bIns="0" rtlCol="0" anchor="ctr"/>
          <a:lstStyle/>
          <a:p>
            <a:pPr indent="0" marL="0">
              <a:buNone/>
            </a:pPr>
            <a:r>
              <a:rPr lang="en-US" sz="1100" b="1" spc="400" kern="0" dirty="0">
                <a:solidFill>
                  <a:srgbClr val="B9C6D6"/>
                </a:solidFill>
                <a:latin typeface="Montserrat" pitchFamily="34" charset="0"/>
                <a:ea typeface="Montserrat" pitchFamily="34" charset="-122"/>
                <a:cs typeface="Montserrat" pitchFamily="34" charset="-120"/>
              </a:rPr>
              <a:t>PINGONE  ·  IDENTITY FOR AI AGENTS</a:t>
            </a:r>
            <a:endParaRPr lang="en-US" sz="1100" dirty="0"/>
          </a:p>
        </p:txBody>
      </p:sp>
      <p:sp>
        <p:nvSpPr>
          <p:cNvPr id="8" name="Text 6"/>
          <p:cNvSpPr/>
          <p:nvPr/>
        </p:nvSpPr>
        <p:spPr>
          <a:xfrm>
            <a:off x="914400" y="1783080"/>
            <a:ext cx="7315200" cy="868680"/>
          </a:xfrm>
          <a:prstGeom prst="rect">
            <a:avLst/>
          </a:prstGeom>
          <a:noFill/>
          <a:ln/>
        </p:spPr>
        <p:txBody>
          <a:bodyPr wrap="square" lIns="0" tIns="0" rIns="0" bIns="0" rtlCol="0" anchor="ctr"/>
          <a:lstStyle/>
          <a:p>
            <a:pPr indent="0" marL="0">
              <a:buNone/>
            </a:pPr>
            <a:r>
              <a:rPr lang="en-US" sz="3800" b="1" dirty="0">
                <a:solidFill>
                  <a:srgbClr val="FFFFFF"/>
                </a:solidFill>
                <a:latin typeface="Montserrat" pitchFamily="34" charset="0"/>
                <a:ea typeface="Montserrat" pitchFamily="34" charset="-122"/>
                <a:cs typeface="Montserrat" pitchFamily="34" charset="-120"/>
              </a:rPr>
              <a:t>The Super Banking AI Demo</a:t>
            </a:r>
            <a:endParaRPr lang="en-US" sz="3800" dirty="0"/>
          </a:p>
        </p:txBody>
      </p:sp>
      <p:sp>
        <p:nvSpPr>
          <p:cNvPr id="9" name="Text 7"/>
          <p:cNvSpPr/>
          <p:nvPr/>
        </p:nvSpPr>
        <p:spPr>
          <a:xfrm>
            <a:off x="914400" y="2670048"/>
            <a:ext cx="6949440" cy="411480"/>
          </a:xfrm>
          <a:prstGeom prst="rect">
            <a:avLst/>
          </a:prstGeom>
          <a:noFill/>
          <a:ln/>
        </p:spPr>
        <p:txBody>
          <a:bodyPr wrap="square" lIns="0" tIns="0" rIns="0" bIns="0" rtlCol="0" anchor="t"/>
          <a:lstStyle/>
          <a:p>
            <a:pPr indent="0" marL="0">
              <a:buNone/>
            </a:pPr>
            <a:r>
              <a:rPr lang="en-US" sz="1700" dirty="0">
                <a:solidFill>
                  <a:srgbClr val="B9C6D6"/>
                </a:solidFill>
                <a:latin typeface="Calibri" pitchFamily="34" charset="0"/>
                <a:ea typeface="Calibri" pitchFamily="34" charset="-122"/>
                <a:cs typeface="Calibri" pitchFamily="34" charset="-120"/>
              </a:rPr>
              <a:t>What it runs, what it proves, and how it keeps the agent in bounds</a:t>
            </a:r>
            <a:endParaRPr lang="en-US" sz="1700" dirty="0"/>
          </a:p>
        </p:txBody>
      </p:sp>
      <p:sp>
        <p:nvSpPr>
          <p:cNvPr id="10" name="Text 8"/>
          <p:cNvSpPr/>
          <p:nvPr/>
        </p:nvSpPr>
        <p:spPr>
          <a:xfrm>
            <a:off x="914400" y="3474720"/>
            <a:ext cx="6400800" cy="274320"/>
          </a:xfrm>
          <a:prstGeom prst="rect">
            <a:avLst/>
          </a:prstGeom>
          <a:noFill/>
          <a:ln/>
        </p:spPr>
        <p:txBody>
          <a:bodyPr wrap="square" lIns="0" tIns="0" rIns="0" bIns="0" rtlCol="0" anchor="t"/>
          <a:lstStyle/>
          <a:p>
            <a:pPr indent="0" marL="0">
              <a:buNone/>
            </a:pPr>
            <a:r>
              <a:rPr lang="en-US" sz="1200" dirty="0">
                <a:solidFill>
                  <a:srgbClr val="B9C6D6"/>
                </a:solidFill>
                <a:latin typeface="Calibri" pitchFamily="34" charset="0"/>
                <a:ea typeface="Calibri" pitchFamily="34" charset="-122"/>
                <a:cs typeface="Calibri" pitchFamily="34" charset="-120"/>
              </a:rPr>
              <a:t>September 2026  ·  github.com/curtismu7/AI-DEMO2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AT A GLANCE</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A working bank where AI agents act for customers, and PingOne decides what they may do</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2</a:t>
            </a:r>
            <a:endParaRPr lang="en-US" sz="900" dirty="0"/>
          </a:p>
        </p:txBody>
      </p:sp>
      <p:sp>
        <p:nvSpPr>
          <p:cNvPr id="7" name="Shape 4"/>
          <p:cNvSpPr/>
          <p:nvPr/>
        </p:nvSpPr>
        <p:spPr>
          <a:xfrm>
            <a:off x="457200" y="1572768"/>
            <a:ext cx="1851660" cy="1417320"/>
          </a:xfrm>
          <a:prstGeom prst="rect">
            <a:avLst/>
          </a:prstGeom>
          <a:solidFill>
            <a:srgbClr val="FFFFFF"/>
          </a:solidFill>
          <a:ln w="9525">
            <a:solidFill>
              <a:srgbClr val="D5DBE3"/>
            </a:solidFill>
            <a:prstDash val="solid"/>
          </a:ln>
        </p:spPr>
      </p:sp>
      <p:sp>
        <p:nvSpPr>
          <p:cNvPr id="8" name="Text 5"/>
          <p:cNvSpPr/>
          <p:nvPr/>
        </p:nvSpPr>
        <p:spPr>
          <a:xfrm>
            <a:off x="640080" y="1664208"/>
            <a:ext cx="1485900" cy="777240"/>
          </a:xfrm>
          <a:prstGeom prst="rect">
            <a:avLst/>
          </a:prstGeom>
          <a:noFill/>
          <a:ln/>
        </p:spPr>
        <p:txBody>
          <a:bodyPr wrap="square" lIns="0" tIns="0" rIns="0" bIns="0" rtlCol="0" anchor="ctr"/>
          <a:lstStyle/>
          <a:p>
            <a:pPr indent="0" marL="0">
              <a:buNone/>
            </a:pPr>
            <a:r>
              <a:rPr lang="en-US" sz="4400" b="1" dirty="0">
                <a:solidFill>
                  <a:srgbClr val="C8102E"/>
                </a:solidFill>
                <a:latin typeface="Montserrat" pitchFamily="34" charset="0"/>
                <a:ea typeface="Montserrat" pitchFamily="34" charset="-122"/>
                <a:cs typeface="Montserrat" pitchFamily="34" charset="-120"/>
              </a:rPr>
              <a:t>62</a:t>
            </a:r>
            <a:endParaRPr lang="en-US" sz="4400" dirty="0"/>
          </a:p>
        </p:txBody>
      </p:sp>
      <p:sp>
        <p:nvSpPr>
          <p:cNvPr id="9" name="Text 6"/>
          <p:cNvSpPr/>
          <p:nvPr/>
        </p:nvSpPr>
        <p:spPr>
          <a:xfrm>
            <a:off x="640080" y="2432304"/>
            <a:ext cx="1485900" cy="411480"/>
          </a:xfrm>
          <a:prstGeom prst="rect">
            <a:avLst/>
          </a:prstGeom>
          <a:noFill/>
          <a:ln/>
        </p:spPr>
        <p:txBody>
          <a:bodyPr wrap="square" lIns="0" tIns="0" rIns="0" bIns="0" rtlCol="0" anchor="t"/>
          <a:lstStyle/>
          <a:p>
            <a:pPr indent="0" marL="0">
              <a:buNone/>
            </a:pPr>
            <a:r>
              <a:rPr lang="en-US" sz="1200" dirty="0">
                <a:solidFill>
                  <a:srgbClr val="4F5E71"/>
                </a:solidFill>
                <a:latin typeface="Calibri" pitchFamily="34" charset="0"/>
                <a:ea typeface="Calibri" pitchFamily="34" charset="-122"/>
                <a:cs typeface="Calibri" pitchFamily="34" charset="-120"/>
              </a:rPr>
              <a:t>use cases in the catalog</a:t>
            </a:r>
            <a:endParaRPr lang="en-US" sz="1200" dirty="0"/>
          </a:p>
        </p:txBody>
      </p:sp>
      <p:sp>
        <p:nvSpPr>
          <p:cNvPr id="10" name="Shape 7"/>
          <p:cNvSpPr/>
          <p:nvPr/>
        </p:nvSpPr>
        <p:spPr>
          <a:xfrm>
            <a:off x="2583180" y="1572768"/>
            <a:ext cx="1851660" cy="1417320"/>
          </a:xfrm>
          <a:prstGeom prst="rect">
            <a:avLst/>
          </a:prstGeom>
          <a:solidFill>
            <a:srgbClr val="FFFFFF"/>
          </a:solidFill>
          <a:ln w="9525">
            <a:solidFill>
              <a:srgbClr val="D5DBE3"/>
            </a:solidFill>
            <a:prstDash val="solid"/>
          </a:ln>
        </p:spPr>
      </p:sp>
      <p:sp>
        <p:nvSpPr>
          <p:cNvPr id="11" name="Text 8"/>
          <p:cNvSpPr/>
          <p:nvPr/>
        </p:nvSpPr>
        <p:spPr>
          <a:xfrm>
            <a:off x="2766060" y="1664208"/>
            <a:ext cx="1485900" cy="777240"/>
          </a:xfrm>
          <a:prstGeom prst="rect">
            <a:avLst/>
          </a:prstGeom>
          <a:noFill/>
          <a:ln/>
        </p:spPr>
        <p:txBody>
          <a:bodyPr wrap="square" lIns="0" tIns="0" rIns="0" bIns="0" rtlCol="0" anchor="ctr"/>
          <a:lstStyle/>
          <a:p>
            <a:pPr indent="0" marL="0">
              <a:buNone/>
            </a:pPr>
            <a:r>
              <a:rPr lang="en-US" sz="4400" b="1" dirty="0">
                <a:solidFill>
                  <a:srgbClr val="C8102E"/>
                </a:solidFill>
                <a:latin typeface="Montserrat" pitchFamily="34" charset="0"/>
                <a:ea typeface="Montserrat" pitchFamily="34" charset="-122"/>
                <a:cs typeface="Montserrat" pitchFamily="34" charset="-120"/>
              </a:rPr>
              <a:t>11</a:t>
            </a:r>
            <a:endParaRPr lang="en-US" sz="4400" dirty="0"/>
          </a:p>
        </p:txBody>
      </p:sp>
      <p:sp>
        <p:nvSpPr>
          <p:cNvPr id="12" name="Text 9"/>
          <p:cNvSpPr/>
          <p:nvPr/>
        </p:nvSpPr>
        <p:spPr>
          <a:xfrm>
            <a:off x="2766060" y="2432304"/>
            <a:ext cx="1485900" cy="411480"/>
          </a:xfrm>
          <a:prstGeom prst="rect">
            <a:avLst/>
          </a:prstGeom>
          <a:noFill/>
          <a:ln/>
        </p:spPr>
        <p:txBody>
          <a:bodyPr wrap="square" lIns="0" tIns="0" rIns="0" bIns="0" rtlCol="0" anchor="t"/>
          <a:lstStyle/>
          <a:p>
            <a:pPr indent="0" marL="0">
              <a:buNone/>
            </a:pPr>
            <a:r>
              <a:rPr lang="en-US" sz="1200" dirty="0">
                <a:solidFill>
                  <a:srgbClr val="4F5E71"/>
                </a:solidFill>
                <a:latin typeface="Calibri" pitchFamily="34" charset="0"/>
                <a:ea typeface="Calibri" pitchFamily="34" charset="-122"/>
                <a:cs typeface="Calibri" pitchFamily="34" charset="-120"/>
              </a:rPr>
              <a:t>industry verticals on one platform</a:t>
            </a:r>
            <a:endParaRPr lang="en-US" sz="1200" dirty="0"/>
          </a:p>
        </p:txBody>
      </p:sp>
      <p:sp>
        <p:nvSpPr>
          <p:cNvPr id="13" name="Shape 10"/>
          <p:cNvSpPr/>
          <p:nvPr/>
        </p:nvSpPr>
        <p:spPr>
          <a:xfrm>
            <a:off x="4709160" y="1572768"/>
            <a:ext cx="1851660" cy="1417320"/>
          </a:xfrm>
          <a:prstGeom prst="rect">
            <a:avLst/>
          </a:prstGeom>
          <a:solidFill>
            <a:srgbClr val="FFFFFF"/>
          </a:solidFill>
          <a:ln w="9525">
            <a:solidFill>
              <a:srgbClr val="D5DBE3"/>
            </a:solidFill>
            <a:prstDash val="solid"/>
          </a:ln>
        </p:spPr>
      </p:sp>
      <p:sp>
        <p:nvSpPr>
          <p:cNvPr id="14" name="Text 11"/>
          <p:cNvSpPr/>
          <p:nvPr/>
        </p:nvSpPr>
        <p:spPr>
          <a:xfrm>
            <a:off x="4892040" y="1664208"/>
            <a:ext cx="1485900" cy="777240"/>
          </a:xfrm>
          <a:prstGeom prst="rect">
            <a:avLst/>
          </a:prstGeom>
          <a:noFill/>
          <a:ln/>
        </p:spPr>
        <p:txBody>
          <a:bodyPr wrap="square" lIns="0" tIns="0" rIns="0" bIns="0" rtlCol="0" anchor="ctr"/>
          <a:lstStyle/>
          <a:p>
            <a:pPr indent="0" marL="0">
              <a:buNone/>
            </a:pPr>
            <a:r>
              <a:rPr lang="en-US" sz="4400" b="1" dirty="0">
                <a:solidFill>
                  <a:srgbClr val="C8102E"/>
                </a:solidFill>
                <a:latin typeface="Montserrat" pitchFamily="34" charset="0"/>
                <a:ea typeface="Montserrat" pitchFamily="34" charset="-122"/>
                <a:cs typeface="Montserrat" pitchFamily="34" charset="-120"/>
              </a:rPr>
              <a:t>4</a:t>
            </a:r>
            <a:endParaRPr lang="en-US" sz="4400" dirty="0"/>
          </a:p>
        </p:txBody>
      </p:sp>
      <p:sp>
        <p:nvSpPr>
          <p:cNvPr id="15" name="Text 12"/>
          <p:cNvSpPr/>
          <p:nvPr/>
        </p:nvSpPr>
        <p:spPr>
          <a:xfrm>
            <a:off x="4892040" y="2432304"/>
            <a:ext cx="1485900" cy="411480"/>
          </a:xfrm>
          <a:prstGeom prst="rect">
            <a:avLst/>
          </a:prstGeom>
          <a:noFill/>
          <a:ln/>
        </p:spPr>
        <p:txBody>
          <a:bodyPr wrap="square" lIns="0" tIns="0" rIns="0" bIns="0" rtlCol="0" anchor="t"/>
          <a:lstStyle/>
          <a:p>
            <a:pPr indent="0" marL="0">
              <a:buNone/>
            </a:pPr>
            <a:r>
              <a:rPr lang="en-US" sz="1200" dirty="0">
                <a:solidFill>
                  <a:srgbClr val="4F5E71"/>
                </a:solidFill>
                <a:latin typeface="Calibri" pitchFamily="34" charset="0"/>
                <a:ea typeface="Calibri" pitchFamily="34" charset="-122"/>
                <a:cs typeface="Calibri" pitchFamily="34" charset="-120"/>
              </a:rPr>
              <a:t>agent frameworks, one security model</a:t>
            </a:r>
            <a:endParaRPr lang="en-US" sz="1200" dirty="0"/>
          </a:p>
        </p:txBody>
      </p:sp>
      <p:sp>
        <p:nvSpPr>
          <p:cNvPr id="16" name="Shape 13"/>
          <p:cNvSpPr/>
          <p:nvPr/>
        </p:nvSpPr>
        <p:spPr>
          <a:xfrm>
            <a:off x="6835140" y="1572768"/>
            <a:ext cx="1851660" cy="1417320"/>
          </a:xfrm>
          <a:prstGeom prst="rect">
            <a:avLst/>
          </a:prstGeom>
          <a:solidFill>
            <a:srgbClr val="FFFFFF"/>
          </a:solidFill>
          <a:ln w="9525">
            <a:solidFill>
              <a:srgbClr val="D5DBE3"/>
            </a:solidFill>
            <a:prstDash val="solid"/>
          </a:ln>
        </p:spPr>
      </p:sp>
      <p:sp>
        <p:nvSpPr>
          <p:cNvPr id="17" name="Text 14"/>
          <p:cNvSpPr/>
          <p:nvPr/>
        </p:nvSpPr>
        <p:spPr>
          <a:xfrm>
            <a:off x="7018020" y="1664208"/>
            <a:ext cx="1485900" cy="777240"/>
          </a:xfrm>
          <a:prstGeom prst="rect">
            <a:avLst/>
          </a:prstGeom>
          <a:noFill/>
          <a:ln/>
        </p:spPr>
        <p:txBody>
          <a:bodyPr wrap="square" lIns="0" tIns="0" rIns="0" bIns="0" rtlCol="0" anchor="ctr"/>
          <a:lstStyle/>
          <a:p>
            <a:pPr indent="0" marL="0">
              <a:buNone/>
            </a:pPr>
            <a:r>
              <a:rPr lang="en-US" sz="4400" b="1" dirty="0">
                <a:solidFill>
                  <a:srgbClr val="C8102E"/>
                </a:solidFill>
                <a:latin typeface="Montserrat" pitchFamily="34" charset="0"/>
                <a:ea typeface="Montserrat" pitchFamily="34" charset="-122"/>
                <a:cs typeface="Montserrat" pitchFamily="34" charset="-120"/>
              </a:rPr>
              <a:t>0</a:t>
            </a:r>
            <a:endParaRPr lang="en-US" sz="4400" dirty="0"/>
          </a:p>
        </p:txBody>
      </p:sp>
      <p:sp>
        <p:nvSpPr>
          <p:cNvPr id="18" name="Text 15"/>
          <p:cNvSpPr/>
          <p:nvPr/>
        </p:nvSpPr>
        <p:spPr>
          <a:xfrm>
            <a:off x="7018020" y="2432304"/>
            <a:ext cx="1485900" cy="411480"/>
          </a:xfrm>
          <a:prstGeom prst="rect">
            <a:avLst/>
          </a:prstGeom>
          <a:noFill/>
          <a:ln/>
        </p:spPr>
        <p:txBody>
          <a:bodyPr wrap="square" lIns="0" tIns="0" rIns="0" bIns="0" rtlCol="0" anchor="t"/>
          <a:lstStyle/>
          <a:p>
            <a:pPr indent="0" marL="0">
              <a:buNone/>
            </a:pPr>
            <a:r>
              <a:rPr lang="en-US" sz="1200" dirty="0">
                <a:solidFill>
                  <a:srgbClr val="4F5E71"/>
                </a:solidFill>
                <a:latin typeface="Calibri" pitchFamily="34" charset="0"/>
                <a:ea typeface="Calibri" pitchFamily="34" charset="-122"/>
                <a:cs typeface="Calibri" pitchFamily="34" charset="-120"/>
              </a:rPr>
              <a:t>raw tokens ever sent to the browser</a:t>
            </a:r>
            <a:endParaRPr lang="en-US" sz="1200" dirty="0"/>
          </a:p>
        </p:txBody>
      </p:sp>
      <p:sp>
        <p:nvSpPr>
          <p:cNvPr id="19" name="Shape 16"/>
          <p:cNvSpPr/>
          <p:nvPr/>
        </p:nvSpPr>
        <p:spPr>
          <a:xfrm>
            <a:off x="457200" y="3291840"/>
            <a:ext cx="8229600" cy="1280160"/>
          </a:xfrm>
          <a:prstGeom prst="rect">
            <a:avLst/>
          </a:prstGeom>
          <a:solidFill>
            <a:srgbClr val="FFFFFF"/>
          </a:solidFill>
          <a:ln w="9525">
            <a:solidFill>
              <a:srgbClr val="D5DBE3"/>
            </a:solidFill>
            <a:prstDash val="solid"/>
          </a:ln>
        </p:spPr>
      </p:sp>
      <p:sp>
        <p:nvSpPr>
          <p:cNvPr id="20" name="Shape 17"/>
          <p:cNvSpPr/>
          <p:nvPr/>
        </p:nvSpPr>
        <p:spPr>
          <a:xfrm>
            <a:off x="658368" y="3474720"/>
            <a:ext cx="384048" cy="384048"/>
          </a:xfrm>
          <a:prstGeom prst="ellipse">
            <a:avLst/>
          </a:prstGeom>
          <a:solidFill>
            <a:srgbClr val="0B1A2E"/>
          </a:solidFill>
          <a:ln/>
        </p:spPr>
      </p:sp>
      <p:pic>
        <p:nvPicPr>
          <p:cNvPr id="21" name="Image 0" descr="preencoded.png">    </p:cNvPr>
          <p:cNvPicPr>
            <a:picLocks noChangeAspect="1"/>
          </p:cNvPicPr>
          <p:nvPr/>
        </p:nvPicPr>
        <p:blipFill>
          <a:blip r:embed="rId1"/>
          <a:stretch>
            <a:fillRect/>
          </a:stretch>
        </p:blipFill>
        <p:spPr>
          <a:xfrm>
            <a:off x="762061" y="3578413"/>
            <a:ext cx="176662" cy="176662"/>
          </a:xfrm>
          <a:prstGeom prst="rect">
            <a:avLst/>
          </a:prstGeom>
        </p:spPr>
      </p:pic>
      <p:sp>
        <p:nvSpPr>
          <p:cNvPr id="22" name="Text 18"/>
          <p:cNvSpPr/>
          <p:nvPr/>
        </p:nvSpPr>
        <p:spPr>
          <a:xfrm>
            <a:off x="1188720" y="3474720"/>
            <a:ext cx="914400" cy="384048"/>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Built on</a:t>
            </a:r>
            <a:endParaRPr lang="en-US" sz="1150" dirty="0"/>
          </a:p>
        </p:txBody>
      </p:sp>
      <p:sp>
        <p:nvSpPr>
          <p:cNvPr id="23" name="Text 19"/>
          <p:cNvSpPr/>
          <p:nvPr/>
        </p:nvSpPr>
        <p:spPr>
          <a:xfrm>
            <a:off x="2103120" y="3474720"/>
            <a:ext cx="6492240" cy="384048"/>
          </a:xfrm>
          <a:prstGeom prst="rect">
            <a:avLst/>
          </a:prstGeom>
          <a:noFill/>
          <a:ln/>
        </p:spPr>
        <p:txBody>
          <a:bodyPr wrap="square" lIns="0" tIns="0" rIns="0" bIns="0" rtlCol="0" anchor="ctr"/>
          <a:lstStyle/>
          <a:p>
            <a:pPr indent="0" marL="0">
              <a:buNone/>
            </a:pPr>
            <a:r>
              <a:rPr lang="en-US" sz="1150" dirty="0">
                <a:solidFill>
                  <a:srgbClr val="0B1A2E"/>
                </a:solidFill>
                <a:latin typeface="Calibri" pitchFamily="34" charset="0"/>
                <a:ea typeface="Calibri" pitchFamily="34" charset="-122"/>
                <a:cs typeface="Calibri" pitchFamily="34" charset="-120"/>
              </a:rPr>
              <a:t>PingOne SSO and MFA · token exchange · PingOne Authorize · PingOne Privilege · DaVinci</a:t>
            </a:r>
            <a:endParaRPr lang="en-US" sz="1150" dirty="0"/>
          </a:p>
        </p:txBody>
      </p:sp>
      <p:sp>
        <p:nvSpPr>
          <p:cNvPr id="24" name="Shape 20"/>
          <p:cNvSpPr/>
          <p:nvPr/>
        </p:nvSpPr>
        <p:spPr>
          <a:xfrm>
            <a:off x="658368" y="4005072"/>
            <a:ext cx="384048" cy="384048"/>
          </a:xfrm>
          <a:prstGeom prst="ellipse">
            <a:avLst/>
          </a:prstGeom>
          <a:solidFill>
            <a:srgbClr val="0B1A2E"/>
          </a:solidFill>
          <a:ln/>
        </p:spPr>
      </p:sp>
      <p:pic>
        <p:nvPicPr>
          <p:cNvPr id="25" name="Image 1" descr="preencoded.png">    </p:cNvPr>
          <p:cNvPicPr>
            <a:picLocks noChangeAspect="1"/>
          </p:cNvPicPr>
          <p:nvPr/>
        </p:nvPicPr>
        <p:blipFill>
          <a:blip r:embed="rId2"/>
          <a:stretch>
            <a:fillRect/>
          </a:stretch>
        </p:blipFill>
        <p:spPr>
          <a:xfrm>
            <a:off x="762061" y="4108765"/>
            <a:ext cx="176662" cy="176662"/>
          </a:xfrm>
          <a:prstGeom prst="rect">
            <a:avLst/>
          </a:prstGeom>
        </p:spPr>
      </p:pic>
      <p:sp>
        <p:nvSpPr>
          <p:cNvPr id="26" name="Text 21"/>
          <p:cNvSpPr/>
          <p:nvPr/>
        </p:nvSpPr>
        <p:spPr>
          <a:xfrm>
            <a:off x="1188720" y="4005072"/>
            <a:ext cx="914400" cy="384048"/>
          </a:xfrm>
          <a:prstGeom prst="rect">
            <a:avLst/>
          </a:prstGeom>
          <a:noFill/>
          <a:ln/>
        </p:spPr>
        <p:txBody>
          <a:bodyPr wrap="square" lIns="0" tIns="0" rIns="0" bIns="0" rtlCol="0" anchor="ctr"/>
          <a:lstStyle/>
          <a:p>
            <a:pPr indent="0" marL="0">
              <a:buNone/>
            </a:pPr>
            <a:r>
              <a:rPr lang="en-US" sz="1150" b="1" dirty="0">
                <a:solidFill>
                  <a:srgbClr val="0B1A2E"/>
                </a:solidFill>
                <a:latin typeface="Montserrat" pitchFamily="34" charset="0"/>
                <a:ea typeface="Montserrat" pitchFamily="34" charset="-122"/>
                <a:cs typeface="Montserrat" pitchFamily="34" charset="-120"/>
              </a:rPr>
              <a:t>Runs on</a:t>
            </a:r>
            <a:endParaRPr lang="en-US" sz="1150" dirty="0"/>
          </a:p>
        </p:txBody>
      </p:sp>
      <p:sp>
        <p:nvSpPr>
          <p:cNvPr id="27" name="Text 22"/>
          <p:cNvSpPr/>
          <p:nvPr/>
        </p:nvSpPr>
        <p:spPr>
          <a:xfrm>
            <a:off x="2103120" y="4005072"/>
            <a:ext cx="6492240" cy="384048"/>
          </a:xfrm>
          <a:prstGeom prst="rect">
            <a:avLst/>
          </a:prstGeom>
          <a:noFill/>
          <a:ln/>
        </p:spPr>
        <p:txBody>
          <a:bodyPr wrap="square" lIns="0" tIns="0" rIns="0" bIns="0" rtlCol="0" anchor="ctr"/>
          <a:lstStyle/>
          <a:p>
            <a:pPr indent="0" marL="0">
              <a:buNone/>
            </a:pPr>
            <a:r>
              <a:rPr lang="en-US" sz="1150" dirty="0">
                <a:solidFill>
                  <a:srgbClr val="0B1A2E"/>
                </a:solidFill>
                <a:latin typeface="Calibri" pitchFamily="34" charset="0"/>
                <a:ea typeface="Calibri" pitchFamily="34" charset="-122"/>
                <a:cs typeface="Calibri" pitchFamily="34" charset="-120"/>
              </a:rPr>
              <a:t>Docker on a laptop · local Kubernetes (OrbStack) · ai-demo.ping-devops.com (Ping SE cluster)</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1  ·  SERVERS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A small core stack runs the demo; Ping's cloud services make the security decisions</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3</a:t>
            </a:r>
            <a:endParaRPr lang="en-US" sz="900" dirty="0"/>
          </a:p>
        </p:txBody>
      </p:sp>
      <p:sp>
        <p:nvSpPr>
          <p:cNvPr id="7" name="Shape 4"/>
          <p:cNvSpPr/>
          <p:nvPr/>
        </p:nvSpPr>
        <p:spPr>
          <a:xfrm>
            <a:off x="457200" y="1481328"/>
            <a:ext cx="1885950" cy="2670048"/>
          </a:xfrm>
          <a:prstGeom prst="rect">
            <a:avLst/>
          </a:prstGeom>
          <a:solidFill>
            <a:srgbClr val="FFFFFF"/>
          </a:solidFill>
          <a:ln w="9525">
            <a:solidFill>
              <a:srgbClr val="D5DBE3"/>
            </a:solidFill>
            <a:prstDash val="solid"/>
          </a:ln>
        </p:spPr>
      </p:sp>
      <p:sp>
        <p:nvSpPr>
          <p:cNvPr id="8" name="Shape 5"/>
          <p:cNvSpPr/>
          <p:nvPr/>
        </p:nvSpPr>
        <p:spPr>
          <a:xfrm>
            <a:off x="594360" y="1591056"/>
            <a:ext cx="365760" cy="365760"/>
          </a:xfrm>
          <a:prstGeom prst="ellipse">
            <a:avLst/>
          </a:prstGeom>
          <a:solidFill>
            <a:srgbClr val="0B1A2E"/>
          </a:solidFill>
          <a:ln/>
        </p:spPr>
      </p:sp>
      <p:pic>
        <p:nvPicPr>
          <p:cNvPr id="9" name="Image 0" descr="preencoded.png">    </p:cNvPr>
          <p:cNvPicPr>
            <a:picLocks noChangeAspect="1"/>
          </p:cNvPicPr>
          <p:nvPr/>
        </p:nvPicPr>
        <p:blipFill>
          <a:blip r:embed="rId1"/>
          <a:stretch>
            <a:fillRect/>
          </a:stretch>
        </p:blipFill>
        <p:spPr>
          <a:xfrm>
            <a:off x="693115" y="1689811"/>
            <a:ext cx="168250" cy="168250"/>
          </a:xfrm>
          <a:prstGeom prst="rect">
            <a:avLst/>
          </a:prstGeom>
        </p:spPr>
      </p:pic>
      <p:sp>
        <p:nvSpPr>
          <p:cNvPr id="10" name="Text 6"/>
          <p:cNvSpPr/>
          <p:nvPr/>
        </p:nvSpPr>
        <p:spPr>
          <a:xfrm>
            <a:off x="1042416" y="1591056"/>
            <a:ext cx="1209294" cy="365760"/>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Front door</a:t>
            </a:r>
            <a:endParaRPr lang="en-US" sz="1100" dirty="0"/>
          </a:p>
        </p:txBody>
      </p:sp>
      <p:sp>
        <p:nvSpPr>
          <p:cNvPr id="11" name="Text 7"/>
          <p:cNvSpPr/>
          <p:nvPr/>
        </p:nvSpPr>
        <p:spPr>
          <a:xfrm>
            <a:off x="594360" y="2066544"/>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Web app</a:t>
            </a:r>
            <a:pPr indent="0" marL="0">
              <a:buNone/>
            </a:pPr>
            <a:r>
              <a:rPr lang="en-US" sz="950" b="1" dirty="0">
                <a:solidFill>
                  <a:srgbClr val="C8102E"/>
                </a:solidFill>
                <a:latin typeface="Calibri" pitchFamily="34" charset="0"/>
                <a:ea typeface="Calibri" pitchFamily="34" charset="-122"/>
                <a:cs typeface="Calibri" pitchFamily="34" charset="-120"/>
              </a:rPr>
              <a:t>  :4000</a:t>
            </a:r>
            <a:endParaRPr lang="en-US" sz="1050" dirty="0"/>
          </a:p>
        </p:txBody>
      </p:sp>
      <p:sp>
        <p:nvSpPr>
          <p:cNvPr id="12" name="Text 8"/>
          <p:cNvSpPr/>
          <p:nvPr/>
        </p:nvSpPr>
        <p:spPr>
          <a:xfrm>
            <a:off x="594360" y="2240280"/>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React app, cookie session</a:t>
            </a:r>
            <a:endParaRPr lang="en-US" sz="950" dirty="0"/>
          </a:p>
        </p:txBody>
      </p:sp>
      <p:sp>
        <p:nvSpPr>
          <p:cNvPr id="13" name="Text 9"/>
          <p:cNvSpPr/>
          <p:nvPr/>
        </p:nvSpPr>
        <p:spPr>
          <a:xfrm>
            <a:off x="594360" y="2468880"/>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BFF API</a:t>
            </a:r>
            <a:pPr indent="0" marL="0">
              <a:buNone/>
            </a:pPr>
            <a:r>
              <a:rPr lang="en-US" sz="950" b="1" dirty="0">
                <a:solidFill>
                  <a:srgbClr val="C8102E"/>
                </a:solidFill>
                <a:latin typeface="Calibri" pitchFamily="34" charset="0"/>
                <a:ea typeface="Calibri" pitchFamily="34" charset="-122"/>
                <a:cs typeface="Calibri" pitchFamily="34" charset="-120"/>
              </a:rPr>
              <a:t>  :3001</a:t>
            </a:r>
            <a:endParaRPr lang="en-US" sz="1050" dirty="0"/>
          </a:p>
        </p:txBody>
      </p:sp>
      <p:sp>
        <p:nvSpPr>
          <p:cNvPr id="14" name="Text 10"/>
          <p:cNvSpPr/>
          <p:nvPr/>
        </p:nvSpPr>
        <p:spPr>
          <a:xfrm>
            <a:off x="594360" y="2642616"/>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Holds tokens, runs sign-in</a:t>
            </a:r>
            <a:endParaRPr lang="en-US" sz="950" dirty="0"/>
          </a:p>
        </p:txBody>
      </p:sp>
      <p:sp>
        <p:nvSpPr>
          <p:cNvPr id="15" name="Shape 11"/>
          <p:cNvSpPr/>
          <p:nvPr/>
        </p:nvSpPr>
        <p:spPr>
          <a:xfrm>
            <a:off x="2571750" y="1481328"/>
            <a:ext cx="1885950" cy="2670048"/>
          </a:xfrm>
          <a:prstGeom prst="rect">
            <a:avLst/>
          </a:prstGeom>
          <a:solidFill>
            <a:srgbClr val="FFFFFF"/>
          </a:solidFill>
          <a:ln w="9525">
            <a:solidFill>
              <a:srgbClr val="D5DBE3"/>
            </a:solidFill>
            <a:prstDash val="solid"/>
          </a:ln>
        </p:spPr>
      </p:sp>
      <p:sp>
        <p:nvSpPr>
          <p:cNvPr id="16" name="Shape 12"/>
          <p:cNvSpPr/>
          <p:nvPr/>
        </p:nvSpPr>
        <p:spPr>
          <a:xfrm>
            <a:off x="2708910" y="1591056"/>
            <a:ext cx="365760" cy="365760"/>
          </a:xfrm>
          <a:prstGeom prst="ellipse">
            <a:avLst/>
          </a:prstGeom>
          <a:solidFill>
            <a:srgbClr val="0B1A2E"/>
          </a:solidFill>
          <a:ln/>
        </p:spPr>
      </p:sp>
      <p:pic>
        <p:nvPicPr>
          <p:cNvPr id="17" name="Image 1" descr="preencoded.png">    </p:cNvPr>
          <p:cNvPicPr>
            <a:picLocks noChangeAspect="1"/>
          </p:cNvPicPr>
          <p:nvPr/>
        </p:nvPicPr>
        <p:blipFill>
          <a:blip r:embed="rId2"/>
          <a:stretch>
            <a:fillRect/>
          </a:stretch>
        </p:blipFill>
        <p:spPr>
          <a:xfrm>
            <a:off x="2807665" y="1689811"/>
            <a:ext cx="168250" cy="168250"/>
          </a:xfrm>
          <a:prstGeom prst="rect">
            <a:avLst/>
          </a:prstGeom>
        </p:spPr>
      </p:pic>
      <p:sp>
        <p:nvSpPr>
          <p:cNvPr id="18" name="Text 13"/>
          <p:cNvSpPr/>
          <p:nvPr/>
        </p:nvSpPr>
        <p:spPr>
          <a:xfrm>
            <a:off x="3156966" y="1591056"/>
            <a:ext cx="1209294" cy="365760"/>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Gateway</a:t>
            </a:r>
            <a:endParaRPr lang="en-US" sz="1100" dirty="0"/>
          </a:p>
        </p:txBody>
      </p:sp>
      <p:sp>
        <p:nvSpPr>
          <p:cNvPr id="19" name="Text 14"/>
          <p:cNvSpPr/>
          <p:nvPr/>
        </p:nvSpPr>
        <p:spPr>
          <a:xfrm>
            <a:off x="2708910" y="2066544"/>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Agent Gateway</a:t>
            </a:r>
            <a:pPr indent="0" marL="0">
              <a:buNone/>
            </a:pPr>
            <a:r>
              <a:rPr lang="en-US" sz="950" b="1" dirty="0">
                <a:solidFill>
                  <a:srgbClr val="C8102E"/>
                </a:solidFill>
                <a:latin typeface="Calibri" pitchFamily="34" charset="0"/>
                <a:ea typeface="Calibri" pitchFamily="34" charset="-122"/>
                <a:cs typeface="Calibri" pitchFamily="34" charset="-120"/>
              </a:rPr>
              <a:t>  :3036</a:t>
            </a:r>
            <a:endParaRPr lang="en-US" sz="1050" dirty="0"/>
          </a:p>
        </p:txBody>
      </p:sp>
      <p:sp>
        <p:nvSpPr>
          <p:cNvPr id="20" name="Text 15"/>
          <p:cNvSpPr/>
          <p:nvPr/>
        </p:nvSpPr>
        <p:spPr>
          <a:xfrm>
            <a:off x="2708910" y="2240280"/>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Real: PingGateway, default</a:t>
            </a:r>
            <a:endParaRPr lang="en-US" sz="950" dirty="0"/>
          </a:p>
        </p:txBody>
      </p:sp>
      <p:sp>
        <p:nvSpPr>
          <p:cNvPr id="21" name="Text 16"/>
          <p:cNvSpPr/>
          <p:nvPr/>
        </p:nvSpPr>
        <p:spPr>
          <a:xfrm>
            <a:off x="2708910" y="2468880"/>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PingOne Authorize</a:t>
            </a:r>
            <a:pPr indent="0" marL="0">
              <a:buNone/>
            </a:pPr>
            <a:r>
              <a:rPr lang="en-US" sz="950" b="1" dirty="0">
                <a:solidFill>
                  <a:srgbClr val="C8102E"/>
                </a:solidFill>
                <a:latin typeface="Calibri" pitchFamily="34" charset="0"/>
                <a:ea typeface="Calibri" pitchFamily="34" charset="-122"/>
                <a:cs typeface="Calibri" pitchFamily="34" charset="-120"/>
              </a:rPr>
              <a:t>  cloud</a:t>
            </a:r>
            <a:endParaRPr lang="en-US" sz="1050" dirty="0"/>
          </a:p>
        </p:txBody>
      </p:sp>
      <p:sp>
        <p:nvSpPr>
          <p:cNvPr id="22" name="Text 17"/>
          <p:cNvSpPr/>
          <p:nvPr/>
        </p:nvSpPr>
        <p:spPr>
          <a:xfrm>
            <a:off x="2708910" y="2642616"/>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Real policy decisions, default</a:t>
            </a:r>
            <a:endParaRPr lang="en-US" sz="950" dirty="0"/>
          </a:p>
        </p:txBody>
      </p:sp>
      <p:sp>
        <p:nvSpPr>
          <p:cNvPr id="23" name="Text 18"/>
          <p:cNvSpPr/>
          <p:nvPr/>
        </p:nvSpPr>
        <p:spPr>
          <a:xfrm>
            <a:off x="2708910" y="2871216"/>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HITL service</a:t>
            </a:r>
            <a:pPr indent="0" marL="0">
              <a:buNone/>
            </a:pPr>
            <a:r>
              <a:rPr lang="en-US" sz="950" b="1" dirty="0">
                <a:solidFill>
                  <a:srgbClr val="C8102E"/>
                </a:solidFill>
                <a:latin typeface="Calibri" pitchFamily="34" charset="0"/>
                <a:ea typeface="Calibri" pitchFamily="34" charset="-122"/>
                <a:cs typeface="Calibri" pitchFamily="34" charset="-120"/>
              </a:rPr>
              <a:t>  :3009</a:t>
            </a:r>
            <a:endParaRPr lang="en-US" sz="1050" dirty="0"/>
          </a:p>
        </p:txBody>
      </p:sp>
      <p:sp>
        <p:nvSpPr>
          <p:cNvPr id="24" name="Text 19"/>
          <p:cNvSpPr/>
          <p:nvPr/>
        </p:nvSpPr>
        <p:spPr>
          <a:xfrm>
            <a:off x="2708910" y="3044952"/>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Human approval challenges</a:t>
            </a:r>
            <a:endParaRPr lang="en-US" sz="950" dirty="0"/>
          </a:p>
        </p:txBody>
      </p:sp>
      <p:sp>
        <p:nvSpPr>
          <p:cNvPr id="25" name="Text 20"/>
          <p:cNvSpPr/>
          <p:nvPr/>
        </p:nvSpPr>
        <p:spPr>
          <a:xfrm>
            <a:off x="2708910" y="3273552"/>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Node MCP gateway</a:t>
            </a:r>
            <a:pPr indent="0" marL="0">
              <a:buNone/>
            </a:pPr>
            <a:r>
              <a:rPr lang="en-US" sz="950" b="1" dirty="0">
                <a:solidFill>
                  <a:srgbClr val="C8102E"/>
                </a:solidFill>
                <a:latin typeface="Calibri" pitchFamily="34" charset="0"/>
                <a:ea typeface="Calibri" pitchFamily="34" charset="-122"/>
                <a:cs typeface="Calibri" pitchFamily="34" charset="-120"/>
              </a:rPr>
              <a:t>  :3005</a:t>
            </a:r>
            <a:endParaRPr lang="en-US" sz="1050" dirty="0"/>
          </a:p>
        </p:txBody>
      </p:sp>
      <p:sp>
        <p:nvSpPr>
          <p:cNvPr id="26" name="Text 21"/>
          <p:cNvSpPr/>
          <p:nvPr/>
        </p:nvSpPr>
        <p:spPr>
          <a:xfrm>
            <a:off x="2708910" y="3447288"/>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Demo gateway, opt-in</a:t>
            </a:r>
            <a:endParaRPr lang="en-US" sz="950" dirty="0"/>
          </a:p>
        </p:txBody>
      </p:sp>
      <p:sp>
        <p:nvSpPr>
          <p:cNvPr id="27" name="Text 22"/>
          <p:cNvSpPr/>
          <p:nvPr/>
        </p:nvSpPr>
        <p:spPr>
          <a:xfrm>
            <a:off x="2708910" y="3675888"/>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Authorize mock</a:t>
            </a:r>
            <a:pPr indent="0" marL="0">
              <a:buNone/>
            </a:pPr>
            <a:r>
              <a:rPr lang="en-US" sz="950" b="1" dirty="0">
                <a:solidFill>
                  <a:srgbClr val="C8102E"/>
                </a:solidFill>
                <a:latin typeface="Calibri" pitchFamily="34" charset="0"/>
                <a:ea typeface="Calibri" pitchFamily="34" charset="-122"/>
                <a:cs typeface="Calibri" pitchFamily="34" charset="-120"/>
              </a:rPr>
              <a:t>  :9001</a:t>
            </a:r>
            <a:endParaRPr lang="en-US" sz="1050" dirty="0"/>
          </a:p>
        </p:txBody>
      </p:sp>
      <p:sp>
        <p:nvSpPr>
          <p:cNvPr id="28" name="Text 23"/>
          <p:cNvSpPr/>
          <p:nvPr/>
        </p:nvSpPr>
        <p:spPr>
          <a:xfrm>
            <a:off x="2708910" y="3849624"/>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Demo Authorize, opt-in</a:t>
            </a:r>
            <a:endParaRPr lang="en-US" sz="950" dirty="0"/>
          </a:p>
        </p:txBody>
      </p:sp>
      <p:sp>
        <p:nvSpPr>
          <p:cNvPr id="29" name="Shape 24"/>
          <p:cNvSpPr/>
          <p:nvPr/>
        </p:nvSpPr>
        <p:spPr>
          <a:xfrm>
            <a:off x="4686300" y="1481328"/>
            <a:ext cx="1885950" cy="2670048"/>
          </a:xfrm>
          <a:prstGeom prst="rect">
            <a:avLst/>
          </a:prstGeom>
          <a:solidFill>
            <a:srgbClr val="FFFFFF"/>
          </a:solidFill>
          <a:ln w="9525">
            <a:solidFill>
              <a:srgbClr val="D5DBE3"/>
            </a:solidFill>
            <a:prstDash val="solid"/>
          </a:ln>
        </p:spPr>
      </p:sp>
      <p:sp>
        <p:nvSpPr>
          <p:cNvPr id="30" name="Shape 25"/>
          <p:cNvSpPr/>
          <p:nvPr/>
        </p:nvSpPr>
        <p:spPr>
          <a:xfrm>
            <a:off x="4823460" y="1591056"/>
            <a:ext cx="365760" cy="365760"/>
          </a:xfrm>
          <a:prstGeom prst="ellipse">
            <a:avLst/>
          </a:prstGeom>
          <a:solidFill>
            <a:srgbClr val="0B1A2E"/>
          </a:solidFill>
          <a:ln/>
        </p:spPr>
      </p:sp>
      <p:pic>
        <p:nvPicPr>
          <p:cNvPr id="31" name="Image 2" descr="preencoded.png">    </p:cNvPr>
          <p:cNvPicPr>
            <a:picLocks noChangeAspect="1"/>
          </p:cNvPicPr>
          <p:nvPr/>
        </p:nvPicPr>
        <p:blipFill>
          <a:blip r:embed="rId3"/>
          <a:stretch>
            <a:fillRect/>
          </a:stretch>
        </p:blipFill>
        <p:spPr>
          <a:xfrm>
            <a:off x="4922215" y="1689811"/>
            <a:ext cx="168250" cy="168250"/>
          </a:xfrm>
          <a:prstGeom prst="rect">
            <a:avLst/>
          </a:prstGeom>
        </p:spPr>
      </p:pic>
      <p:sp>
        <p:nvSpPr>
          <p:cNvPr id="32" name="Text 26"/>
          <p:cNvSpPr/>
          <p:nvPr/>
        </p:nvSpPr>
        <p:spPr>
          <a:xfrm>
            <a:off x="5271516" y="1591056"/>
            <a:ext cx="1209294" cy="365760"/>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MCP tools</a:t>
            </a:r>
            <a:endParaRPr lang="en-US" sz="1100" dirty="0"/>
          </a:p>
        </p:txBody>
      </p:sp>
      <p:sp>
        <p:nvSpPr>
          <p:cNvPr id="33" name="Text 27"/>
          <p:cNvSpPr/>
          <p:nvPr/>
        </p:nvSpPr>
        <p:spPr>
          <a:xfrm>
            <a:off x="4823460" y="2066544"/>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Banking MCP</a:t>
            </a:r>
            <a:pPr indent="0" marL="0">
              <a:buNone/>
            </a:pPr>
            <a:r>
              <a:rPr lang="en-US" sz="950" b="1" dirty="0">
                <a:solidFill>
                  <a:srgbClr val="C8102E"/>
                </a:solidFill>
                <a:latin typeface="Calibri" pitchFamily="34" charset="0"/>
                <a:ea typeface="Calibri" pitchFamily="34" charset="-122"/>
                <a:cs typeface="Calibri" pitchFamily="34" charset="-120"/>
              </a:rPr>
              <a:t>  :8080</a:t>
            </a:r>
            <a:endParaRPr lang="en-US" sz="1050" dirty="0"/>
          </a:p>
        </p:txBody>
      </p:sp>
      <p:sp>
        <p:nvSpPr>
          <p:cNvPr id="34" name="Text 28"/>
          <p:cNvSpPr/>
          <p:nvPr/>
        </p:nvSpPr>
        <p:spPr>
          <a:xfrm>
            <a:off x="4823460" y="2240280"/>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Accounts and transfers</a:t>
            </a:r>
            <a:endParaRPr lang="en-US" sz="950" dirty="0"/>
          </a:p>
        </p:txBody>
      </p:sp>
      <p:sp>
        <p:nvSpPr>
          <p:cNvPr id="35" name="Text 29"/>
          <p:cNvSpPr/>
          <p:nvPr/>
        </p:nvSpPr>
        <p:spPr>
          <a:xfrm>
            <a:off x="4823460" y="2468880"/>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Invest MCP</a:t>
            </a:r>
            <a:pPr indent="0" marL="0">
              <a:buNone/>
            </a:pPr>
            <a:r>
              <a:rPr lang="en-US" sz="950" b="1" dirty="0">
                <a:solidFill>
                  <a:srgbClr val="C8102E"/>
                </a:solidFill>
                <a:latin typeface="Calibri" pitchFamily="34" charset="0"/>
                <a:ea typeface="Calibri" pitchFamily="34" charset="-122"/>
                <a:cs typeface="Calibri" pitchFamily="34" charset="-120"/>
              </a:rPr>
              <a:t>  :8081</a:t>
            </a:r>
            <a:endParaRPr lang="en-US" sz="1050" dirty="0"/>
          </a:p>
        </p:txBody>
      </p:sp>
      <p:sp>
        <p:nvSpPr>
          <p:cNvPr id="36" name="Text 30"/>
          <p:cNvSpPr/>
          <p:nvPr/>
        </p:nvSpPr>
        <p:spPr>
          <a:xfrm>
            <a:off x="4823460" y="2642616"/>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Investments over SQLite</a:t>
            </a:r>
            <a:endParaRPr lang="en-US" sz="950" dirty="0"/>
          </a:p>
        </p:txBody>
      </p:sp>
      <p:sp>
        <p:nvSpPr>
          <p:cNvPr id="37" name="Text 31"/>
          <p:cNvSpPr/>
          <p:nvPr/>
        </p:nvSpPr>
        <p:spPr>
          <a:xfrm>
            <a:off x="4823460" y="2871216"/>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Mortgage API</a:t>
            </a:r>
            <a:pPr indent="0" marL="0">
              <a:buNone/>
            </a:pPr>
            <a:r>
              <a:rPr lang="en-US" sz="950" b="1" dirty="0">
                <a:solidFill>
                  <a:srgbClr val="C8102E"/>
                </a:solidFill>
                <a:latin typeface="Calibri" pitchFamily="34" charset="0"/>
                <a:ea typeface="Calibri" pitchFamily="34" charset="-122"/>
                <a:cs typeface="Calibri" pitchFamily="34" charset="-120"/>
              </a:rPr>
              <a:t>  :8082</a:t>
            </a:r>
            <a:endParaRPr lang="en-US" sz="1050" dirty="0"/>
          </a:p>
        </p:txBody>
      </p:sp>
      <p:sp>
        <p:nvSpPr>
          <p:cNvPr id="38" name="Text 32"/>
          <p:cNvSpPr/>
          <p:nvPr/>
        </p:nvSpPr>
        <p:spPr>
          <a:xfrm>
            <a:off x="4823460" y="3044952"/>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Backend using an API key</a:t>
            </a:r>
            <a:endParaRPr lang="en-US" sz="950" dirty="0"/>
          </a:p>
        </p:txBody>
      </p:sp>
      <p:sp>
        <p:nvSpPr>
          <p:cNvPr id="39" name="Text 33"/>
          <p:cNvSpPr/>
          <p:nvPr/>
        </p:nvSpPr>
        <p:spPr>
          <a:xfrm>
            <a:off x="4823460" y="3273552"/>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Weather, Brave</a:t>
            </a:r>
            <a:pPr indent="0" marL="0">
              <a:buNone/>
            </a:pPr>
            <a:r>
              <a:rPr lang="en-US" sz="950" b="1" dirty="0">
                <a:solidFill>
                  <a:srgbClr val="C8102E"/>
                </a:solidFill>
                <a:latin typeface="Calibri" pitchFamily="34" charset="0"/>
                <a:ea typeface="Calibri" pitchFamily="34" charset="-122"/>
                <a:cs typeface="Calibri" pitchFamily="34" charset="-120"/>
              </a:rPr>
              <a:t>  :8896/7</a:t>
            </a:r>
            <a:endParaRPr lang="en-US" sz="1050" dirty="0"/>
          </a:p>
        </p:txBody>
      </p:sp>
      <p:sp>
        <p:nvSpPr>
          <p:cNvPr id="40" name="Text 34"/>
          <p:cNvSpPr/>
          <p:nvPr/>
        </p:nvSpPr>
        <p:spPr>
          <a:xfrm>
            <a:off x="4823460" y="3447288"/>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Third-party tools, gated</a:t>
            </a:r>
            <a:endParaRPr lang="en-US" sz="950" dirty="0"/>
          </a:p>
        </p:txBody>
      </p:sp>
      <p:sp>
        <p:nvSpPr>
          <p:cNvPr id="41" name="Text 35"/>
          <p:cNvSpPr/>
          <p:nvPr/>
        </p:nvSpPr>
        <p:spPr>
          <a:xfrm>
            <a:off x="4823460" y="3675888"/>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MCP proxy</a:t>
            </a:r>
            <a:pPr indent="0" marL="0">
              <a:buNone/>
            </a:pPr>
            <a:r>
              <a:rPr lang="en-US" sz="950" b="1" dirty="0">
                <a:solidFill>
                  <a:srgbClr val="C8102E"/>
                </a:solidFill>
                <a:latin typeface="Calibri" pitchFamily="34" charset="0"/>
                <a:ea typeface="Calibri" pitchFamily="34" charset="-122"/>
                <a:cs typeface="Calibri" pitchFamily="34" charset="-120"/>
              </a:rPr>
              <a:t>  :8895</a:t>
            </a:r>
            <a:endParaRPr lang="en-US" sz="1050" dirty="0"/>
          </a:p>
        </p:txBody>
      </p:sp>
      <p:sp>
        <p:nvSpPr>
          <p:cNvPr id="42" name="Text 36"/>
          <p:cNvSpPr/>
          <p:nvPr/>
        </p:nvSpPr>
        <p:spPr>
          <a:xfrm>
            <a:off x="4823460" y="3849624"/>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MCP as REST for agents</a:t>
            </a:r>
            <a:endParaRPr lang="en-US" sz="950" dirty="0"/>
          </a:p>
        </p:txBody>
      </p:sp>
      <p:sp>
        <p:nvSpPr>
          <p:cNvPr id="43" name="Shape 37"/>
          <p:cNvSpPr/>
          <p:nvPr/>
        </p:nvSpPr>
        <p:spPr>
          <a:xfrm>
            <a:off x="6800850" y="1481328"/>
            <a:ext cx="1885950" cy="2670048"/>
          </a:xfrm>
          <a:prstGeom prst="rect">
            <a:avLst/>
          </a:prstGeom>
          <a:solidFill>
            <a:srgbClr val="FFFFFF"/>
          </a:solidFill>
          <a:ln w="9525">
            <a:solidFill>
              <a:srgbClr val="D5DBE3"/>
            </a:solidFill>
            <a:prstDash val="solid"/>
          </a:ln>
        </p:spPr>
      </p:sp>
      <p:sp>
        <p:nvSpPr>
          <p:cNvPr id="44" name="Shape 38"/>
          <p:cNvSpPr/>
          <p:nvPr/>
        </p:nvSpPr>
        <p:spPr>
          <a:xfrm>
            <a:off x="6938010" y="1591056"/>
            <a:ext cx="365760" cy="365760"/>
          </a:xfrm>
          <a:prstGeom prst="ellipse">
            <a:avLst/>
          </a:prstGeom>
          <a:solidFill>
            <a:srgbClr val="0B1A2E"/>
          </a:solidFill>
          <a:ln/>
        </p:spPr>
      </p:sp>
      <p:pic>
        <p:nvPicPr>
          <p:cNvPr id="45" name="Image 3" descr="preencoded.png">    </p:cNvPr>
          <p:cNvPicPr>
            <a:picLocks noChangeAspect="1"/>
          </p:cNvPicPr>
          <p:nvPr/>
        </p:nvPicPr>
        <p:blipFill>
          <a:blip r:embed="rId4"/>
          <a:stretch>
            <a:fillRect/>
          </a:stretch>
        </p:blipFill>
        <p:spPr>
          <a:xfrm>
            <a:off x="7036765" y="1689811"/>
            <a:ext cx="168250" cy="168250"/>
          </a:xfrm>
          <a:prstGeom prst="rect">
            <a:avLst/>
          </a:prstGeom>
        </p:spPr>
      </p:pic>
      <p:sp>
        <p:nvSpPr>
          <p:cNvPr id="46" name="Text 39"/>
          <p:cNvSpPr/>
          <p:nvPr/>
        </p:nvSpPr>
        <p:spPr>
          <a:xfrm>
            <a:off x="7386066" y="1591056"/>
            <a:ext cx="1209294" cy="365760"/>
          </a:xfrm>
          <a:prstGeom prst="rect">
            <a:avLst/>
          </a:prstGeom>
          <a:noFill/>
          <a:ln/>
        </p:spPr>
        <p:txBody>
          <a:bodyPr wrap="square" lIns="0" tIns="0" rIns="0" bIns="0" rtlCol="0" anchor="ctr"/>
          <a:lstStyle/>
          <a:p>
            <a:pPr indent="0" marL="0">
              <a:buNone/>
            </a:pPr>
            <a:r>
              <a:rPr lang="en-US" sz="1100" b="1" dirty="0">
                <a:solidFill>
                  <a:srgbClr val="0B1A2E"/>
                </a:solidFill>
                <a:latin typeface="Montserrat" pitchFamily="34" charset="0"/>
                <a:ea typeface="Montserrat" pitchFamily="34" charset="-122"/>
                <a:cs typeface="Montserrat" pitchFamily="34" charset="-120"/>
              </a:rPr>
              <a:t>AI runtime</a:t>
            </a:r>
            <a:endParaRPr lang="en-US" sz="1100" dirty="0"/>
          </a:p>
        </p:txBody>
      </p:sp>
      <p:sp>
        <p:nvSpPr>
          <p:cNvPr id="47" name="Text 40"/>
          <p:cNvSpPr/>
          <p:nvPr/>
        </p:nvSpPr>
        <p:spPr>
          <a:xfrm>
            <a:off x="6938010" y="2066544"/>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Agent service</a:t>
            </a:r>
            <a:pPr indent="0" marL="0">
              <a:buNone/>
            </a:pPr>
            <a:r>
              <a:rPr lang="en-US" sz="950" b="1" dirty="0">
                <a:solidFill>
                  <a:srgbClr val="C8102E"/>
                </a:solidFill>
                <a:latin typeface="Calibri" pitchFamily="34" charset="0"/>
                <a:ea typeface="Calibri" pitchFamily="34" charset="-122"/>
                <a:cs typeface="Calibri" pitchFamily="34" charset="-120"/>
              </a:rPr>
              <a:t>  :3016</a:t>
            </a:r>
            <a:endParaRPr lang="en-US" sz="1050" dirty="0"/>
          </a:p>
        </p:txBody>
      </p:sp>
      <p:sp>
        <p:nvSpPr>
          <p:cNvPr id="48" name="Text 41"/>
          <p:cNvSpPr/>
          <p:nvPr/>
        </p:nvSpPr>
        <p:spPr>
          <a:xfrm>
            <a:off x="6938010" y="2240280"/>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In-app agent's reasoning</a:t>
            </a:r>
            <a:endParaRPr lang="en-US" sz="950" dirty="0"/>
          </a:p>
        </p:txBody>
      </p:sp>
      <p:sp>
        <p:nvSpPr>
          <p:cNvPr id="49" name="Text 42"/>
          <p:cNvSpPr/>
          <p:nvPr/>
        </p:nvSpPr>
        <p:spPr>
          <a:xfrm>
            <a:off x="6938010" y="2468880"/>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LangChain agent</a:t>
            </a:r>
            <a:pPr indent="0" marL="0">
              <a:buNone/>
            </a:pPr>
            <a:r>
              <a:rPr lang="en-US" sz="950" b="1" dirty="0">
                <a:solidFill>
                  <a:srgbClr val="C8102E"/>
                </a:solidFill>
                <a:latin typeface="Calibri" pitchFamily="34" charset="0"/>
                <a:ea typeface="Calibri" pitchFamily="34" charset="-122"/>
                <a:cs typeface="Calibri" pitchFamily="34" charset="-120"/>
              </a:rPr>
              <a:t>  :8888</a:t>
            </a:r>
            <a:endParaRPr lang="en-US" sz="1050" dirty="0"/>
          </a:p>
        </p:txBody>
      </p:sp>
      <p:sp>
        <p:nvSpPr>
          <p:cNvPr id="50" name="Text 43"/>
          <p:cNvSpPr/>
          <p:nvPr/>
        </p:nvSpPr>
        <p:spPr>
          <a:xfrm>
            <a:off x="6938010" y="2642616"/>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Default agent framework</a:t>
            </a:r>
            <a:endParaRPr lang="en-US" sz="950" dirty="0"/>
          </a:p>
        </p:txBody>
      </p:sp>
      <p:sp>
        <p:nvSpPr>
          <p:cNvPr id="51" name="Text 44"/>
          <p:cNvSpPr/>
          <p:nvPr/>
        </p:nvSpPr>
        <p:spPr>
          <a:xfrm>
            <a:off x="6938010" y="2871216"/>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LLM proxy</a:t>
            </a:r>
            <a:pPr indent="0" marL="0">
              <a:buNone/>
            </a:pPr>
            <a:r>
              <a:rPr lang="en-US" sz="950" b="1" dirty="0">
                <a:solidFill>
                  <a:srgbClr val="C8102E"/>
                </a:solidFill>
                <a:latin typeface="Calibri" pitchFamily="34" charset="0"/>
                <a:ea typeface="Calibri" pitchFamily="34" charset="-122"/>
                <a:cs typeface="Calibri" pitchFamily="34" charset="-120"/>
              </a:rPr>
              <a:t>  :8090</a:t>
            </a:r>
            <a:endParaRPr lang="en-US" sz="1050" dirty="0"/>
          </a:p>
        </p:txBody>
      </p:sp>
      <p:sp>
        <p:nvSpPr>
          <p:cNvPr id="52" name="Text 45"/>
          <p:cNvSpPr/>
          <p:nvPr/>
        </p:nvSpPr>
        <p:spPr>
          <a:xfrm>
            <a:off x="6938010" y="3044952"/>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Routes to local models</a:t>
            </a:r>
            <a:endParaRPr lang="en-US" sz="950" dirty="0"/>
          </a:p>
        </p:txBody>
      </p:sp>
      <p:sp>
        <p:nvSpPr>
          <p:cNvPr id="53" name="Text 46"/>
          <p:cNvSpPr/>
          <p:nvPr/>
        </p:nvSpPr>
        <p:spPr>
          <a:xfrm>
            <a:off x="6938010" y="3273552"/>
            <a:ext cx="1657350" cy="182880"/>
          </a:xfrm>
          <a:prstGeom prst="rect">
            <a:avLst/>
          </a:prstGeom>
          <a:noFill/>
          <a:ln/>
        </p:spPr>
        <p:txBody>
          <a:bodyPr wrap="square" lIns="0" tIns="0" rIns="0" bIns="0" rtlCol="0" anchor="t"/>
          <a:lstStyle/>
          <a:p>
            <a:pPr indent="0" marL="0">
              <a:buNone/>
            </a:pPr>
            <a:r>
              <a:rPr lang="en-US" sz="1050" b="1" dirty="0">
                <a:solidFill>
                  <a:srgbClr val="0B1A2E"/>
                </a:solidFill>
                <a:latin typeface="Calibri" pitchFamily="34" charset="0"/>
                <a:ea typeface="Calibri" pitchFamily="34" charset="-122"/>
                <a:cs typeface="Calibri" pitchFamily="34" charset="-120"/>
              </a:rPr>
              <a:t>Code Search (RAG)</a:t>
            </a:r>
            <a:pPr indent="0" marL="0">
              <a:buNone/>
            </a:pPr>
            <a:r>
              <a:rPr lang="en-US" sz="950" b="1" dirty="0">
                <a:solidFill>
                  <a:srgbClr val="C8102E"/>
                </a:solidFill>
                <a:latin typeface="Calibri" pitchFamily="34" charset="0"/>
                <a:ea typeface="Calibri" pitchFamily="34" charset="-122"/>
                <a:cs typeface="Calibri" pitchFamily="34" charset="-120"/>
              </a:rPr>
              <a:t>  :8095</a:t>
            </a:r>
            <a:endParaRPr lang="en-US" sz="1050" dirty="0"/>
          </a:p>
        </p:txBody>
      </p:sp>
      <p:sp>
        <p:nvSpPr>
          <p:cNvPr id="54" name="Text 47"/>
          <p:cNvSpPr/>
          <p:nvPr/>
        </p:nvSpPr>
        <p:spPr>
          <a:xfrm>
            <a:off x="6938010" y="3447288"/>
            <a:ext cx="1657350" cy="182880"/>
          </a:xfrm>
          <a:prstGeom prst="rect">
            <a:avLst/>
          </a:prstGeom>
          <a:noFill/>
          <a:ln/>
        </p:spPr>
        <p:txBody>
          <a:bodyPr wrap="square" lIns="0" tIns="0" rIns="0" bIns="0" rtlCol="0" anchor="t"/>
          <a:lstStyle/>
          <a:p>
            <a:pPr indent="0" marL="0">
              <a:buNone/>
            </a:pPr>
            <a:r>
              <a:rPr lang="en-US" sz="950" dirty="0">
                <a:solidFill>
                  <a:srgbClr val="4F5E71"/>
                </a:solidFill>
                <a:latin typeface="Calibri" pitchFamily="34" charset="0"/>
                <a:ea typeface="Calibri" pitchFamily="34" charset="-122"/>
                <a:cs typeface="Calibri" pitchFamily="34" charset="-120"/>
              </a:rPr>
              <a:t>Weaviate and embeddings</a:t>
            </a:r>
            <a:endParaRPr lang="en-US" sz="950" dirty="0"/>
          </a:p>
        </p:txBody>
      </p:sp>
      <p:sp>
        <p:nvSpPr>
          <p:cNvPr id="55" name="Shape 48"/>
          <p:cNvSpPr/>
          <p:nvPr/>
        </p:nvSpPr>
        <p:spPr>
          <a:xfrm>
            <a:off x="457200" y="4352544"/>
            <a:ext cx="8229600" cy="329184"/>
          </a:xfrm>
          <a:prstGeom prst="rect">
            <a:avLst/>
          </a:prstGeom>
          <a:solidFill>
            <a:srgbClr val="E8ECF2"/>
          </a:solidFill>
          <a:ln w="9525">
            <a:solidFill>
              <a:srgbClr val="D5DBE3"/>
            </a:solidFill>
            <a:prstDash val="solid"/>
          </a:ln>
        </p:spPr>
      </p:sp>
      <p:sp>
        <p:nvSpPr>
          <p:cNvPr id="56" name="Text 49"/>
          <p:cNvSpPr/>
          <p:nvPr/>
        </p:nvSpPr>
        <p:spPr>
          <a:xfrm>
            <a:off x="594360" y="4352544"/>
            <a:ext cx="7955280" cy="329184"/>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Hosted by Ping:  </a:t>
            </a:r>
            <a:pPr indent="0" marL="0">
              <a:buNone/>
            </a:pPr>
            <a:r>
              <a:rPr lang="en-US" sz="1050" dirty="0">
                <a:solidFill>
                  <a:srgbClr val="0B1A2E"/>
                </a:solidFill>
                <a:latin typeface="Calibri" pitchFamily="34" charset="0"/>
                <a:ea typeface="Calibri" pitchFamily="34" charset="-122"/>
                <a:cs typeface="Calibri" pitchFamily="34" charset="-120"/>
              </a:rPr>
              <a:t>PingOne · Authorize · Privilege · DaVinci</a:t>
            </a:r>
            <a:pPr indent="0" marL="0">
              <a:buNone/>
            </a:pPr>
            <a:r>
              <a:rPr lang="en-US" sz="1050" b="1" dirty="0">
                <a:solidFill>
                  <a:srgbClr val="0B1A2E"/>
                </a:solidFill>
                <a:latin typeface="Calibri" pitchFamily="34" charset="0"/>
                <a:ea typeface="Calibri" pitchFamily="34" charset="-122"/>
                <a:cs typeface="Calibri" pitchFamily="34" charset="-120"/>
              </a:rPr>
              <a:t>          Opt-in:  </a:t>
            </a:r>
            <a:pPr indent="0" marL="0">
              <a:buNone/>
            </a:pPr>
            <a:r>
              <a:rPr lang="en-US" sz="1050" dirty="0">
                <a:solidFill>
                  <a:srgbClr val="0B1A2E"/>
                </a:solidFill>
                <a:latin typeface="Calibri" pitchFamily="34" charset="0"/>
                <a:ea typeface="Calibri" pitchFamily="34" charset="-122"/>
                <a:cs typeface="Calibri" pitchFamily="34" charset="-120"/>
              </a:rPr>
              <a:t>extra agents · observability · tracing · Privilege gateway</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2  ·  CLIENTS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Browsers, agent frameworks and outside AI tools all connect, each with the sign-in that fits it</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4</a:t>
            </a:r>
            <a:endParaRPr lang="en-US" sz="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8229600" cy="914400"/>
        </p:xfrm>
        <a:graphic>
          <a:graphicData uri="http://schemas.openxmlformats.org/drawingml/2006/table">
            <a:tbl>
              <a:tblPr/>
              <a:tblGrid>
                <a:gridCol w="1828800"/>
                <a:gridCol w="3063240"/>
                <a:gridCol w="3337560"/>
              </a:tblGrid>
              <a:tr h="338328">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Client</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What it is</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How it signs in</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Web app (React)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What customers and presenters use</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Session cookie; the BFF keeps every token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In-app agent + 4 frameworks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LangChain, OpenAI Agents SDK, Mastra, Pydantic AI</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RFC 8693 delegated token; act claim names the agent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Agent-to-agent specialists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A generalist hands work to a specialist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Chained exchange; Authorize checks the act chain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AI Gateway Client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Standalone MCP gateway tester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PKCE plus dynamic client registration (RFC 7591)</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MCP Inspector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Standalone and in-app tool tester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ID-JAG or open registration; in-app via the BFF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LibreChat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Open-source chat UI on demo tools and LLMs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SE cluster: RFC 9728 discovery, DCR, PKCE</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Claude Code and IDEs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Developer MCP clients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PingOne PKCE app via the gateway's OAuth broker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Microsoft Copilot Studio</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4F5E71"/>
                          </a:solidFill>
                          <a:latin typeface="Calibri" pitchFamily="34" charset="0"/>
                          <a:ea typeface="Calibri" pitchFamily="34" charset="-122"/>
                          <a:cs typeface="Calibri" pitchFamily="34" charset="-120"/>
                        </a:rPr>
                        <a:t>External agent platform</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Client credentials from a token broker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3  ·  OAUTH AND IDENTITY USE CASES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Real PingOne flows, not slideware: sign-in, delegation, intent binding and approval</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5</a:t>
            </a:r>
            <a:endParaRPr lang="en-US" sz="900" dirty="0"/>
          </a:p>
        </p:txBody>
      </p:sp>
      <p:sp>
        <p:nvSpPr>
          <p:cNvPr id="7" name="Shape 4"/>
          <p:cNvSpPr/>
          <p:nvPr/>
        </p:nvSpPr>
        <p:spPr>
          <a:xfrm>
            <a:off x="457200" y="1463040"/>
            <a:ext cx="2590800" cy="1463040"/>
          </a:xfrm>
          <a:prstGeom prst="rect">
            <a:avLst/>
          </a:prstGeom>
          <a:solidFill>
            <a:srgbClr val="FFFFFF"/>
          </a:solidFill>
          <a:ln w="9525">
            <a:solidFill>
              <a:srgbClr val="D5DBE3"/>
            </a:solidFill>
            <a:prstDash val="solid"/>
          </a:ln>
        </p:spPr>
      </p:sp>
      <p:sp>
        <p:nvSpPr>
          <p:cNvPr id="8" name="Shape 5"/>
          <p:cNvSpPr/>
          <p:nvPr/>
        </p:nvSpPr>
        <p:spPr>
          <a:xfrm>
            <a:off x="603504" y="1609344"/>
            <a:ext cx="420624" cy="420624"/>
          </a:xfrm>
          <a:prstGeom prst="ellipse">
            <a:avLst/>
          </a:prstGeom>
          <a:solidFill>
            <a:srgbClr val="0B1A2E"/>
          </a:solidFill>
          <a:ln/>
        </p:spPr>
      </p:sp>
      <p:pic>
        <p:nvPicPr>
          <p:cNvPr id="9" name="Image 0" descr="preencoded.png">    </p:cNvPr>
          <p:cNvPicPr>
            <a:picLocks noChangeAspect="1"/>
          </p:cNvPicPr>
          <p:nvPr/>
        </p:nvPicPr>
        <p:blipFill>
          <a:blip r:embed="rId1"/>
          <a:stretch>
            <a:fillRect/>
          </a:stretch>
        </p:blipFill>
        <p:spPr>
          <a:xfrm>
            <a:off x="717072" y="1722912"/>
            <a:ext cx="193487" cy="193487"/>
          </a:xfrm>
          <a:prstGeom prst="rect">
            <a:avLst/>
          </a:prstGeom>
        </p:spPr>
      </p:pic>
      <p:sp>
        <p:nvSpPr>
          <p:cNvPr id="10" name="Text 6"/>
          <p:cNvSpPr/>
          <p:nvPr/>
        </p:nvSpPr>
        <p:spPr>
          <a:xfrm>
            <a:off x="1133856" y="1600200"/>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OIDC · PKCE · FIDO2</a:t>
            </a:r>
            <a:endParaRPr lang="en-US" sz="800" dirty="0"/>
          </a:p>
        </p:txBody>
      </p:sp>
      <p:sp>
        <p:nvSpPr>
          <p:cNvPr id="11" name="Text 7"/>
          <p:cNvSpPr/>
          <p:nvPr/>
        </p:nvSpPr>
        <p:spPr>
          <a:xfrm>
            <a:off x="1133856" y="1792224"/>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Sign-in</a:t>
            </a:r>
            <a:endParaRPr lang="en-US" sz="1150" dirty="0"/>
          </a:p>
        </p:txBody>
      </p:sp>
      <p:sp>
        <p:nvSpPr>
          <p:cNvPr id="12" name="Text 8"/>
          <p:cNvSpPr/>
          <p:nvPr/>
        </p:nvSpPr>
        <p:spPr>
          <a:xfrm>
            <a:off x="603504" y="2139696"/>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PKCE authorization code, passkeys with OTP fallback, DaVinci login</a:t>
            </a:r>
            <a:endParaRPr lang="en-US" sz="1050" dirty="0"/>
          </a:p>
        </p:txBody>
      </p:sp>
      <p:sp>
        <p:nvSpPr>
          <p:cNvPr id="13" name="Shape 9"/>
          <p:cNvSpPr/>
          <p:nvPr/>
        </p:nvSpPr>
        <p:spPr>
          <a:xfrm>
            <a:off x="603504" y="2596896"/>
            <a:ext cx="2298192" cy="0"/>
          </a:xfrm>
          <a:prstGeom prst="line">
            <a:avLst/>
          </a:prstGeom>
          <a:noFill/>
          <a:ln w="9525">
            <a:solidFill>
              <a:srgbClr val="D5DBE3"/>
            </a:solidFill>
            <a:prstDash val="solid"/>
          </a:ln>
        </p:spPr>
      </p:sp>
      <p:sp>
        <p:nvSpPr>
          <p:cNvPr id="14" name="Text 10"/>
          <p:cNvSpPr/>
          <p:nvPr/>
        </p:nvSpPr>
        <p:spPr>
          <a:xfrm>
            <a:off x="603504" y="2660904"/>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Pages: /davinci-login  ·  /sdk-login</a:t>
            </a:r>
            <a:endParaRPr lang="en-US" sz="900" dirty="0"/>
          </a:p>
        </p:txBody>
      </p:sp>
      <p:sp>
        <p:nvSpPr>
          <p:cNvPr id="15" name="Shape 11"/>
          <p:cNvSpPr/>
          <p:nvPr/>
        </p:nvSpPr>
        <p:spPr>
          <a:xfrm>
            <a:off x="3276600" y="1463040"/>
            <a:ext cx="2590800" cy="1463040"/>
          </a:xfrm>
          <a:prstGeom prst="rect">
            <a:avLst/>
          </a:prstGeom>
          <a:solidFill>
            <a:srgbClr val="FFFFFF"/>
          </a:solidFill>
          <a:ln w="9525">
            <a:solidFill>
              <a:srgbClr val="D5DBE3"/>
            </a:solidFill>
            <a:prstDash val="solid"/>
          </a:ln>
        </p:spPr>
      </p:sp>
      <p:sp>
        <p:nvSpPr>
          <p:cNvPr id="16" name="Shape 12"/>
          <p:cNvSpPr/>
          <p:nvPr/>
        </p:nvSpPr>
        <p:spPr>
          <a:xfrm>
            <a:off x="3422904" y="1609344"/>
            <a:ext cx="420624" cy="420624"/>
          </a:xfrm>
          <a:prstGeom prst="ellipse">
            <a:avLst/>
          </a:prstGeom>
          <a:solidFill>
            <a:srgbClr val="0B1A2E"/>
          </a:solidFill>
          <a:ln/>
        </p:spPr>
      </p:sp>
      <p:pic>
        <p:nvPicPr>
          <p:cNvPr id="17" name="Image 1" descr="preencoded.png">    </p:cNvPr>
          <p:cNvPicPr>
            <a:picLocks noChangeAspect="1"/>
          </p:cNvPicPr>
          <p:nvPr/>
        </p:nvPicPr>
        <p:blipFill>
          <a:blip r:embed="rId2"/>
          <a:stretch>
            <a:fillRect/>
          </a:stretch>
        </p:blipFill>
        <p:spPr>
          <a:xfrm>
            <a:off x="3536472" y="1722912"/>
            <a:ext cx="193487" cy="193487"/>
          </a:xfrm>
          <a:prstGeom prst="rect">
            <a:avLst/>
          </a:prstGeom>
        </p:spPr>
      </p:pic>
      <p:sp>
        <p:nvSpPr>
          <p:cNvPr id="18" name="Text 13"/>
          <p:cNvSpPr/>
          <p:nvPr/>
        </p:nvSpPr>
        <p:spPr>
          <a:xfrm>
            <a:off x="3953256" y="1600200"/>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RFC 8693</a:t>
            </a:r>
            <a:endParaRPr lang="en-US" sz="800" dirty="0"/>
          </a:p>
        </p:txBody>
      </p:sp>
      <p:sp>
        <p:nvSpPr>
          <p:cNvPr id="19" name="Text 14"/>
          <p:cNvSpPr/>
          <p:nvPr/>
        </p:nvSpPr>
        <p:spPr>
          <a:xfrm>
            <a:off x="3953256" y="1792224"/>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Delegated access</a:t>
            </a:r>
            <a:endParaRPr lang="en-US" sz="1150" dirty="0"/>
          </a:p>
        </p:txBody>
      </p:sp>
      <p:sp>
        <p:nvSpPr>
          <p:cNvPr id="20" name="Text 15"/>
          <p:cNvSpPr/>
          <p:nvPr/>
        </p:nvSpPr>
        <p:spPr>
          <a:xfrm>
            <a:off x="3422904" y="2139696"/>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A short-lived token for the agent, with an act claim naming it</a:t>
            </a:r>
            <a:endParaRPr lang="en-US" sz="1050" dirty="0"/>
          </a:p>
        </p:txBody>
      </p:sp>
      <p:sp>
        <p:nvSpPr>
          <p:cNvPr id="21" name="Shape 16"/>
          <p:cNvSpPr/>
          <p:nvPr/>
        </p:nvSpPr>
        <p:spPr>
          <a:xfrm>
            <a:off x="3422904" y="2596896"/>
            <a:ext cx="2298192" cy="0"/>
          </a:xfrm>
          <a:prstGeom prst="line">
            <a:avLst/>
          </a:prstGeom>
          <a:noFill/>
          <a:ln w="9525">
            <a:solidFill>
              <a:srgbClr val="D5DBE3"/>
            </a:solidFill>
            <a:prstDash val="solid"/>
          </a:ln>
        </p:spPr>
      </p:sp>
      <p:sp>
        <p:nvSpPr>
          <p:cNvPr id="22" name="Text 17"/>
          <p:cNvSpPr/>
          <p:nvPr/>
        </p:nvSpPr>
        <p:spPr>
          <a:xfrm>
            <a:off x="3422904" y="2660904"/>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UC1  ·  UC3  ·  UC17  ·  UC33</a:t>
            </a:r>
            <a:endParaRPr lang="en-US" sz="900" dirty="0"/>
          </a:p>
        </p:txBody>
      </p:sp>
      <p:sp>
        <p:nvSpPr>
          <p:cNvPr id="23" name="Shape 18"/>
          <p:cNvSpPr/>
          <p:nvPr/>
        </p:nvSpPr>
        <p:spPr>
          <a:xfrm>
            <a:off x="6096000" y="1463040"/>
            <a:ext cx="2590800" cy="1463040"/>
          </a:xfrm>
          <a:prstGeom prst="rect">
            <a:avLst/>
          </a:prstGeom>
          <a:solidFill>
            <a:srgbClr val="FFFFFF"/>
          </a:solidFill>
          <a:ln w="9525">
            <a:solidFill>
              <a:srgbClr val="D5DBE3"/>
            </a:solidFill>
            <a:prstDash val="solid"/>
          </a:ln>
        </p:spPr>
      </p:sp>
      <p:sp>
        <p:nvSpPr>
          <p:cNvPr id="24" name="Shape 19"/>
          <p:cNvSpPr/>
          <p:nvPr/>
        </p:nvSpPr>
        <p:spPr>
          <a:xfrm>
            <a:off x="6242304" y="1609344"/>
            <a:ext cx="420624" cy="420624"/>
          </a:xfrm>
          <a:prstGeom prst="ellipse">
            <a:avLst/>
          </a:prstGeom>
          <a:solidFill>
            <a:srgbClr val="0B1A2E"/>
          </a:solidFill>
          <a:ln/>
        </p:spPr>
      </p:sp>
      <p:pic>
        <p:nvPicPr>
          <p:cNvPr id="25" name="Image 2" descr="preencoded.png">    </p:cNvPr>
          <p:cNvPicPr>
            <a:picLocks noChangeAspect="1"/>
          </p:cNvPicPr>
          <p:nvPr/>
        </p:nvPicPr>
        <p:blipFill>
          <a:blip r:embed="rId3"/>
          <a:stretch>
            <a:fillRect/>
          </a:stretch>
        </p:blipFill>
        <p:spPr>
          <a:xfrm>
            <a:off x="6355872" y="1722912"/>
            <a:ext cx="193487" cy="193487"/>
          </a:xfrm>
          <a:prstGeom prst="rect">
            <a:avLst/>
          </a:prstGeom>
        </p:spPr>
      </p:pic>
      <p:sp>
        <p:nvSpPr>
          <p:cNvPr id="26" name="Text 20"/>
          <p:cNvSpPr/>
          <p:nvPr/>
        </p:nvSpPr>
        <p:spPr>
          <a:xfrm>
            <a:off x="6772656" y="1600200"/>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RFC 9126 · RFC 9396</a:t>
            </a:r>
            <a:endParaRPr lang="en-US" sz="800" dirty="0"/>
          </a:p>
        </p:txBody>
      </p:sp>
      <p:sp>
        <p:nvSpPr>
          <p:cNvPr id="27" name="Text 21"/>
          <p:cNvSpPr/>
          <p:nvPr/>
        </p:nvSpPr>
        <p:spPr>
          <a:xfrm>
            <a:off x="6772656" y="1792224"/>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Intent binding</a:t>
            </a:r>
            <a:endParaRPr lang="en-US" sz="1150" dirty="0"/>
          </a:p>
        </p:txBody>
      </p:sp>
      <p:sp>
        <p:nvSpPr>
          <p:cNvPr id="28" name="Text 22"/>
          <p:cNvSpPr/>
          <p:nvPr/>
        </p:nvSpPr>
        <p:spPr>
          <a:xfrm>
            <a:off x="6242304" y="2139696"/>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Intent is pushed up front; transfers beyond it are denied</a:t>
            </a:r>
            <a:endParaRPr lang="en-US" sz="1050" dirty="0"/>
          </a:p>
        </p:txBody>
      </p:sp>
      <p:sp>
        <p:nvSpPr>
          <p:cNvPr id="29" name="Shape 23"/>
          <p:cNvSpPr/>
          <p:nvPr/>
        </p:nvSpPr>
        <p:spPr>
          <a:xfrm>
            <a:off x="6242304" y="2596896"/>
            <a:ext cx="2298192" cy="0"/>
          </a:xfrm>
          <a:prstGeom prst="line">
            <a:avLst/>
          </a:prstGeom>
          <a:noFill/>
          <a:ln w="9525">
            <a:solidFill>
              <a:srgbClr val="D5DBE3"/>
            </a:solidFill>
            <a:prstDash val="solid"/>
          </a:ln>
        </p:spPr>
      </p:sp>
      <p:sp>
        <p:nvSpPr>
          <p:cNvPr id="30" name="Text 24"/>
          <p:cNvSpPr/>
          <p:nvPr/>
        </p:nvSpPr>
        <p:spPr>
          <a:xfrm>
            <a:off x="6242304" y="2660904"/>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UC14  ·  UC14b  ·  flag ff_rar</a:t>
            </a:r>
            <a:endParaRPr lang="en-US" sz="900" dirty="0"/>
          </a:p>
        </p:txBody>
      </p:sp>
      <p:sp>
        <p:nvSpPr>
          <p:cNvPr id="31" name="Shape 25"/>
          <p:cNvSpPr/>
          <p:nvPr/>
        </p:nvSpPr>
        <p:spPr>
          <a:xfrm>
            <a:off x="457200" y="3127248"/>
            <a:ext cx="2590800" cy="1463040"/>
          </a:xfrm>
          <a:prstGeom prst="rect">
            <a:avLst/>
          </a:prstGeom>
          <a:solidFill>
            <a:srgbClr val="FFFFFF"/>
          </a:solidFill>
          <a:ln w="9525">
            <a:solidFill>
              <a:srgbClr val="D5DBE3"/>
            </a:solidFill>
            <a:prstDash val="solid"/>
          </a:ln>
        </p:spPr>
      </p:sp>
      <p:sp>
        <p:nvSpPr>
          <p:cNvPr id="32" name="Shape 26"/>
          <p:cNvSpPr/>
          <p:nvPr/>
        </p:nvSpPr>
        <p:spPr>
          <a:xfrm>
            <a:off x="603504" y="3273552"/>
            <a:ext cx="420624" cy="420624"/>
          </a:xfrm>
          <a:prstGeom prst="ellipse">
            <a:avLst/>
          </a:prstGeom>
          <a:solidFill>
            <a:srgbClr val="0B1A2E"/>
          </a:solidFill>
          <a:ln/>
        </p:spPr>
      </p:sp>
      <p:pic>
        <p:nvPicPr>
          <p:cNvPr id="33" name="Image 3" descr="preencoded.png">    </p:cNvPr>
          <p:cNvPicPr>
            <a:picLocks noChangeAspect="1"/>
          </p:cNvPicPr>
          <p:nvPr/>
        </p:nvPicPr>
        <p:blipFill>
          <a:blip r:embed="rId4"/>
          <a:stretch>
            <a:fillRect/>
          </a:stretch>
        </p:blipFill>
        <p:spPr>
          <a:xfrm>
            <a:off x="717072" y="3387120"/>
            <a:ext cx="193487" cy="193487"/>
          </a:xfrm>
          <a:prstGeom prst="rect">
            <a:avLst/>
          </a:prstGeom>
        </p:spPr>
      </p:pic>
      <p:sp>
        <p:nvSpPr>
          <p:cNvPr id="34" name="Text 27"/>
          <p:cNvSpPr/>
          <p:nvPr/>
        </p:nvSpPr>
        <p:spPr>
          <a:xfrm>
            <a:off x="1133856" y="3264408"/>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Step-up MFA · CIBA</a:t>
            </a:r>
            <a:endParaRPr lang="en-US" sz="800" dirty="0"/>
          </a:p>
        </p:txBody>
      </p:sp>
      <p:sp>
        <p:nvSpPr>
          <p:cNvPr id="35" name="Text 28"/>
          <p:cNvSpPr/>
          <p:nvPr/>
        </p:nvSpPr>
        <p:spPr>
          <a:xfrm>
            <a:off x="1133856" y="3456432"/>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Prove it's really you</a:t>
            </a:r>
            <a:endParaRPr lang="en-US" sz="1150" dirty="0"/>
          </a:p>
        </p:txBody>
      </p:sp>
      <p:sp>
        <p:nvSpPr>
          <p:cNvPr id="36" name="Text 29"/>
          <p:cNvSpPr/>
          <p:nvPr/>
        </p:nvSpPr>
        <p:spPr>
          <a:xfrm>
            <a:off x="603504" y="3803904"/>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Big transfers trigger MFA; CIBA sends approval to the user's phone</a:t>
            </a:r>
            <a:endParaRPr lang="en-US" sz="1050" dirty="0"/>
          </a:p>
        </p:txBody>
      </p:sp>
      <p:sp>
        <p:nvSpPr>
          <p:cNvPr id="37" name="Shape 30"/>
          <p:cNvSpPr/>
          <p:nvPr/>
        </p:nvSpPr>
        <p:spPr>
          <a:xfrm>
            <a:off x="603504" y="4261104"/>
            <a:ext cx="2298192" cy="0"/>
          </a:xfrm>
          <a:prstGeom prst="line">
            <a:avLst/>
          </a:prstGeom>
          <a:noFill/>
          <a:ln w="9525">
            <a:solidFill>
              <a:srgbClr val="D5DBE3"/>
            </a:solidFill>
            <a:prstDash val="solid"/>
          </a:ln>
        </p:spPr>
      </p:sp>
      <p:sp>
        <p:nvSpPr>
          <p:cNvPr id="38" name="Text 31"/>
          <p:cNvSpPr/>
          <p:nvPr/>
        </p:nvSpPr>
        <p:spPr>
          <a:xfrm>
            <a:off x="603504" y="4325112"/>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UC7  ·  UC22  ·  flag ciba_enabled</a:t>
            </a:r>
            <a:endParaRPr lang="en-US" sz="900" dirty="0"/>
          </a:p>
        </p:txBody>
      </p:sp>
      <p:sp>
        <p:nvSpPr>
          <p:cNvPr id="39" name="Shape 32"/>
          <p:cNvSpPr/>
          <p:nvPr/>
        </p:nvSpPr>
        <p:spPr>
          <a:xfrm>
            <a:off x="3276600" y="3127248"/>
            <a:ext cx="2590800" cy="1463040"/>
          </a:xfrm>
          <a:prstGeom prst="rect">
            <a:avLst/>
          </a:prstGeom>
          <a:solidFill>
            <a:srgbClr val="FFFFFF"/>
          </a:solidFill>
          <a:ln w="9525">
            <a:solidFill>
              <a:srgbClr val="D5DBE3"/>
            </a:solidFill>
            <a:prstDash val="solid"/>
          </a:ln>
        </p:spPr>
      </p:sp>
      <p:sp>
        <p:nvSpPr>
          <p:cNvPr id="40" name="Shape 33"/>
          <p:cNvSpPr/>
          <p:nvPr/>
        </p:nvSpPr>
        <p:spPr>
          <a:xfrm>
            <a:off x="3422904" y="3273552"/>
            <a:ext cx="420624" cy="420624"/>
          </a:xfrm>
          <a:prstGeom prst="ellipse">
            <a:avLst/>
          </a:prstGeom>
          <a:solidFill>
            <a:srgbClr val="0B1A2E"/>
          </a:solidFill>
          <a:ln/>
        </p:spPr>
      </p:sp>
      <p:pic>
        <p:nvPicPr>
          <p:cNvPr id="41" name="Image 4" descr="preencoded.png">    </p:cNvPr>
          <p:cNvPicPr>
            <a:picLocks noChangeAspect="1"/>
          </p:cNvPicPr>
          <p:nvPr/>
        </p:nvPicPr>
        <p:blipFill>
          <a:blip r:embed="rId5"/>
          <a:stretch>
            <a:fillRect/>
          </a:stretch>
        </p:blipFill>
        <p:spPr>
          <a:xfrm>
            <a:off x="3536472" y="3387120"/>
            <a:ext cx="193487" cy="193487"/>
          </a:xfrm>
          <a:prstGeom prst="rect">
            <a:avLst/>
          </a:prstGeom>
        </p:spPr>
      </p:pic>
      <p:sp>
        <p:nvSpPr>
          <p:cNvPr id="42" name="Text 34"/>
          <p:cNvSpPr/>
          <p:nvPr/>
        </p:nvSpPr>
        <p:spPr>
          <a:xfrm>
            <a:off x="3953256" y="3264408"/>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Token attacks</a:t>
            </a:r>
            <a:endParaRPr lang="en-US" sz="800" dirty="0"/>
          </a:p>
        </p:txBody>
      </p:sp>
      <p:sp>
        <p:nvSpPr>
          <p:cNvPr id="43" name="Text 35"/>
          <p:cNvSpPr/>
          <p:nvPr/>
        </p:nvSpPr>
        <p:spPr>
          <a:xfrm>
            <a:off x="3953256" y="3456432"/>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Misused tokens fail</a:t>
            </a:r>
            <a:endParaRPr lang="en-US" sz="1150" dirty="0"/>
          </a:p>
        </p:txBody>
      </p:sp>
      <p:sp>
        <p:nvSpPr>
          <p:cNvPr id="44" name="Text 36"/>
          <p:cNvSpPr/>
          <p:nvPr/>
        </p:nvSpPr>
        <p:spPr>
          <a:xfrm>
            <a:off x="3422904" y="3803904"/>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Wrong audience, replay, missing scope and impersonation are refused</a:t>
            </a:r>
            <a:endParaRPr lang="en-US" sz="1050" dirty="0"/>
          </a:p>
        </p:txBody>
      </p:sp>
      <p:sp>
        <p:nvSpPr>
          <p:cNvPr id="45" name="Shape 37"/>
          <p:cNvSpPr/>
          <p:nvPr/>
        </p:nvSpPr>
        <p:spPr>
          <a:xfrm>
            <a:off x="3422904" y="4261104"/>
            <a:ext cx="2298192" cy="0"/>
          </a:xfrm>
          <a:prstGeom prst="line">
            <a:avLst/>
          </a:prstGeom>
          <a:noFill/>
          <a:ln w="9525">
            <a:solidFill>
              <a:srgbClr val="D5DBE3"/>
            </a:solidFill>
            <a:prstDash val="solid"/>
          </a:ln>
        </p:spPr>
      </p:sp>
      <p:sp>
        <p:nvSpPr>
          <p:cNvPr id="46" name="Text 38"/>
          <p:cNvSpPr/>
          <p:nvPr/>
        </p:nvSpPr>
        <p:spPr>
          <a:xfrm>
            <a:off x="3422904" y="4325112"/>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UC5  ·  UC10–13  ·  UC16</a:t>
            </a:r>
            <a:endParaRPr lang="en-US" sz="900" dirty="0"/>
          </a:p>
        </p:txBody>
      </p:sp>
      <p:sp>
        <p:nvSpPr>
          <p:cNvPr id="47" name="Shape 39"/>
          <p:cNvSpPr/>
          <p:nvPr/>
        </p:nvSpPr>
        <p:spPr>
          <a:xfrm>
            <a:off x="6096000" y="3127248"/>
            <a:ext cx="2590800" cy="1463040"/>
          </a:xfrm>
          <a:prstGeom prst="rect">
            <a:avLst/>
          </a:prstGeom>
          <a:solidFill>
            <a:srgbClr val="FFFFFF"/>
          </a:solidFill>
          <a:ln w="9525">
            <a:solidFill>
              <a:srgbClr val="D5DBE3"/>
            </a:solidFill>
            <a:prstDash val="solid"/>
          </a:ln>
        </p:spPr>
      </p:sp>
      <p:sp>
        <p:nvSpPr>
          <p:cNvPr id="48" name="Shape 40"/>
          <p:cNvSpPr/>
          <p:nvPr/>
        </p:nvSpPr>
        <p:spPr>
          <a:xfrm>
            <a:off x="6242304" y="3273552"/>
            <a:ext cx="420624" cy="420624"/>
          </a:xfrm>
          <a:prstGeom prst="ellipse">
            <a:avLst/>
          </a:prstGeom>
          <a:solidFill>
            <a:srgbClr val="0B1A2E"/>
          </a:solidFill>
          <a:ln/>
        </p:spPr>
      </p:sp>
      <p:pic>
        <p:nvPicPr>
          <p:cNvPr id="49" name="Image 5" descr="preencoded.png">    </p:cNvPr>
          <p:cNvPicPr>
            <a:picLocks noChangeAspect="1"/>
          </p:cNvPicPr>
          <p:nvPr/>
        </p:nvPicPr>
        <p:blipFill>
          <a:blip r:embed="rId6"/>
          <a:stretch>
            <a:fillRect/>
          </a:stretch>
        </p:blipFill>
        <p:spPr>
          <a:xfrm>
            <a:off x="6355872" y="3387120"/>
            <a:ext cx="193487" cy="193487"/>
          </a:xfrm>
          <a:prstGeom prst="rect">
            <a:avLst/>
          </a:prstGeom>
        </p:spPr>
      </p:pic>
      <p:sp>
        <p:nvSpPr>
          <p:cNvPr id="50" name="Text 41"/>
          <p:cNvSpPr/>
          <p:nvPr/>
        </p:nvSpPr>
        <p:spPr>
          <a:xfrm>
            <a:off x="6772656" y="3264408"/>
            <a:ext cx="1804416" cy="182880"/>
          </a:xfrm>
          <a:prstGeom prst="rect">
            <a:avLst/>
          </a:prstGeom>
          <a:noFill/>
          <a:ln/>
        </p:spPr>
        <p:txBody>
          <a:bodyPr wrap="square" lIns="0" tIns="0" rIns="0" bIns="0" rtlCol="0" anchor="t"/>
          <a:lstStyle/>
          <a:p>
            <a:pPr indent="0" marL="0">
              <a:buNone/>
            </a:pPr>
            <a:r>
              <a:rPr lang="en-US" sz="800" b="1" dirty="0">
                <a:solidFill>
                  <a:srgbClr val="C8102E"/>
                </a:solidFill>
                <a:latin typeface="Montserrat" pitchFamily="34" charset="0"/>
                <a:ea typeface="Montserrat" pitchFamily="34" charset="-122"/>
                <a:cs typeface="Montserrat" pitchFamily="34" charset="-120"/>
              </a:rPr>
              <a:t>RFC 9728 · 7591 · ID-JAG</a:t>
            </a:r>
            <a:endParaRPr lang="en-US" sz="800" dirty="0"/>
          </a:p>
        </p:txBody>
      </p:sp>
      <p:sp>
        <p:nvSpPr>
          <p:cNvPr id="51" name="Text 42"/>
          <p:cNvSpPr/>
          <p:nvPr/>
        </p:nvSpPr>
        <p:spPr>
          <a:xfrm>
            <a:off x="6772656" y="3456432"/>
            <a:ext cx="1804416" cy="256032"/>
          </a:xfrm>
          <a:prstGeom prst="rect">
            <a:avLst/>
          </a:prstGeom>
          <a:noFill/>
          <a:ln/>
        </p:spPr>
        <p:txBody>
          <a:bodyPr wrap="square" lIns="0" tIns="0" rIns="0" bIns="0" rtlCol="0" anchor="t"/>
          <a:lstStyle/>
          <a:p>
            <a:pPr indent="0" marL="0">
              <a:buNone/>
            </a:pPr>
            <a:r>
              <a:rPr lang="en-US" sz="1150" b="1" dirty="0">
                <a:solidFill>
                  <a:srgbClr val="0B1A2E"/>
                </a:solidFill>
                <a:latin typeface="Montserrat" pitchFamily="34" charset="0"/>
                <a:ea typeface="Montserrat" pitchFamily="34" charset="-122"/>
                <a:cs typeface="Montserrat" pitchFamily="34" charset="-120"/>
              </a:rPr>
              <a:t>Enterprise MCP access</a:t>
            </a:r>
            <a:endParaRPr lang="en-US" sz="1150" dirty="0"/>
          </a:p>
        </p:txBody>
      </p:sp>
      <p:sp>
        <p:nvSpPr>
          <p:cNvPr id="52" name="Text 43"/>
          <p:cNvSpPr/>
          <p:nvPr/>
        </p:nvSpPr>
        <p:spPr>
          <a:xfrm>
            <a:off x="6242304" y="3803904"/>
            <a:ext cx="2298192" cy="365760"/>
          </a:xfrm>
          <a:prstGeom prst="rect">
            <a:avLst/>
          </a:prstGeom>
          <a:noFill/>
          <a:ln/>
        </p:spPr>
        <p:txBody>
          <a:bodyPr wrap="square" lIns="0" tIns="0" rIns="0" bIns="0" rtlCol="0" anchor="t"/>
          <a:lstStyle/>
          <a:p>
            <a:pPr indent="0" marL="0">
              <a:buNone/>
            </a:pPr>
            <a:r>
              <a:rPr lang="en-US" sz="1050" dirty="0">
                <a:solidFill>
                  <a:srgbClr val="0B1A2E"/>
                </a:solidFill>
                <a:latin typeface="Calibri" pitchFamily="34" charset="0"/>
                <a:ea typeface="Calibri" pitchFamily="34" charset="-122"/>
                <a:cs typeface="Calibri" pitchFamily="34" charset="-120"/>
              </a:rPr>
              <a:t>Clients discover and register; group policy decides who gets tools</a:t>
            </a:r>
            <a:endParaRPr lang="en-US" sz="1050" dirty="0"/>
          </a:p>
        </p:txBody>
      </p:sp>
      <p:sp>
        <p:nvSpPr>
          <p:cNvPr id="53" name="Shape 44"/>
          <p:cNvSpPr/>
          <p:nvPr/>
        </p:nvSpPr>
        <p:spPr>
          <a:xfrm>
            <a:off x="6242304" y="4261104"/>
            <a:ext cx="2298192" cy="0"/>
          </a:xfrm>
          <a:prstGeom prst="line">
            <a:avLst/>
          </a:prstGeom>
          <a:noFill/>
          <a:ln w="9525">
            <a:solidFill>
              <a:srgbClr val="D5DBE3"/>
            </a:solidFill>
            <a:prstDash val="solid"/>
          </a:ln>
        </p:spPr>
      </p:sp>
      <p:sp>
        <p:nvSpPr>
          <p:cNvPr id="54" name="Text 45"/>
          <p:cNvSpPr/>
          <p:nvPr/>
        </p:nvSpPr>
        <p:spPr>
          <a:xfrm>
            <a:off x="6242304" y="4325112"/>
            <a:ext cx="2298192" cy="182880"/>
          </a:xfrm>
          <a:prstGeom prst="rect">
            <a:avLst/>
          </a:prstGeom>
          <a:noFill/>
          <a:ln/>
        </p:spPr>
        <p:txBody>
          <a:bodyPr wrap="square" lIns="0" tIns="0" rIns="0" bIns="0" rtlCol="0" anchor="ctr"/>
          <a:lstStyle/>
          <a:p>
            <a:pPr indent="0" marL="0">
              <a:buNone/>
            </a:pPr>
            <a:r>
              <a:rPr lang="en-US" sz="900" b="1" dirty="0">
                <a:solidFill>
                  <a:srgbClr val="4F5E71"/>
                </a:solidFill>
                <a:latin typeface="Calibri" pitchFamily="34" charset="0"/>
                <a:ea typeface="Calibri" pitchFamily="34" charset="-122"/>
                <a:cs typeface="Calibri" pitchFamily="34" charset="-120"/>
              </a:rPr>
              <a:t>UC25  ·  UC39  ·  UC40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4  ·  AI USE CASES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The agent does real banking work, and every action is attributable, bounded and approvable</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6</a:t>
            </a:r>
            <a:endParaRPr lang="en-US" sz="900" dirty="0"/>
          </a:p>
        </p:txBody>
      </p:sp>
      <p:sp>
        <p:nvSpPr>
          <p:cNvPr id="7" name="Shape 4"/>
          <p:cNvSpPr/>
          <p:nvPr/>
        </p:nvSpPr>
        <p:spPr>
          <a:xfrm>
            <a:off x="457200" y="1527048"/>
            <a:ext cx="384048" cy="384048"/>
          </a:xfrm>
          <a:prstGeom prst="ellipse">
            <a:avLst/>
          </a:prstGeom>
          <a:solidFill>
            <a:srgbClr val="0B1A2E"/>
          </a:solidFill>
          <a:ln/>
        </p:spPr>
      </p:sp>
      <p:pic>
        <p:nvPicPr>
          <p:cNvPr id="8" name="Image 0" descr="preencoded.png">    </p:cNvPr>
          <p:cNvPicPr>
            <a:picLocks noChangeAspect="1"/>
          </p:cNvPicPr>
          <p:nvPr/>
        </p:nvPicPr>
        <p:blipFill>
          <a:blip r:embed="rId1"/>
          <a:stretch>
            <a:fillRect/>
          </a:stretch>
        </p:blipFill>
        <p:spPr>
          <a:xfrm>
            <a:off x="560893" y="1630741"/>
            <a:ext cx="176662" cy="176662"/>
          </a:xfrm>
          <a:prstGeom prst="rect">
            <a:avLst/>
          </a:prstGeom>
        </p:spPr>
      </p:pic>
      <p:sp>
        <p:nvSpPr>
          <p:cNvPr id="9" name="Text 5"/>
          <p:cNvSpPr/>
          <p:nvPr/>
        </p:nvSpPr>
        <p:spPr>
          <a:xfrm>
            <a:off x="969264" y="1481328"/>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Banking in plain English</a:t>
            </a:r>
            <a:pPr indent="0" marL="0">
              <a:buNone/>
            </a:pPr>
            <a:r>
              <a:rPr lang="en-US" sz="900" b="1" dirty="0">
                <a:solidFill>
                  <a:srgbClr val="C8102E"/>
                </a:solidFill>
                <a:latin typeface="Calibri" pitchFamily="34" charset="0"/>
                <a:ea typeface="Calibri" pitchFamily="34" charset="-122"/>
                <a:cs typeface="Calibri" pitchFamily="34" charset="-120"/>
              </a:rPr>
              <a:t>   UC1 · UC33 · UC34</a:t>
            </a:r>
            <a:endParaRPr lang="en-US" sz="1100" dirty="0"/>
          </a:p>
        </p:txBody>
      </p:sp>
      <p:sp>
        <p:nvSpPr>
          <p:cNvPr id="10" name="Text 6"/>
          <p:cNvSpPr/>
          <p:nvPr/>
        </p:nvSpPr>
        <p:spPr>
          <a:xfrm>
            <a:off x="969264" y="1709928"/>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Balances, mortgage, transfers, pattern spotting via MCP</a:t>
            </a:r>
            <a:endParaRPr lang="en-US" sz="1050" dirty="0"/>
          </a:p>
        </p:txBody>
      </p:sp>
      <p:sp>
        <p:nvSpPr>
          <p:cNvPr id="11" name="Shape 7"/>
          <p:cNvSpPr/>
          <p:nvPr/>
        </p:nvSpPr>
        <p:spPr>
          <a:xfrm>
            <a:off x="457200" y="2048256"/>
            <a:ext cx="384048" cy="384048"/>
          </a:xfrm>
          <a:prstGeom prst="ellipse">
            <a:avLst/>
          </a:prstGeom>
          <a:solidFill>
            <a:srgbClr val="0B1A2E"/>
          </a:solidFill>
          <a:ln/>
        </p:spPr>
      </p:sp>
      <p:pic>
        <p:nvPicPr>
          <p:cNvPr id="12" name="Image 1" descr="preencoded.png">    </p:cNvPr>
          <p:cNvPicPr>
            <a:picLocks noChangeAspect="1"/>
          </p:cNvPicPr>
          <p:nvPr/>
        </p:nvPicPr>
        <p:blipFill>
          <a:blip r:embed="rId2"/>
          <a:stretch>
            <a:fillRect/>
          </a:stretch>
        </p:blipFill>
        <p:spPr>
          <a:xfrm>
            <a:off x="560893" y="2151949"/>
            <a:ext cx="176662" cy="176662"/>
          </a:xfrm>
          <a:prstGeom prst="rect">
            <a:avLst/>
          </a:prstGeom>
        </p:spPr>
      </p:pic>
      <p:sp>
        <p:nvSpPr>
          <p:cNvPr id="13" name="Text 8"/>
          <p:cNvSpPr/>
          <p:nvPr/>
        </p:nvSpPr>
        <p:spPr>
          <a:xfrm>
            <a:off x="969264" y="2002536"/>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Human in the loop</a:t>
            </a:r>
            <a:pPr indent="0" marL="0">
              <a:buNone/>
            </a:pPr>
            <a:r>
              <a:rPr lang="en-US" sz="900" b="1" dirty="0">
                <a:solidFill>
                  <a:srgbClr val="C8102E"/>
                </a:solidFill>
                <a:latin typeface="Calibri" pitchFamily="34" charset="0"/>
                <a:ea typeface="Calibri" pitchFamily="34" charset="-122"/>
                <a:cs typeface="Calibri" pitchFamily="34" charset="-120"/>
              </a:rPr>
              <a:t>   UC8 · UC23 · UC27</a:t>
            </a:r>
            <a:endParaRPr lang="en-US" sz="1100" dirty="0"/>
          </a:p>
        </p:txBody>
      </p:sp>
      <p:sp>
        <p:nvSpPr>
          <p:cNvPr id="14" name="Text 9"/>
          <p:cNvSpPr/>
          <p:nvPr/>
        </p:nvSpPr>
        <p:spPr>
          <a:xfrm>
            <a:off x="969264" y="2231136"/>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Consent for transfers; bypass attempts refused</a:t>
            </a:r>
            <a:endParaRPr lang="en-US" sz="1050" dirty="0"/>
          </a:p>
        </p:txBody>
      </p:sp>
      <p:sp>
        <p:nvSpPr>
          <p:cNvPr id="15" name="Shape 10"/>
          <p:cNvSpPr/>
          <p:nvPr/>
        </p:nvSpPr>
        <p:spPr>
          <a:xfrm>
            <a:off x="457200" y="2569464"/>
            <a:ext cx="384048" cy="384048"/>
          </a:xfrm>
          <a:prstGeom prst="ellipse">
            <a:avLst/>
          </a:prstGeom>
          <a:solidFill>
            <a:srgbClr val="0B1A2E"/>
          </a:solidFill>
          <a:ln/>
        </p:spPr>
      </p:sp>
      <p:pic>
        <p:nvPicPr>
          <p:cNvPr id="16" name="Image 2" descr="preencoded.png">    </p:cNvPr>
          <p:cNvPicPr>
            <a:picLocks noChangeAspect="1"/>
          </p:cNvPicPr>
          <p:nvPr/>
        </p:nvPicPr>
        <p:blipFill>
          <a:blip r:embed="rId3"/>
          <a:stretch>
            <a:fillRect/>
          </a:stretch>
        </p:blipFill>
        <p:spPr>
          <a:xfrm>
            <a:off x="560893" y="2673157"/>
            <a:ext cx="176662" cy="176662"/>
          </a:xfrm>
          <a:prstGeom prst="rect">
            <a:avLst/>
          </a:prstGeom>
        </p:spPr>
      </p:pic>
      <p:sp>
        <p:nvSpPr>
          <p:cNvPr id="17" name="Text 11"/>
          <p:cNvSpPr/>
          <p:nvPr/>
        </p:nvSpPr>
        <p:spPr>
          <a:xfrm>
            <a:off x="969264" y="2523744"/>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Agent-to-agent delegation</a:t>
            </a:r>
            <a:pPr indent="0" marL="0">
              <a:buNone/>
            </a:pPr>
            <a:r>
              <a:rPr lang="en-US" sz="900" b="1" dirty="0">
                <a:solidFill>
                  <a:srgbClr val="C8102E"/>
                </a:solidFill>
                <a:latin typeface="Calibri" pitchFamily="34" charset="0"/>
                <a:ea typeface="Calibri" pitchFamily="34" charset="-122"/>
                <a:cs typeface="Calibri" pitchFamily="34" charset="-120"/>
              </a:rPr>
              <a:t>   UC2 · 2.5 · 2.6 · 2.7</a:t>
            </a:r>
            <a:endParaRPr lang="en-US" sz="1100" dirty="0"/>
          </a:p>
        </p:txBody>
      </p:sp>
      <p:sp>
        <p:nvSpPr>
          <p:cNvPr id="18" name="Text 12"/>
          <p:cNvSpPr/>
          <p:nvPr/>
        </p:nvSpPr>
        <p:spPr>
          <a:xfrm>
            <a:off x="969264" y="2752344"/>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Hand-off to a specialist; unregistered agents denied</a:t>
            </a:r>
            <a:endParaRPr lang="en-US" sz="1050" dirty="0"/>
          </a:p>
        </p:txBody>
      </p:sp>
      <p:sp>
        <p:nvSpPr>
          <p:cNvPr id="19" name="Shape 13"/>
          <p:cNvSpPr/>
          <p:nvPr/>
        </p:nvSpPr>
        <p:spPr>
          <a:xfrm>
            <a:off x="457200" y="3090672"/>
            <a:ext cx="384048" cy="384048"/>
          </a:xfrm>
          <a:prstGeom prst="ellipse">
            <a:avLst/>
          </a:prstGeom>
          <a:solidFill>
            <a:srgbClr val="0B1A2E"/>
          </a:solidFill>
          <a:ln/>
        </p:spPr>
      </p:sp>
      <p:pic>
        <p:nvPicPr>
          <p:cNvPr id="20" name="Image 3" descr="preencoded.png">    </p:cNvPr>
          <p:cNvPicPr>
            <a:picLocks noChangeAspect="1"/>
          </p:cNvPicPr>
          <p:nvPr/>
        </p:nvPicPr>
        <p:blipFill>
          <a:blip r:embed="rId4"/>
          <a:stretch>
            <a:fillRect/>
          </a:stretch>
        </p:blipFill>
        <p:spPr>
          <a:xfrm>
            <a:off x="560893" y="3194365"/>
            <a:ext cx="176662" cy="176662"/>
          </a:xfrm>
          <a:prstGeom prst="rect">
            <a:avLst/>
          </a:prstGeom>
        </p:spPr>
      </p:pic>
      <p:sp>
        <p:nvSpPr>
          <p:cNvPr id="21" name="Text 14"/>
          <p:cNvSpPr/>
          <p:nvPr/>
        </p:nvSpPr>
        <p:spPr>
          <a:xfrm>
            <a:off x="969264" y="3044952"/>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Policy on third-party tools</a:t>
            </a:r>
            <a:pPr indent="0" marL="0">
              <a:buNone/>
            </a:pPr>
            <a:r>
              <a:rPr lang="en-US" sz="900" b="1" dirty="0">
                <a:solidFill>
                  <a:srgbClr val="C8102E"/>
                </a:solidFill>
                <a:latin typeface="Calibri" pitchFamily="34" charset="0"/>
                <a:ea typeface="Calibri" pitchFamily="34" charset="-122"/>
                <a:cs typeface="Calibri" pitchFamily="34" charset="-120"/>
              </a:rPr>
              <a:t>   UC30–32 · UC41–42</a:t>
            </a:r>
            <a:endParaRPr lang="en-US" sz="1100" dirty="0"/>
          </a:p>
        </p:txBody>
      </p:sp>
      <p:sp>
        <p:nvSpPr>
          <p:cNvPr id="22" name="Text 15"/>
          <p:cNvSpPr/>
          <p:nvPr/>
        </p:nvSpPr>
        <p:spPr>
          <a:xfrm>
            <a:off x="969264" y="3273552"/>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Weather and web search allowed or blocked, changed live</a:t>
            </a:r>
            <a:endParaRPr lang="en-US" sz="1050" dirty="0"/>
          </a:p>
        </p:txBody>
      </p:sp>
      <p:sp>
        <p:nvSpPr>
          <p:cNvPr id="23" name="Shape 16"/>
          <p:cNvSpPr/>
          <p:nvPr/>
        </p:nvSpPr>
        <p:spPr>
          <a:xfrm>
            <a:off x="457200" y="3611880"/>
            <a:ext cx="384048" cy="384048"/>
          </a:xfrm>
          <a:prstGeom prst="ellipse">
            <a:avLst/>
          </a:prstGeom>
          <a:solidFill>
            <a:srgbClr val="0B1A2E"/>
          </a:solidFill>
          <a:ln/>
        </p:spPr>
      </p:sp>
      <p:pic>
        <p:nvPicPr>
          <p:cNvPr id="24" name="Image 4" descr="preencoded.png">    </p:cNvPr>
          <p:cNvPicPr>
            <a:picLocks noChangeAspect="1"/>
          </p:cNvPicPr>
          <p:nvPr/>
        </p:nvPicPr>
        <p:blipFill>
          <a:blip r:embed="rId5"/>
          <a:stretch>
            <a:fillRect/>
          </a:stretch>
        </p:blipFill>
        <p:spPr>
          <a:xfrm>
            <a:off x="560893" y="3715573"/>
            <a:ext cx="176662" cy="176662"/>
          </a:xfrm>
          <a:prstGeom prst="rect">
            <a:avLst/>
          </a:prstGeom>
        </p:spPr>
      </p:pic>
      <p:sp>
        <p:nvSpPr>
          <p:cNvPr id="25" name="Text 17"/>
          <p:cNvSpPr/>
          <p:nvPr/>
        </p:nvSpPr>
        <p:spPr>
          <a:xfrm>
            <a:off x="969264" y="3566160"/>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Explainable decisions</a:t>
            </a:r>
            <a:pPr indent="0" marL="0">
              <a:buNone/>
            </a:pPr>
            <a:r>
              <a:rPr lang="en-US" sz="900" b="1" dirty="0">
                <a:solidFill>
                  <a:srgbClr val="C8102E"/>
                </a:solidFill>
                <a:latin typeface="Calibri" pitchFamily="34" charset="0"/>
                <a:ea typeface="Calibri" pitchFamily="34" charset="-122"/>
                <a:cs typeface="Calibri" pitchFamily="34" charset="-120"/>
              </a:rPr>
              <a:t>   UC26 · UC35</a:t>
            </a:r>
            <a:endParaRPr lang="en-US" sz="1100" dirty="0"/>
          </a:p>
        </p:txBody>
      </p:sp>
      <p:sp>
        <p:nvSpPr>
          <p:cNvPr id="26" name="Text 18"/>
          <p:cNvSpPr/>
          <p:nvPr/>
        </p:nvSpPr>
        <p:spPr>
          <a:xfrm>
            <a:off x="969264" y="3794760"/>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The agent explains why it was blocked</a:t>
            </a:r>
            <a:endParaRPr lang="en-US" sz="1050" dirty="0"/>
          </a:p>
        </p:txBody>
      </p:sp>
      <p:sp>
        <p:nvSpPr>
          <p:cNvPr id="27" name="Shape 19"/>
          <p:cNvSpPr/>
          <p:nvPr/>
        </p:nvSpPr>
        <p:spPr>
          <a:xfrm>
            <a:off x="457200" y="4133088"/>
            <a:ext cx="384048" cy="384048"/>
          </a:xfrm>
          <a:prstGeom prst="ellipse">
            <a:avLst/>
          </a:prstGeom>
          <a:solidFill>
            <a:srgbClr val="0B1A2E"/>
          </a:solidFill>
          <a:ln/>
        </p:spPr>
      </p:sp>
      <p:pic>
        <p:nvPicPr>
          <p:cNvPr id="28" name="Image 5" descr="preencoded.png">    </p:cNvPr>
          <p:cNvPicPr>
            <a:picLocks noChangeAspect="1"/>
          </p:cNvPicPr>
          <p:nvPr/>
        </p:nvPicPr>
        <p:blipFill>
          <a:blip r:embed="rId6"/>
          <a:stretch>
            <a:fillRect/>
          </a:stretch>
        </p:blipFill>
        <p:spPr>
          <a:xfrm>
            <a:off x="560893" y="4236781"/>
            <a:ext cx="176662" cy="176662"/>
          </a:xfrm>
          <a:prstGeom prst="rect">
            <a:avLst/>
          </a:prstGeom>
        </p:spPr>
      </p:pic>
      <p:sp>
        <p:nvSpPr>
          <p:cNvPr id="29" name="Text 20"/>
          <p:cNvSpPr/>
          <p:nvPr/>
        </p:nvSpPr>
        <p:spPr>
          <a:xfrm>
            <a:off x="969264" y="4087368"/>
            <a:ext cx="4114800" cy="219456"/>
          </a:xfrm>
          <a:prstGeom prst="rect">
            <a:avLst/>
          </a:prstGeom>
          <a:noFill/>
          <a:ln/>
        </p:spPr>
        <p:txBody>
          <a:bodyPr wrap="square" lIns="0" tIns="0" rIns="0" bIns="0" rtlCol="0" anchor="t"/>
          <a:lstStyle/>
          <a:p>
            <a:pPr indent="0" marL="0">
              <a:buNone/>
            </a:pPr>
            <a:r>
              <a:rPr lang="en-US" sz="1100" b="1" dirty="0">
                <a:solidFill>
                  <a:srgbClr val="0B1A2E"/>
                </a:solidFill>
                <a:latin typeface="Montserrat" pitchFamily="34" charset="0"/>
                <a:ea typeface="Montserrat" pitchFamily="34" charset="-122"/>
                <a:cs typeface="Montserrat" pitchFamily="34" charset="-120"/>
              </a:rPr>
              <a:t>Agent identity and governance</a:t>
            </a:r>
            <a:pPr indent="0" marL="0">
              <a:buNone/>
            </a:pPr>
            <a:r>
              <a:rPr lang="en-US" sz="900" b="1" dirty="0">
                <a:solidFill>
                  <a:srgbClr val="C8102E"/>
                </a:solidFill>
                <a:latin typeface="Calibri" pitchFamily="34" charset="0"/>
                <a:ea typeface="Calibri" pitchFamily="34" charset="-122"/>
                <a:cs typeface="Calibri" pitchFamily="34" charset="-120"/>
              </a:rPr>
              <a:t>   UC-NHI1–2 · UC19</a:t>
            </a:r>
            <a:endParaRPr lang="en-US" sz="1100" dirty="0"/>
          </a:p>
        </p:txBody>
      </p:sp>
      <p:sp>
        <p:nvSpPr>
          <p:cNvPr id="30" name="Text 21"/>
          <p:cNvSpPr/>
          <p:nvPr/>
        </p:nvSpPr>
        <p:spPr>
          <a:xfrm>
            <a:off x="969264" y="4315968"/>
            <a:ext cx="4114800" cy="201168"/>
          </a:xfrm>
          <a:prstGeom prst="rect">
            <a:avLst/>
          </a:prstGeom>
          <a:noFill/>
          <a:ln/>
        </p:spPr>
        <p:txBody>
          <a:bodyPr wrap="square" lIns="0" tIns="0" rIns="0" bIns="0" rtlCol="0" anchor="t"/>
          <a:lstStyle/>
          <a:p>
            <a:pPr indent="0" marL="0">
              <a:buNone/>
            </a:pPr>
            <a:r>
              <a:rPr lang="en-US" sz="1050" dirty="0">
                <a:solidFill>
                  <a:srgbClr val="4F5E71"/>
                </a:solidFill>
                <a:latin typeface="Calibri" pitchFamily="34" charset="0"/>
                <a:ea typeface="Calibri" pitchFamily="34" charset="-122"/>
                <a:cs typeface="Calibri" pitchFamily="34" charset="-120"/>
              </a:rPr>
              <a:t>Agent inventory, lifecycle export, credential retirement</a:t>
            </a:r>
            <a:endParaRPr lang="en-US" sz="1050" dirty="0"/>
          </a:p>
        </p:txBody>
      </p:sp>
      <p:sp>
        <p:nvSpPr>
          <p:cNvPr id="31" name="Shape 22"/>
          <p:cNvSpPr/>
          <p:nvPr/>
        </p:nvSpPr>
        <p:spPr>
          <a:xfrm>
            <a:off x="5349240" y="1481328"/>
            <a:ext cx="3337560" cy="3072384"/>
          </a:xfrm>
          <a:prstGeom prst="rect">
            <a:avLst/>
          </a:prstGeom>
          <a:solidFill>
            <a:srgbClr val="0B1A2E"/>
          </a:solidFill>
          <a:ln/>
        </p:spPr>
      </p:sp>
      <p:sp>
        <p:nvSpPr>
          <p:cNvPr id="32" name="Text 23"/>
          <p:cNvSpPr/>
          <p:nvPr/>
        </p:nvSpPr>
        <p:spPr>
          <a:xfrm>
            <a:off x="5577840" y="1645920"/>
            <a:ext cx="2880360" cy="201168"/>
          </a:xfrm>
          <a:prstGeom prst="rect">
            <a:avLst/>
          </a:prstGeom>
          <a:noFill/>
          <a:ln/>
        </p:spPr>
        <p:txBody>
          <a:bodyPr wrap="square" lIns="0" tIns="0" rIns="0" bIns="0" rtlCol="0" anchor="t"/>
          <a:lstStyle/>
          <a:p>
            <a:pPr indent="0" marL="0">
              <a:buNone/>
            </a:pPr>
            <a:r>
              <a:rPr lang="en-US" sz="900" b="1" spc="200" kern="0" dirty="0">
                <a:solidFill>
                  <a:srgbClr val="B9C6D6"/>
                </a:solidFill>
                <a:latin typeface="Montserrat" pitchFamily="34" charset="0"/>
                <a:ea typeface="Montserrat" pitchFamily="34" charset="-122"/>
                <a:cs typeface="Montserrat" pitchFamily="34" charset="-120"/>
              </a:rPr>
              <a:t>ONE PROMPT, END TO END</a:t>
            </a:r>
            <a:endParaRPr lang="en-US" sz="900" dirty="0"/>
          </a:p>
        </p:txBody>
      </p:sp>
      <p:sp>
        <p:nvSpPr>
          <p:cNvPr id="33" name="Text 24"/>
          <p:cNvSpPr/>
          <p:nvPr/>
        </p:nvSpPr>
        <p:spPr>
          <a:xfrm>
            <a:off x="5577840" y="1865376"/>
            <a:ext cx="2880360" cy="310896"/>
          </a:xfrm>
          <a:prstGeom prst="rect">
            <a:avLst/>
          </a:prstGeom>
          <a:noFill/>
          <a:ln/>
        </p:spPr>
        <p:txBody>
          <a:bodyPr wrap="square" lIns="0" tIns="0" rIns="0" bIns="0" rtlCol="0" anchor="t"/>
          <a:lstStyle/>
          <a:p>
            <a:pPr indent="0" marL="0">
              <a:buNone/>
            </a:pPr>
            <a:r>
              <a:rPr lang="en-US" sz="1500" b="1" dirty="0">
                <a:solidFill>
                  <a:srgbClr val="FFFFFF"/>
                </a:solidFill>
                <a:latin typeface="Montserrat" pitchFamily="34" charset="0"/>
                <a:ea typeface="Montserrat" pitchFamily="34" charset="-122"/>
                <a:cs typeface="Montserrat" pitchFamily="34" charset="-120"/>
              </a:rPr>
              <a:t>“Send $300 to savings”</a:t>
            </a:r>
            <a:endParaRPr lang="en-US" sz="1500" dirty="0"/>
          </a:p>
        </p:txBody>
      </p:sp>
      <p:sp>
        <p:nvSpPr>
          <p:cNvPr id="34" name="Shape 25"/>
          <p:cNvSpPr/>
          <p:nvPr/>
        </p:nvSpPr>
        <p:spPr>
          <a:xfrm>
            <a:off x="5577840" y="2286000"/>
            <a:ext cx="219456" cy="219456"/>
          </a:xfrm>
          <a:prstGeom prst="ellipse">
            <a:avLst/>
          </a:prstGeom>
          <a:solidFill>
            <a:srgbClr val="C8102E"/>
          </a:solidFill>
          <a:ln/>
        </p:spPr>
      </p:sp>
      <p:sp>
        <p:nvSpPr>
          <p:cNvPr id="35" name="Text 26"/>
          <p:cNvSpPr/>
          <p:nvPr/>
        </p:nvSpPr>
        <p:spPr>
          <a:xfrm>
            <a:off x="5577840" y="2286000"/>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1</a:t>
            </a:r>
            <a:endParaRPr lang="en-US" sz="900" dirty="0"/>
          </a:p>
        </p:txBody>
      </p:sp>
      <p:sp>
        <p:nvSpPr>
          <p:cNvPr id="36" name="Text 27"/>
          <p:cNvSpPr/>
          <p:nvPr/>
        </p:nvSpPr>
        <p:spPr>
          <a:xfrm>
            <a:off x="5897880" y="2267712"/>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Agent picks the transfer tool</a:t>
            </a:r>
            <a:endParaRPr lang="en-US" sz="1050" dirty="0"/>
          </a:p>
        </p:txBody>
      </p:sp>
      <p:sp>
        <p:nvSpPr>
          <p:cNvPr id="37" name="Shape 28"/>
          <p:cNvSpPr/>
          <p:nvPr/>
        </p:nvSpPr>
        <p:spPr>
          <a:xfrm>
            <a:off x="5577840" y="2596896"/>
            <a:ext cx="219456" cy="219456"/>
          </a:xfrm>
          <a:prstGeom prst="ellipse">
            <a:avLst/>
          </a:prstGeom>
          <a:solidFill>
            <a:srgbClr val="C8102E"/>
          </a:solidFill>
          <a:ln/>
        </p:spPr>
      </p:sp>
      <p:sp>
        <p:nvSpPr>
          <p:cNvPr id="38" name="Text 29"/>
          <p:cNvSpPr/>
          <p:nvPr/>
        </p:nvSpPr>
        <p:spPr>
          <a:xfrm>
            <a:off x="5577840" y="2596896"/>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2</a:t>
            </a:r>
            <a:endParaRPr lang="en-US" sz="900" dirty="0"/>
          </a:p>
        </p:txBody>
      </p:sp>
      <p:sp>
        <p:nvSpPr>
          <p:cNvPr id="39" name="Text 30"/>
          <p:cNvSpPr/>
          <p:nvPr/>
        </p:nvSpPr>
        <p:spPr>
          <a:xfrm>
            <a:off x="5897880" y="2578608"/>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BFF exchanges for a delegated token</a:t>
            </a:r>
            <a:endParaRPr lang="en-US" sz="1050" dirty="0"/>
          </a:p>
        </p:txBody>
      </p:sp>
      <p:sp>
        <p:nvSpPr>
          <p:cNvPr id="40" name="Shape 31"/>
          <p:cNvSpPr/>
          <p:nvPr/>
        </p:nvSpPr>
        <p:spPr>
          <a:xfrm>
            <a:off x="5577840" y="2907792"/>
            <a:ext cx="219456" cy="219456"/>
          </a:xfrm>
          <a:prstGeom prst="ellipse">
            <a:avLst/>
          </a:prstGeom>
          <a:solidFill>
            <a:srgbClr val="C8102E"/>
          </a:solidFill>
          <a:ln/>
        </p:spPr>
      </p:sp>
      <p:sp>
        <p:nvSpPr>
          <p:cNvPr id="41" name="Text 32"/>
          <p:cNvSpPr/>
          <p:nvPr/>
        </p:nvSpPr>
        <p:spPr>
          <a:xfrm>
            <a:off x="5577840" y="2907792"/>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3</a:t>
            </a:r>
            <a:endParaRPr lang="en-US" sz="900" dirty="0"/>
          </a:p>
        </p:txBody>
      </p:sp>
      <p:sp>
        <p:nvSpPr>
          <p:cNvPr id="42" name="Text 33"/>
          <p:cNvSpPr/>
          <p:nvPr/>
        </p:nvSpPr>
        <p:spPr>
          <a:xfrm>
            <a:off x="5897880" y="2889504"/>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Gateway checks it, asks Authorize</a:t>
            </a:r>
            <a:endParaRPr lang="en-US" sz="1050" dirty="0"/>
          </a:p>
        </p:txBody>
      </p:sp>
      <p:sp>
        <p:nvSpPr>
          <p:cNvPr id="43" name="Shape 34"/>
          <p:cNvSpPr/>
          <p:nvPr/>
        </p:nvSpPr>
        <p:spPr>
          <a:xfrm>
            <a:off x="5577840" y="3218688"/>
            <a:ext cx="219456" cy="219456"/>
          </a:xfrm>
          <a:prstGeom prst="ellipse">
            <a:avLst/>
          </a:prstGeom>
          <a:solidFill>
            <a:srgbClr val="C8102E"/>
          </a:solidFill>
          <a:ln/>
        </p:spPr>
      </p:sp>
      <p:sp>
        <p:nvSpPr>
          <p:cNvPr id="44" name="Text 35"/>
          <p:cNvSpPr/>
          <p:nvPr/>
        </p:nvSpPr>
        <p:spPr>
          <a:xfrm>
            <a:off x="5577840" y="3218688"/>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4</a:t>
            </a:r>
            <a:endParaRPr lang="en-US" sz="900" dirty="0"/>
          </a:p>
        </p:txBody>
      </p:sp>
      <p:sp>
        <p:nvSpPr>
          <p:cNvPr id="45" name="Text 36"/>
          <p:cNvSpPr/>
          <p:nvPr/>
        </p:nvSpPr>
        <p:spPr>
          <a:xfrm>
            <a:off x="5897880" y="3200400"/>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Authorize: over $250, ask the customer</a:t>
            </a:r>
            <a:endParaRPr lang="en-US" sz="1050" dirty="0"/>
          </a:p>
        </p:txBody>
      </p:sp>
      <p:sp>
        <p:nvSpPr>
          <p:cNvPr id="46" name="Shape 37"/>
          <p:cNvSpPr/>
          <p:nvPr/>
        </p:nvSpPr>
        <p:spPr>
          <a:xfrm>
            <a:off x="5577840" y="3529584"/>
            <a:ext cx="219456" cy="219456"/>
          </a:xfrm>
          <a:prstGeom prst="ellipse">
            <a:avLst/>
          </a:prstGeom>
          <a:solidFill>
            <a:srgbClr val="C8102E"/>
          </a:solidFill>
          <a:ln/>
        </p:spPr>
      </p:sp>
      <p:sp>
        <p:nvSpPr>
          <p:cNvPr id="47" name="Text 38"/>
          <p:cNvSpPr/>
          <p:nvPr/>
        </p:nvSpPr>
        <p:spPr>
          <a:xfrm>
            <a:off x="5577840" y="3529584"/>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5</a:t>
            </a:r>
            <a:endParaRPr lang="en-US" sz="900" dirty="0"/>
          </a:p>
        </p:txBody>
      </p:sp>
      <p:sp>
        <p:nvSpPr>
          <p:cNvPr id="48" name="Text 39"/>
          <p:cNvSpPr/>
          <p:nvPr/>
        </p:nvSpPr>
        <p:spPr>
          <a:xfrm>
            <a:off x="5897880" y="3511296"/>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Customer approves; one-time receipt</a:t>
            </a:r>
            <a:endParaRPr lang="en-US" sz="1050" dirty="0"/>
          </a:p>
        </p:txBody>
      </p:sp>
      <p:sp>
        <p:nvSpPr>
          <p:cNvPr id="49" name="Shape 40"/>
          <p:cNvSpPr/>
          <p:nvPr/>
        </p:nvSpPr>
        <p:spPr>
          <a:xfrm>
            <a:off x="5577840" y="3840480"/>
            <a:ext cx="219456" cy="219456"/>
          </a:xfrm>
          <a:prstGeom prst="ellipse">
            <a:avLst/>
          </a:prstGeom>
          <a:solidFill>
            <a:srgbClr val="C8102E"/>
          </a:solidFill>
          <a:ln/>
        </p:spPr>
      </p:sp>
      <p:sp>
        <p:nvSpPr>
          <p:cNvPr id="50" name="Text 41"/>
          <p:cNvSpPr/>
          <p:nvPr/>
        </p:nvSpPr>
        <p:spPr>
          <a:xfrm>
            <a:off x="5577840" y="3840480"/>
            <a:ext cx="219456"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6</a:t>
            </a:r>
            <a:endParaRPr lang="en-US" sz="900" dirty="0"/>
          </a:p>
        </p:txBody>
      </p:sp>
      <p:sp>
        <p:nvSpPr>
          <p:cNvPr id="51" name="Text 42"/>
          <p:cNvSpPr/>
          <p:nvPr/>
        </p:nvSpPr>
        <p:spPr>
          <a:xfrm>
            <a:off x="5897880" y="3822192"/>
            <a:ext cx="2651760" cy="25603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Tool runs; the audit trail records it</a:t>
            </a:r>
            <a:endParaRPr lang="en-US" sz="1050" dirty="0"/>
          </a:p>
        </p:txBody>
      </p:sp>
      <p:sp>
        <p:nvSpPr>
          <p:cNvPr id="52" name="Text 43"/>
          <p:cNvSpPr/>
          <p:nvPr/>
        </p:nvSpPr>
        <p:spPr>
          <a:xfrm>
            <a:off x="5577840" y="4206240"/>
            <a:ext cx="2971800" cy="219456"/>
          </a:xfrm>
          <a:prstGeom prst="rect">
            <a:avLst/>
          </a:prstGeom>
          <a:noFill/>
          <a:ln/>
        </p:spPr>
        <p:txBody>
          <a:bodyPr wrap="square" lIns="0" tIns="0" rIns="0" bIns="0" rtlCol="0" anchor="ctr"/>
          <a:lstStyle/>
          <a:p>
            <a:pPr indent="0" marL="0">
              <a:buNone/>
            </a:pPr>
            <a:r>
              <a:rPr lang="en-US" sz="950" i="1" dirty="0">
                <a:solidFill>
                  <a:srgbClr val="B9C6D6"/>
                </a:solidFill>
                <a:latin typeface="Calibri" pitchFamily="34" charset="0"/>
                <a:ea typeface="Calibri" pitchFamily="34" charset="-122"/>
                <a:cs typeface="Calibri" pitchFamily="34" charset="-120"/>
              </a:rPr>
              <a:t>Demo thresholds: $250 ask · $500 step-up · $2,000 deny</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5  ·  PROTECTING THE AGENT</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The model is never the security boundary: identity and policy are checked at every hop</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7</a:t>
            </a:r>
            <a:endParaRPr lang="en-US" sz="900" dirty="0"/>
          </a:p>
        </p:txBody>
      </p:sp>
      <p:sp>
        <p:nvSpPr>
          <p:cNvPr id="7" name="Shape 4"/>
          <p:cNvSpPr/>
          <p:nvPr/>
        </p:nvSpPr>
        <p:spPr>
          <a:xfrm>
            <a:off x="457200" y="1481328"/>
            <a:ext cx="8229600" cy="384048"/>
          </a:xfrm>
          <a:prstGeom prst="rect">
            <a:avLst/>
          </a:prstGeom>
          <a:solidFill>
            <a:srgbClr val="FFFFFF"/>
          </a:solidFill>
          <a:ln w="9525">
            <a:solidFill>
              <a:srgbClr val="D5DBE3"/>
            </a:solidFill>
            <a:prstDash val="solid"/>
          </a:ln>
        </p:spPr>
      </p:sp>
      <p:sp>
        <p:nvSpPr>
          <p:cNvPr id="8" name="Shape 5"/>
          <p:cNvSpPr/>
          <p:nvPr/>
        </p:nvSpPr>
        <p:spPr>
          <a:xfrm>
            <a:off x="457200" y="1481328"/>
            <a:ext cx="1874520" cy="384048"/>
          </a:xfrm>
          <a:prstGeom prst="homePlate">
            <a:avLst/>
          </a:prstGeom>
          <a:solidFill>
            <a:srgbClr val="0B1A2E"/>
          </a:solidFill>
          <a:ln/>
        </p:spPr>
      </p:sp>
      <p:sp>
        <p:nvSpPr>
          <p:cNvPr id="9" name="Text 6"/>
          <p:cNvSpPr/>
          <p:nvPr/>
        </p:nvSpPr>
        <p:spPr>
          <a:xfrm>
            <a:off x="603504" y="14813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Sign-in</a:t>
            </a:r>
            <a:endParaRPr lang="en-US" sz="1000" dirty="0"/>
          </a:p>
        </p:txBody>
      </p:sp>
      <p:sp>
        <p:nvSpPr>
          <p:cNvPr id="10" name="Shape 7"/>
          <p:cNvSpPr/>
          <p:nvPr/>
        </p:nvSpPr>
        <p:spPr>
          <a:xfrm>
            <a:off x="2487168" y="1536192"/>
            <a:ext cx="274320" cy="274320"/>
          </a:xfrm>
          <a:prstGeom prst="ellipse">
            <a:avLst/>
          </a:prstGeom>
          <a:solidFill>
            <a:srgbClr val="E8ECF2"/>
          </a:solidFill>
          <a:ln/>
        </p:spPr>
      </p:sp>
      <p:pic>
        <p:nvPicPr>
          <p:cNvPr id="11" name="Image 0" descr="preencoded.png">    </p:cNvPr>
          <p:cNvPicPr>
            <a:picLocks noChangeAspect="1"/>
          </p:cNvPicPr>
          <p:nvPr/>
        </p:nvPicPr>
        <p:blipFill>
          <a:blip r:embed="rId1"/>
          <a:stretch>
            <a:fillRect/>
          </a:stretch>
        </p:blipFill>
        <p:spPr>
          <a:xfrm>
            <a:off x="2561234" y="1610258"/>
            <a:ext cx="126187" cy="126187"/>
          </a:xfrm>
          <a:prstGeom prst="rect">
            <a:avLst/>
          </a:prstGeom>
        </p:spPr>
      </p:pic>
      <p:sp>
        <p:nvSpPr>
          <p:cNvPr id="12" name="Text 8"/>
          <p:cNvSpPr/>
          <p:nvPr/>
        </p:nvSpPr>
        <p:spPr>
          <a:xfrm>
            <a:off x="2907792" y="14813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PKCE and passkeys; the browser gets a cookie, never a token</a:t>
            </a:r>
            <a:endParaRPr lang="en-US" sz="1100" dirty="0"/>
          </a:p>
        </p:txBody>
      </p:sp>
      <p:sp>
        <p:nvSpPr>
          <p:cNvPr id="13" name="Shape 9"/>
          <p:cNvSpPr/>
          <p:nvPr/>
        </p:nvSpPr>
        <p:spPr>
          <a:xfrm>
            <a:off x="457200" y="1938528"/>
            <a:ext cx="8229600" cy="384048"/>
          </a:xfrm>
          <a:prstGeom prst="rect">
            <a:avLst/>
          </a:prstGeom>
          <a:solidFill>
            <a:srgbClr val="FFFFFF"/>
          </a:solidFill>
          <a:ln w="9525">
            <a:solidFill>
              <a:srgbClr val="D5DBE3"/>
            </a:solidFill>
            <a:prstDash val="solid"/>
          </a:ln>
        </p:spPr>
      </p:sp>
      <p:sp>
        <p:nvSpPr>
          <p:cNvPr id="14" name="Shape 10"/>
          <p:cNvSpPr/>
          <p:nvPr/>
        </p:nvSpPr>
        <p:spPr>
          <a:xfrm>
            <a:off x="457200" y="1938528"/>
            <a:ext cx="1874520" cy="384048"/>
          </a:xfrm>
          <a:prstGeom prst="homePlate">
            <a:avLst/>
          </a:prstGeom>
          <a:solidFill>
            <a:srgbClr val="15294A"/>
          </a:solidFill>
          <a:ln/>
        </p:spPr>
      </p:sp>
      <p:sp>
        <p:nvSpPr>
          <p:cNvPr id="15" name="Text 11"/>
          <p:cNvSpPr/>
          <p:nvPr/>
        </p:nvSpPr>
        <p:spPr>
          <a:xfrm>
            <a:off x="603504" y="19385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Before the model</a:t>
            </a:r>
            <a:endParaRPr lang="en-US" sz="1000" dirty="0"/>
          </a:p>
        </p:txBody>
      </p:sp>
      <p:sp>
        <p:nvSpPr>
          <p:cNvPr id="16" name="Shape 12"/>
          <p:cNvSpPr/>
          <p:nvPr/>
        </p:nvSpPr>
        <p:spPr>
          <a:xfrm>
            <a:off x="2487168" y="1993392"/>
            <a:ext cx="274320" cy="274320"/>
          </a:xfrm>
          <a:prstGeom prst="ellipse">
            <a:avLst/>
          </a:prstGeom>
          <a:solidFill>
            <a:srgbClr val="E8ECF2"/>
          </a:solidFill>
          <a:ln/>
        </p:spPr>
      </p:sp>
      <p:pic>
        <p:nvPicPr>
          <p:cNvPr id="17" name="Image 1" descr="preencoded.png">    </p:cNvPr>
          <p:cNvPicPr>
            <a:picLocks noChangeAspect="1"/>
          </p:cNvPicPr>
          <p:nvPr/>
        </p:nvPicPr>
        <p:blipFill>
          <a:blip r:embed="rId2"/>
          <a:stretch>
            <a:fillRect/>
          </a:stretch>
        </p:blipFill>
        <p:spPr>
          <a:xfrm>
            <a:off x="2561234" y="2067458"/>
            <a:ext cx="126187" cy="126187"/>
          </a:xfrm>
          <a:prstGeom prst="rect">
            <a:avLst/>
          </a:prstGeom>
        </p:spPr>
      </p:pic>
      <p:sp>
        <p:nvSpPr>
          <p:cNvPr id="18" name="Text 13"/>
          <p:cNvSpPr/>
          <p:nvPr/>
        </p:nvSpPr>
        <p:spPr>
          <a:xfrm>
            <a:off x="2907792" y="19385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Prompt-injection guard on by default; the model sees offered tools, never tokens</a:t>
            </a:r>
            <a:endParaRPr lang="en-US" sz="1100" dirty="0"/>
          </a:p>
        </p:txBody>
      </p:sp>
      <p:sp>
        <p:nvSpPr>
          <p:cNvPr id="19" name="Shape 14"/>
          <p:cNvSpPr/>
          <p:nvPr/>
        </p:nvSpPr>
        <p:spPr>
          <a:xfrm>
            <a:off x="457200" y="2395728"/>
            <a:ext cx="8229600" cy="384048"/>
          </a:xfrm>
          <a:prstGeom prst="rect">
            <a:avLst/>
          </a:prstGeom>
          <a:solidFill>
            <a:srgbClr val="FFFFFF"/>
          </a:solidFill>
          <a:ln w="9525">
            <a:solidFill>
              <a:srgbClr val="D5DBE3"/>
            </a:solidFill>
            <a:prstDash val="solid"/>
          </a:ln>
        </p:spPr>
      </p:sp>
      <p:sp>
        <p:nvSpPr>
          <p:cNvPr id="20" name="Shape 15"/>
          <p:cNvSpPr/>
          <p:nvPr/>
        </p:nvSpPr>
        <p:spPr>
          <a:xfrm>
            <a:off x="457200" y="2395728"/>
            <a:ext cx="1874520" cy="384048"/>
          </a:xfrm>
          <a:prstGeom prst="homePlate">
            <a:avLst/>
          </a:prstGeom>
          <a:solidFill>
            <a:srgbClr val="0B1A2E"/>
          </a:solidFill>
          <a:ln/>
        </p:spPr>
      </p:sp>
      <p:sp>
        <p:nvSpPr>
          <p:cNvPr id="21" name="Text 16"/>
          <p:cNvSpPr/>
          <p:nvPr/>
        </p:nvSpPr>
        <p:spPr>
          <a:xfrm>
            <a:off x="603504" y="23957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Token exchange</a:t>
            </a:r>
            <a:endParaRPr lang="en-US" sz="1000" dirty="0"/>
          </a:p>
        </p:txBody>
      </p:sp>
      <p:sp>
        <p:nvSpPr>
          <p:cNvPr id="22" name="Shape 17"/>
          <p:cNvSpPr/>
          <p:nvPr/>
        </p:nvSpPr>
        <p:spPr>
          <a:xfrm>
            <a:off x="2487168" y="2450592"/>
            <a:ext cx="274320" cy="274320"/>
          </a:xfrm>
          <a:prstGeom prst="ellipse">
            <a:avLst/>
          </a:prstGeom>
          <a:solidFill>
            <a:srgbClr val="E8ECF2"/>
          </a:solidFill>
          <a:ln/>
        </p:spPr>
      </p:sp>
      <p:pic>
        <p:nvPicPr>
          <p:cNvPr id="23" name="Image 2" descr="preencoded.png">    </p:cNvPr>
          <p:cNvPicPr>
            <a:picLocks noChangeAspect="1"/>
          </p:cNvPicPr>
          <p:nvPr/>
        </p:nvPicPr>
        <p:blipFill>
          <a:blip r:embed="rId3"/>
          <a:stretch>
            <a:fillRect/>
          </a:stretch>
        </p:blipFill>
        <p:spPr>
          <a:xfrm>
            <a:off x="2561234" y="2524658"/>
            <a:ext cx="126187" cy="126187"/>
          </a:xfrm>
          <a:prstGeom prst="rect">
            <a:avLst/>
          </a:prstGeom>
        </p:spPr>
      </p:pic>
      <p:sp>
        <p:nvSpPr>
          <p:cNvPr id="24" name="Text 18"/>
          <p:cNvSpPr/>
          <p:nvPr/>
        </p:nvSpPr>
        <p:spPr>
          <a:xfrm>
            <a:off x="2907792" y="23957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RFC 8693 on each tool call: one audience, least scopes, act claim names the agent</a:t>
            </a:r>
            <a:endParaRPr lang="en-US" sz="1100" dirty="0"/>
          </a:p>
        </p:txBody>
      </p:sp>
      <p:sp>
        <p:nvSpPr>
          <p:cNvPr id="25" name="Shape 19"/>
          <p:cNvSpPr/>
          <p:nvPr/>
        </p:nvSpPr>
        <p:spPr>
          <a:xfrm>
            <a:off x="457200" y="2852928"/>
            <a:ext cx="8229600" cy="384048"/>
          </a:xfrm>
          <a:prstGeom prst="rect">
            <a:avLst/>
          </a:prstGeom>
          <a:solidFill>
            <a:srgbClr val="FFFFFF"/>
          </a:solidFill>
          <a:ln w="9525">
            <a:solidFill>
              <a:srgbClr val="D5DBE3"/>
            </a:solidFill>
            <a:prstDash val="solid"/>
          </a:ln>
        </p:spPr>
      </p:sp>
      <p:sp>
        <p:nvSpPr>
          <p:cNvPr id="26" name="Shape 20"/>
          <p:cNvSpPr/>
          <p:nvPr/>
        </p:nvSpPr>
        <p:spPr>
          <a:xfrm>
            <a:off x="457200" y="2852928"/>
            <a:ext cx="1874520" cy="384048"/>
          </a:xfrm>
          <a:prstGeom prst="homePlate">
            <a:avLst/>
          </a:prstGeom>
          <a:solidFill>
            <a:srgbClr val="15294A"/>
          </a:solidFill>
          <a:ln/>
        </p:spPr>
      </p:sp>
      <p:sp>
        <p:nvSpPr>
          <p:cNvPr id="27" name="Text 21"/>
          <p:cNvSpPr/>
          <p:nvPr/>
        </p:nvSpPr>
        <p:spPr>
          <a:xfrm>
            <a:off x="603504" y="28529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Gateway</a:t>
            </a:r>
            <a:endParaRPr lang="en-US" sz="1000" dirty="0"/>
          </a:p>
        </p:txBody>
      </p:sp>
      <p:sp>
        <p:nvSpPr>
          <p:cNvPr id="28" name="Shape 22"/>
          <p:cNvSpPr/>
          <p:nvPr/>
        </p:nvSpPr>
        <p:spPr>
          <a:xfrm>
            <a:off x="2487168" y="2907792"/>
            <a:ext cx="274320" cy="274320"/>
          </a:xfrm>
          <a:prstGeom prst="ellipse">
            <a:avLst/>
          </a:prstGeom>
          <a:solidFill>
            <a:srgbClr val="E8ECF2"/>
          </a:solidFill>
          <a:ln/>
        </p:spPr>
      </p:sp>
      <p:pic>
        <p:nvPicPr>
          <p:cNvPr id="29" name="Image 3" descr="preencoded.png">    </p:cNvPr>
          <p:cNvPicPr>
            <a:picLocks noChangeAspect="1"/>
          </p:cNvPicPr>
          <p:nvPr/>
        </p:nvPicPr>
        <p:blipFill>
          <a:blip r:embed="rId4"/>
          <a:stretch>
            <a:fillRect/>
          </a:stretch>
        </p:blipFill>
        <p:spPr>
          <a:xfrm>
            <a:off x="2561234" y="2981858"/>
            <a:ext cx="126187" cy="126187"/>
          </a:xfrm>
          <a:prstGeom prst="rect">
            <a:avLst/>
          </a:prstGeom>
        </p:spPr>
      </p:pic>
      <p:sp>
        <p:nvSpPr>
          <p:cNvPr id="30" name="Text 23"/>
          <p:cNvSpPr/>
          <p:nvPr/>
        </p:nvSpPr>
        <p:spPr>
          <a:xfrm>
            <a:off x="2907792" y="28529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Checks audience, expiry and issuer; blocks bypass; rate limits; optional mTLS</a:t>
            </a:r>
            <a:endParaRPr lang="en-US" sz="1100" dirty="0"/>
          </a:p>
        </p:txBody>
      </p:sp>
      <p:sp>
        <p:nvSpPr>
          <p:cNvPr id="31" name="Shape 24"/>
          <p:cNvSpPr/>
          <p:nvPr/>
        </p:nvSpPr>
        <p:spPr>
          <a:xfrm>
            <a:off x="457200" y="3310128"/>
            <a:ext cx="8229600" cy="384048"/>
          </a:xfrm>
          <a:prstGeom prst="rect">
            <a:avLst/>
          </a:prstGeom>
          <a:solidFill>
            <a:srgbClr val="FFFFFF"/>
          </a:solidFill>
          <a:ln w="9525">
            <a:solidFill>
              <a:srgbClr val="D5DBE3"/>
            </a:solidFill>
            <a:prstDash val="solid"/>
          </a:ln>
        </p:spPr>
      </p:sp>
      <p:sp>
        <p:nvSpPr>
          <p:cNvPr id="32" name="Shape 25"/>
          <p:cNvSpPr/>
          <p:nvPr/>
        </p:nvSpPr>
        <p:spPr>
          <a:xfrm>
            <a:off x="457200" y="3310128"/>
            <a:ext cx="1874520" cy="384048"/>
          </a:xfrm>
          <a:prstGeom prst="homePlate">
            <a:avLst/>
          </a:prstGeom>
          <a:solidFill>
            <a:srgbClr val="0B1A2E"/>
          </a:solidFill>
          <a:ln/>
        </p:spPr>
      </p:sp>
      <p:sp>
        <p:nvSpPr>
          <p:cNvPr id="33" name="Text 26"/>
          <p:cNvSpPr/>
          <p:nvPr/>
        </p:nvSpPr>
        <p:spPr>
          <a:xfrm>
            <a:off x="603504" y="33101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Policy</a:t>
            </a:r>
            <a:endParaRPr lang="en-US" sz="1000" dirty="0"/>
          </a:p>
        </p:txBody>
      </p:sp>
      <p:sp>
        <p:nvSpPr>
          <p:cNvPr id="34" name="Shape 27"/>
          <p:cNvSpPr/>
          <p:nvPr/>
        </p:nvSpPr>
        <p:spPr>
          <a:xfrm>
            <a:off x="2487168" y="3364992"/>
            <a:ext cx="274320" cy="274320"/>
          </a:xfrm>
          <a:prstGeom prst="ellipse">
            <a:avLst/>
          </a:prstGeom>
          <a:solidFill>
            <a:srgbClr val="E8ECF2"/>
          </a:solidFill>
          <a:ln/>
        </p:spPr>
      </p:sp>
      <p:pic>
        <p:nvPicPr>
          <p:cNvPr id="35" name="Image 4" descr="preencoded.png">    </p:cNvPr>
          <p:cNvPicPr>
            <a:picLocks noChangeAspect="1"/>
          </p:cNvPicPr>
          <p:nvPr/>
        </p:nvPicPr>
        <p:blipFill>
          <a:blip r:embed="rId5"/>
          <a:stretch>
            <a:fillRect/>
          </a:stretch>
        </p:blipFill>
        <p:spPr>
          <a:xfrm>
            <a:off x="2561234" y="3439058"/>
            <a:ext cx="126187" cy="126187"/>
          </a:xfrm>
          <a:prstGeom prst="rect">
            <a:avLst/>
          </a:prstGeom>
        </p:spPr>
      </p:pic>
      <p:sp>
        <p:nvSpPr>
          <p:cNvPr id="36" name="Text 28"/>
          <p:cNvSpPr/>
          <p:nvPr/>
        </p:nvSpPr>
        <p:spPr>
          <a:xfrm>
            <a:off x="2907792" y="33101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PingOne Authorize: permit, deny or ask; fails closed; A2A needs a verified chain</a:t>
            </a:r>
            <a:endParaRPr lang="en-US" sz="1100" dirty="0"/>
          </a:p>
        </p:txBody>
      </p:sp>
      <p:sp>
        <p:nvSpPr>
          <p:cNvPr id="37" name="Shape 29"/>
          <p:cNvSpPr/>
          <p:nvPr/>
        </p:nvSpPr>
        <p:spPr>
          <a:xfrm>
            <a:off x="457200" y="3767328"/>
            <a:ext cx="8229600" cy="384048"/>
          </a:xfrm>
          <a:prstGeom prst="rect">
            <a:avLst/>
          </a:prstGeom>
          <a:solidFill>
            <a:srgbClr val="FFFFFF"/>
          </a:solidFill>
          <a:ln w="9525">
            <a:solidFill>
              <a:srgbClr val="D5DBE3"/>
            </a:solidFill>
            <a:prstDash val="solid"/>
          </a:ln>
        </p:spPr>
      </p:sp>
      <p:sp>
        <p:nvSpPr>
          <p:cNvPr id="38" name="Shape 30"/>
          <p:cNvSpPr/>
          <p:nvPr/>
        </p:nvSpPr>
        <p:spPr>
          <a:xfrm>
            <a:off x="457200" y="3767328"/>
            <a:ext cx="1874520" cy="384048"/>
          </a:xfrm>
          <a:prstGeom prst="homePlate">
            <a:avLst/>
          </a:prstGeom>
          <a:solidFill>
            <a:srgbClr val="15294A"/>
          </a:solidFill>
          <a:ln/>
        </p:spPr>
      </p:sp>
      <p:sp>
        <p:nvSpPr>
          <p:cNvPr id="39" name="Text 31"/>
          <p:cNvSpPr/>
          <p:nvPr/>
        </p:nvSpPr>
        <p:spPr>
          <a:xfrm>
            <a:off x="603504" y="3767328"/>
            <a:ext cx="1508760" cy="384048"/>
          </a:xfrm>
          <a:prstGeom prst="rect">
            <a:avLst/>
          </a:prstGeom>
          <a:noFill/>
          <a:ln/>
        </p:spPr>
        <p:txBody>
          <a:bodyPr wrap="square" lIns="0" tIns="0" rIns="0" bIns="0" rtlCol="0" anchor="ctr"/>
          <a:lstStyle/>
          <a:p>
            <a:pPr indent="0" marL="0">
              <a:buNone/>
            </a:pPr>
            <a:r>
              <a:rPr lang="en-US" sz="1000" b="1" dirty="0">
                <a:solidFill>
                  <a:srgbClr val="FFFFFF"/>
                </a:solidFill>
                <a:latin typeface="Montserrat" pitchFamily="34" charset="0"/>
                <a:ea typeface="Montserrat" pitchFamily="34" charset="-122"/>
                <a:cs typeface="Montserrat" pitchFamily="34" charset="-120"/>
              </a:rPr>
              <a:t>Human and audit</a:t>
            </a:r>
            <a:endParaRPr lang="en-US" sz="1000" dirty="0"/>
          </a:p>
        </p:txBody>
      </p:sp>
      <p:sp>
        <p:nvSpPr>
          <p:cNvPr id="40" name="Shape 32"/>
          <p:cNvSpPr/>
          <p:nvPr/>
        </p:nvSpPr>
        <p:spPr>
          <a:xfrm>
            <a:off x="2487168" y="3822192"/>
            <a:ext cx="274320" cy="274320"/>
          </a:xfrm>
          <a:prstGeom prst="ellipse">
            <a:avLst/>
          </a:prstGeom>
          <a:solidFill>
            <a:srgbClr val="E8ECF2"/>
          </a:solidFill>
          <a:ln/>
        </p:spPr>
      </p:sp>
      <p:pic>
        <p:nvPicPr>
          <p:cNvPr id="41" name="Image 5" descr="preencoded.png">    </p:cNvPr>
          <p:cNvPicPr>
            <a:picLocks noChangeAspect="1"/>
          </p:cNvPicPr>
          <p:nvPr/>
        </p:nvPicPr>
        <p:blipFill>
          <a:blip r:embed="rId6"/>
          <a:stretch>
            <a:fillRect/>
          </a:stretch>
        </p:blipFill>
        <p:spPr>
          <a:xfrm>
            <a:off x="2561234" y="3896258"/>
            <a:ext cx="126187" cy="126187"/>
          </a:xfrm>
          <a:prstGeom prst="rect">
            <a:avLst/>
          </a:prstGeom>
        </p:spPr>
      </p:pic>
      <p:sp>
        <p:nvSpPr>
          <p:cNvPr id="42" name="Text 33"/>
          <p:cNvSpPr/>
          <p:nvPr/>
        </p:nvSpPr>
        <p:spPr>
          <a:xfrm>
            <a:off x="2907792" y="3767328"/>
            <a:ext cx="5669280" cy="384048"/>
          </a:xfrm>
          <a:prstGeom prst="rect">
            <a:avLst/>
          </a:prstGeom>
          <a:noFill/>
          <a:ln/>
        </p:spPr>
        <p:txBody>
          <a:bodyPr wrap="square" lIns="0" tIns="0" rIns="0" bIns="0" rtlCol="0" anchor="ctr"/>
          <a:lstStyle/>
          <a:p>
            <a:pPr indent="0" marL="0">
              <a:buNone/>
            </a:pPr>
            <a:r>
              <a:rPr lang="en-US" sz="1100" dirty="0">
                <a:solidFill>
                  <a:srgbClr val="0B1A2E"/>
                </a:solidFill>
                <a:latin typeface="Calibri" pitchFamily="34" charset="0"/>
                <a:ea typeface="Calibri" pitchFamily="34" charset="-122"/>
                <a:cs typeface="Calibri" pitchFamily="34" charset="-120"/>
              </a:rPr>
              <a:t>Single-use approval receipts, CIBA and step-up MFA; audit ledger and revocation</a:t>
            </a:r>
            <a:endParaRPr lang="en-US" sz="1100" dirty="0"/>
          </a:p>
        </p:txBody>
      </p:sp>
      <p:sp>
        <p:nvSpPr>
          <p:cNvPr id="43" name="Shape 34"/>
          <p:cNvSpPr/>
          <p:nvPr/>
        </p:nvSpPr>
        <p:spPr>
          <a:xfrm>
            <a:off x="457200" y="4315968"/>
            <a:ext cx="8229600" cy="347472"/>
          </a:xfrm>
          <a:prstGeom prst="rect">
            <a:avLst/>
          </a:prstGeom>
          <a:solidFill>
            <a:srgbClr val="E8ECF2"/>
          </a:solidFill>
          <a:ln w="9525">
            <a:solidFill>
              <a:srgbClr val="D5DBE3"/>
            </a:solidFill>
            <a:prstDash val="solid"/>
          </a:ln>
        </p:spPr>
      </p:sp>
      <p:sp>
        <p:nvSpPr>
          <p:cNvPr id="44" name="Text 35"/>
          <p:cNvSpPr/>
          <p:nvPr/>
        </p:nvSpPr>
        <p:spPr>
          <a:xfrm>
            <a:off x="594360" y="4315968"/>
            <a:ext cx="7955280" cy="347472"/>
          </a:xfrm>
          <a:prstGeom prst="rect">
            <a:avLst/>
          </a:prstGeom>
          <a:noFill/>
          <a:ln/>
        </p:spPr>
        <p:txBody>
          <a:bodyPr wrap="square" lIns="0" tIns="0" rIns="0" bIns="0" rtlCol="0" anchor="ctr"/>
          <a:lstStyle/>
          <a:p>
            <a:pPr indent="0" marL="0">
              <a:buNone/>
            </a:pPr>
            <a:r>
              <a:rPr lang="en-US" sz="1050" b="1" dirty="0">
                <a:solidFill>
                  <a:srgbClr val="0B1A2E"/>
                </a:solidFill>
                <a:latin typeface="Calibri" pitchFamily="34" charset="0"/>
                <a:ea typeface="Calibri" pitchFamily="34" charset="-122"/>
                <a:cs typeface="Calibri" pitchFamily="34" charset="-120"/>
              </a:rPr>
              <a:t>Optional outer ring:  </a:t>
            </a:r>
            <a:pPr indent="0" marL="0">
              <a:buNone/>
            </a:pPr>
            <a:r>
              <a:rPr lang="en-US" sz="1050" dirty="0">
                <a:solidFill>
                  <a:srgbClr val="0B1A2E"/>
                </a:solidFill>
                <a:latin typeface="Calibri" pitchFamily="34" charset="0"/>
                <a:ea typeface="Calibri" pitchFamily="34" charset="-122"/>
                <a:cs typeface="Calibri" pitchFamily="34" charset="-120"/>
              </a:rPr>
              <a:t>the PingOne Privilege AI Gateway scans prompts for injection and jailbreaks before they reach the model or tools.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6  ·  ARCHITECTURE</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One path for every request, with PingOne minting tokens and PingOne Authorize making the call</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8</a:t>
            </a:r>
            <a:endParaRPr lang="en-US" sz="900" dirty="0"/>
          </a:p>
        </p:txBody>
      </p:sp>
      <p:sp>
        <p:nvSpPr>
          <p:cNvPr id="7" name="Shape 4"/>
          <p:cNvSpPr/>
          <p:nvPr/>
        </p:nvSpPr>
        <p:spPr>
          <a:xfrm>
            <a:off x="1645920" y="1664208"/>
            <a:ext cx="2651760" cy="566928"/>
          </a:xfrm>
          <a:prstGeom prst="rect">
            <a:avLst/>
          </a:prstGeom>
          <a:solidFill>
            <a:srgbClr val="E8ECF2"/>
          </a:solidFill>
          <a:ln w="15875">
            <a:solidFill>
              <a:srgbClr val="0B1A2E"/>
            </a:solidFill>
            <a:prstDash val="solid"/>
          </a:ln>
        </p:spPr>
      </p:sp>
      <p:sp>
        <p:nvSpPr>
          <p:cNvPr id="8" name="Text 5"/>
          <p:cNvSpPr/>
          <p:nvPr/>
        </p:nvSpPr>
        <p:spPr>
          <a:xfrm>
            <a:off x="1700784" y="1664208"/>
            <a:ext cx="2542032" cy="566928"/>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Agent runtime</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LangChain · OpenAI · Mastra · Pydantic AI</a:t>
            </a:r>
            <a:endParaRPr lang="en-US" sz="1050" dirty="0"/>
          </a:p>
        </p:txBody>
      </p:sp>
      <p:sp>
        <p:nvSpPr>
          <p:cNvPr id="9" name="Shape 6"/>
          <p:cNvSpPr/>
          <p:nvPr/>
        </p:nvSpPr>
        <p:spPr>
          <a:xfrm>
            <a:off x="4572000" y="1664208"/>
            <a:ext cx="1645920" cy="566928"/>
          </a:xfrm>
          <a:prstGeom prst="rect">
            <a:avLst/>
          </a:prstGeom>
          <a:solidFill>
            <a:srgbClr val="0B1A2E"/>
          </a:solidFill>
          <a:ln/>
        </p:spPr>
      </p:sp>
      <p:sp>
        <p:nvSpPr>
          <p:cNvPr id="10" name="Text 7"/>
          <p:cNvSpPr/>
          <p:nvPr/>
        </p:nvSpPr>
        <p:spPr>
          <a:xfrm>
            <a:off x="4626864" y="1664208"/>
            <a:ext cx="1536192"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Montserrat" pitchFamily="34" charset="0"/>
                <a:ea typeface="Montserrat" pitchFamily="34" charset="-122"/>
                <a:cs typeface="Montserrat" pitchFamily="34" charset="-120"/>
              </a:rPr>
              <a:t>PingOne Authorize</a:t>
            </a:r>
            <a:endParaRPr lang="en-US" sz="1050" dirty="0"/>
          </a:p>
          <a:p>
            <a:pPr algn="ctr" indent="0" marL="0">
              <a:buNone/>
            </a:pPr>
            <a:r>
              <a:rPr lang="en-US" sz="950" dirty="0">
                <a:solidFill>
                  <a:srgbClr val="B9C6D6"/>
                </a:solidFill>
                <a:latin typeface="Calibri" pitchFamily="34" charset="0"/>
                <a:ea typeface="Calibri" pitchFamily="34" charset="-122"/>
                <a:cs typeface="Calibri" pitchFamily="34" charset="-120"/>
              </a:rPr>
              <a:t>permit · deny · ask</a:t>
            </a:r>
            <a:endParaRPr lang="en-US" sz="1050" dirty="0"/>
          </a:p>
        </p:txBody>
      </p:sp>
      <p:sp>
        <p:nvSpPr>
          <p:cNvPr id="11" name="Shape 8"/>
          <p:cNvSpPr/>
          <p:nvPr/>
        </p:nvSpPr>
        <p:spPr>
          <a:xfrm>
            <a:off x="6492240" y="1664208"/>
            <a:ext cx="2194560" cy="566928"/>
          </a:xfrm>
          <a:prstGeom prst="rect">
            <a:avLst/>
          </a:prstGeom>
          <a:solidFill>
            <a:srgbClr val="E8ECF2"/>
          </a:solidFill>
          <a:ln w="15875">
            <a:solidFill>
              <a:srgbClr val="0B1A2E"/>
            </a:solidFill>
            <a:prstDash val="solid"/>
          </a:ln>
        </p:spPr>
      </p:sp>
      <p:sp>
        <p:nvSpPr>
          <p:cNvPr id="12" name="Text 9"/>
          <p:cNvSpPr/>
          <p:nvPr/>
        </p:nvSpPr>
        <p:spPr>
          <a:xfrm>
            <a:off x="6547104" y="1664208"/>
            <a:ext cx="2084832" cy="566928"/>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Human approval</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when Authorize says ask</a:t>
            </a:r>
            <a:endParaRPr lang="en-US" sz="1050" dirty="0"/>
          </a:p>
        </p:txBody>
      </p:sp>
      <p:sp>
        <p:nvSpPr>
          <p:cNvPr id="13" name="Shape 10"/>
          <p:cNvSpPr/>
          <p:nvPr/>
        </p:nvSpPr>
        <p:spPr>
          <a:xfrm>
            <a:off x="6217920" y="1947672"/>
            <a:ext cx="274320" cy="0"/>
          </a:xfrm>
          <a:prstGeom prst="line">
            <a:avLst/>
          </a:prstGeom>
          <a:noFill/>
          <a:ln w="15875">
            <a:solidFill>
              <a:srgbClr val="0B1A2E"/>
            </a:solidFill>
            <a:prstDash val="solid"/>
            <a:tailEnd type="triangle"/>
          </a:ln>
        </p:spPr>
      </p:sp>
      <p:sp>
        <p:nvSpPr>
          <p:cNvPr id="14" name="Shape 11"/>
          <p:cNvSpPr/>
          <p:nvPr/>
        </p:nvSpPr>
        <p:spPr>
          <a:xfrm>
            <a:off x="457200" y="2670048"/>
            <a:ext cx="914400" cy="713232"/>
          </a:xfrm>
          <a:prstGeom prst="rect">
            <a:avLst/>
          </a:prstGeom>
          <a:solidFill>
            <a:srgbClr val="FFFFFF"/>
          </a:solidFill>
          <a:ln w="15875">
            <a:solidFill>
              <a:srgbClr val="0B1A2E"/>
            </a:solidFill>
            <a:prstDash val="solid"/>
          </a:ln>
        </p:spPr>
      </p:sp>
      <p:sp>
        <p:nvSpPr>
          <p:cNvPr id="15" name="Text 12"/>
          <p:cNvSpPr/>
          <p:nvPr/>
        </p:nvSpPr>
        <p:spPr>
          <a:xfrm>
            <a:off x="512064" y="2670048"/>
            <a:ext cx="80467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Customer</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browser</a:t>
            </a:r>
            <a:endParaRPr lang="en-US" sz="1050" dirty="0"/>
          </a:p>
        </p:txBody>
      </p:sp>
      <p:sp>
        <p:nvSpPr>
          <p:cNvPr id="16" name="Shape 13"/>
          <p:cNvSpPr/>
          <p:nvPr/>
        </p:nvSpPr>
        <p:spPr>
          <a:xfrm>
            <a:off x="1645920" y="2670048"/>
            <a:ext cx="1051560" cy="713232"/>
          </a:xfrm>
          <a:prstGeom prst="rect">
            <a:avLst/>
          </a:prstGeom>
          <a:solidFill>
            <a:srgbClr val="FFFFFF"/>
          </a:solidFill>
          <a:ln w="15875">
            <a:solidFill>
              <a:srgbClr val="0B1A2E"/>
            </a:solidFill>
            <a:prstDash val="solid"/>
          </a:ln>
        </p:spPr>
      </p:sp>
      <p:sp>
        <p:nvSpPr>
          <p:cNvPr id="17" name="Text 14"/>
          <p:cNvSpPr/>
          <p:nvPr/>
        </p:nvSpPr>
        <p:spPr>
          <a:xfrm>
            <a:off x="1700784" y="2670048"/>
            <a:ext cx="94183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Web app</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:4000</a:t>
            </a:r>
            <a:endParaRPr lang="en-US" sz="1050" dirty="0"/>
          </a:p>
        </p:txBody>
      </p:sp>
      <p:sp>
        <p:nvSpPr>
          <p:cNvPr id="18" name="Shape 15"/>
          <p:cNvSpPr/>
          <p:nvPr/>
        </p:nvSpPr>
        <p:spPr>
          <a:xfrm>
            <a:off x="2971800" y="2670048"/>
            <a:ext cx="1325880" cy="713232"/>
          </a:xfrm>
          <a:prstGeom prst="rect">
            <a:avLst/>
          </a:prstGeom>
          <a:solidFill>
            <a:srgbClr val="FFFFFF"/>
          </a:solidFill>
          <a:ln w="15875">
            <a:solidFill>
              <a:srgbClr val="0B1A2E"/>
            </a:solidFill>
            <a:prstDash val="solid"/>
          </a:ln>
        </p:spPr>
      </p:sp>
      <p:sp>
        <p:nvSpPr>
          <p:cNvPr id="19" name="Text 16"/>
          <p:cNvSpPr/>
          <p:nvPr/>
        </p:nvSpPr>
        <p:spPr>
          <a:xfrm>
            <a:off x="3026664" y="2670048"/>
            <a:ext cx="121615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BFF</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:3001 · holds tokens</a:t>
            </a:r>
            <a:endParaRPr lang="en-US" sz="1050" dirty="0"/>
          </a:p>
        </p:txBody>
      </p:sp>
      <p:sp>
        <p:nvSpPr>
          <p:cNvPr id="20" name="Shape 17"/>
          <p:cNvSpPr/>
          <p:nvPr/>
        </p:nvSpPr>
        <p:spPr>
          <a:xfrm>
            <a:off x="4572000" y="2670048"/>
            <a:ext cx="1645920" cy="713232"/>
          </a:xfrm>
          <a:prstGeom prst="rect">
            <a:avLst/>
          </a:prstGeom>
          <a:solidFill>
            <a:srgbClr val="FFFFFF"/>
          </a:solidFill>
          <a:ln w="15875">
            <a:solidFill>
              <a:srgbClr val="0B1A2E"/>
            </a:solidFill>
            <a:prstDash val="solid"/>
          </a:ln>
        </p:spPr>
      </p:sp>
      <p:sp>
        <p:nvSpPr>
          <p:cNvPr id="21" name="Text 18"/>
          <p:cNvSpPr/>
          <p:nvPr/>
        </p:nvSpPr>
        <p:spPr>
          <a:xfrm>
            <a:off x="4626864" y="2670048"/>
            <a:ext cx="153619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Agent gateway</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PingGateway</a:t>
            </a:r>
            <a:endParaRPr lang="en-US" sz="1050" dirty="0"/>
          </a:p>
        </p:txBody>
      </p:sp>
      <p:sp>
        <p:nvSpPr>
          <p:cNvPr id="22" name="Shape 19"/>
          <p:cNvSpPr/>
          <p:nvPr/>
        </p:nvSpPr>
        <p:spPr>
          <a:xfrm>
            <a:off x="6492240" y="2670048"/>
            <a:ext cx="2194560" cy="713232"/>
          </a:xfrm>
          <a:prstGeom prst="rect">
            <a:avLst/>
          </a:prstGeom>
          <a:solidFill>
            <a:srgbClr val="FFFFFF"/>
          </a:solidFill>
          <a:ln w="15875">
            <a:solidFill>
              <a:srgbClr val="0B1A2E"/>
            </a:solidFill>
            <a:prstDash val="solid"/>
          </a:ln>
        </p:spPr>
      </p:sp>
      <p:sp>
        <p:nvSpPr>
          <p:cNvPr id="23" name="Text 20"/>
          <p:cNvSpPr/>
          <p:nvPr/>
        </p:nvSpPr>
        <p:spPr>
          <a:xfrm>
            <a:off x="6547104" y="2670048"/>
            <a:ext cx="2084832" cy="713232"/>
          </a:xfrm>
          <a:prstGeom prst="rect">
            <a:avLst/>
          </a:prstGeom>
          <a:noFill/>
          <a:ln/>
        </p:spPr>
        <p:txBody>
          <a:bodyPr wrap="square" lIns="0" tIns="0" rIns="0" bIns="0" rtlCol="0" anchor="ctr"/>
          <a:lstStyle/>
          <a:p>
            <a:pPr algn="ctr" indent="0" marL="0">
              <a:buNone/>
            </a:pPr>
            <a:r>
              <a:rPr lang="en-US" sz="1050" b="1" dirty="0">
                <a:solidFill>
                  <a:srgbClr val="0B1A2E"/>
                </a:solidFill>
                <a:latin typeface="Montserrat" pitchFamily="34" charset="0"/>
                <a:ea typeface="Montserrat" pitchFamily="34" charset="-122"/>
                <a:cs typeface="Montserrat" pitchFamily="34" charset="-120"/>
              </a:rPr>
              <a:t>MCP tool servers</a:t>
            </a:r>
            <a:endParaRPr lang="en-US" sz="1050" dirty="0"/>
          </a:p>
          <a:p>
            <a:pPr algn="ctr" indent="0" marL="0">
              <a:buNone/>
            </a:pPr>
            <a:r>
              <a:rPr lang="en-US" sz="950" dirty="0">
                <a:solidFill>
                  <a:srgbClr val="4F5E71"/>
                </a:solidFill>
                <a:latin typeface="Calibri" pitchFamily="34" charset="0"/>
                <a:ea typeface="Calibri" pitchFamily="34" charset="-122"/>
                <a:cs typeface="Calibri" pitchFamily="34" charset="-120"/>
              </a:rPr>
              <a:t>banking · invest · mortgage · more</a:t>
            </a:r>
            <a:endParaRPr lang="en-US" sz="1050" dirty="0"/>
          </a:p>
        </p:txBody>
      </p:sp>
      <p:sp>
        <p:nvSpPr>
          <p:cNvPr id="24" name="Shape 21"/>
          <p:cNvSpPr/>
          <p:nvPr/>
        </p:nvSpPr>
        <p:spPr>
          <a:xfrm>
            <a:off x="1371600" y="3026664"/>
            <a:ext cx="274320" cy="0"/>
          </a:xfrm>
          <a:prstGeom prst="line">
            <a:avLst/>
          </a:prstGeom>
          <a:noFill/>
          <a:ln w="15875">
            <a:solidFill>
              <a:srgbClr val="0B1A2E"/>
            </a:solidFill>
            <a:prstDash val="solid"/>
            <a:tailEnd type="triangle"/>
          </a:ln>
        </p:spPr>
      </p:sp>
      <p:sp>
        <p:nvSpPr>
          <p:cNvPr id="25" name="Shape 22"/>
          <p:cNvSpPr/>
          <p:nvPr/>
        </p:nvSpPr>
        <p:spPr>
          <a:xfrm>
            <a:off x="2697480" y="3026664"/>
            <a:ext cx="274320" cy="0"/>
          </a:xfrm>
          <a:prstGeom prst="line">
            <a:avLst/>
          </a:prstGeom>
          <a:noFill/>
          <a:ln w="15875">
            <a:solidFill>
              <a:srgbClr val="0B1A2E"/>
            </a:solidFill>
            <a:prstDash val="solid"/>
            <a:tailEnd type="triangle"/>
          </a:ln>
        </p:spPr>
      </p:sp>
      <p:sp>
        <p:nvSpPr>
          <p:cNvPr id="26" name="Shape 23"/>
          <p:cNvSpPr/>
          <p:nvPr/>
        </p:nvSpPr>
        <p:spPr>
          <a:xfrm>
            <a:off x="4297680" y="3026664"/>
            <a:ext cx="274320" cy="0"/>
          </a:xfrm>
          <a:prstGeom prst="line">
            <a:avLst/>
          </a:prstGeom>
          <a:noFill/>
          <a:ln w="15875">
            <a:solidFill>
              <a:srgbClr val="0B1A2E"/>
            </a:solidFill>
            <a:prstDash val="solid"/>
            <a:tailEnd type="triangle"/>
          </a:ln>
        </p:spPr>
      </p:sp>
      <p:sp>
        <p:nvSpPr>
          <p:cNvPr id="27" name="Shape 24"/>
          <p:cNvSpPr/>
          <p:nvPr/>
        </p:nvSpPr>
        <p:spPr>
          <a:xfrm>
            <a:off x="6217920" y="3026664"/>
            <a:ext cx="274320" cy="0"/>
          </a:xfrm>
          <a:prstGeom prst="line">
            <a:avLst/>
          </a:prstGeom>
          <a:noFill/>
          <a:ln w="15875">
            <a:solidFill>
              <a:srgbClr val="0B1A2E"/>
            </a:solidFill>
            <a:prstDash val="solid"/>
            <a:tailEnd type="triangle"/>
          </a:ln>
        </p:spPr>
      </p:sp>
      <p:sp>
        <p:nvSpPr>
          <p:cNvPr id="28" name="Shape 25"/>
          <p:cNvSpPr/>
          <p:nvPr/>
        </p:nvSpPr>
        <p:spPr>
          <a:xfrm>
            <a:off x="3634740" y="2231136"/>
            <a:ext cx="0" cy="438912"/>
          </a:xfrm>
          <a:prstGeom prst="line">
            <a:avLst/>
          </a:prstGeom>
          <a:noFill/>
          <a:ln w="15875">
            <a:solidFill>
              <a:srgbClr val="0B1A2E"/>
            </a:solidFill>
            <a:prstDash val="solid"/>
            <a:headEnd type="triangle"/>
            <a:tailEnd type="triangle"/>
          </a:ln>
        </p:spPr>
      </p:sp>
      <p:sp>
        <p:nvSpPr>
          <p:cNvPr id="29" name="Text 26"/>
          <p:cNvSpPr/>
          <p:nvPr/>
        </p:nvSpPr>
        <p:spPr>
          <a:xfrm>
            <a:off x="3707892" y="2359152"/>
            <a:ext cx="9144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reasoning</a:t>
            </a:r>
            <a:endParaRPr lang="en-US" sz="900" dirty="0"/>
          </a:p>
        </p:txBody>
      </p:sp>
      <p:sp>
        <p:nvSpPr>
          <p:cNvPr id="30" name="Shape 27"/>
          <p:cNvSpPr/>
          <p:nvPr/>
        </p:nvSpPr>
        <p:spPr>
          <a:xfrm>
            <a:off x="5394960" y="2231136"/>
            <a:ext cx="0" cy="438912"/>
          </a:xfrm>
          <a:prstGeom prst="line">
            <a:avLst/>
          </a:prstGeom>
          <a:noFill/>
          <a:ln w="15875">
            <a:solidFill>
              <a:srgbClr val="0B1A2E"/>
            </a:solidFill>
            <a:prstDash val="solid"/>
            <a:headEnd type="triangle"/>
            <a:tailEnd type="triangle"/>
          </a:ln>
        </p:spPr>
      </p:sp>
      <p:sp>
        <p:nvSpPr>
          <p:cNvPr id="31" name="Text 28"/>
          <p:cNvSpPr/>
          <p:nvPr/>
        </p:nvSpPr>
        <p:spPr>
          <a:xfrm>
            <a:off x="5468112" y="2359152"/>
            <a:ext cx="9144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decision</a:t>
            </a:r>
            <a:endParaRPr lang="en-US" sz="900" dirty="0"/>
          </a:p>
        </p:txBody>
      </p:sp>
      <p:sp>
        <p:nvSpPr>
          <p:cNvPr id="32" name="Shape 29"/>
          <p:cNvSpPr/>
          <p:nvPr/>
        </p:nvSpPr>
        <p:spPr>
          <a:xfrm>
            <a:off x="1645920" y="3822192"/>
            <a:ext cx="4572000" cy="585216"/>
          </a:xfrm>
          <a:prstGeom prst="rect">
            <a:avLst/>
          </a:prstGeom>
          <a:solidFill>
            <a:srgbClr val="0B1A2E"/>
          </a:solidFill>
          <a:ln/>
        </p:spPr>
      </p:sp>
      <p:sp>
        <p:nvSpPr>
          <p:cNvPr id="33" name="Text 30"/>
          <p:cNvSpPr/>
          <p:nvPr/>
        </p:nvSpPr>
        <p:spPr>
          <a:xfrm>
            <a:off x="1700784" y="3822192"/>
            <a:ext cx="4462272" cy="585216"/>
          </a:xfrm>
          <a:prstGeom prst="rect">
            <a:avLst/>
          </a:prstGeom>
          <a:noFill/>
          <a:ln/>
        </p:spPr>
        <p:txBody>
          <a:bodyPr wrap="square" lIns="0" tIns="0" rIns="0" bIns="0" rtlCol="0" anchor="ctr"/>
          <a:lstStyle/>
          <a:p>
            <a:pPr algn="ctr" indent="0" marL="0">
              <a:buNone/>
            </a:pPr>
            <a:r>
              <a:rPr lang="en-US" sz="1050" b="1" dirty="0">
                <a:solidFill>
                  <a:srgbClr val="FFFFFF"/>
                </a:solidFill>
                <a:latin typeface="Montserrat" pitchFamily="34" charset="0"/>
                <a:ea typeface="Montserrat" pitchFamily="34" charset="-122"/>
                <a:cs typeface="Montserrat" pitchFamily="34" charset="-120"/>
              </a:rPr>
              <a:t>PingOne</a:t>
            </a:r>
            <a:endParaRPr lang="en-US" sz="1050" dirty="0"/>
          </a:p>
          <a:p>
            <a:pPr algn="ctr" indent="0" marL="0">
              <a:buNone/>
            </a:pPr>
            <a:r>
              <a:rPr lang="en-US" sz="950" dirty="0">
                <a:solidFill>
                  <a:srgbClr val="B9C6D6"/>
                </a:solidFill>
                <a:latin typeface="Calibri" pitchFamily="34" charset="0"/>
                <a:ea typeface="Calibri" pitchFamily="34" charset="-122"/>
                <a:cs typeface="Calibri" pitchFamily="34" charset="-120"/>
              </a:rPr>
              <a:t>sign-in · token exchange</a:t>
            </a:r>
            <a:endParaRPr lang="en-US" sz="1050" dirty="0"/>
          </a:p>
        </p:txBody>
      </p:sp>
      <p:sp>
        <p:nvSpPr>
          <p:cNvPr id="34" name="Shape 31"/>
          <p:cNvSpPr/>
          <p:nvPr/>
        </p:nvSpPr>
        <p:spPr>
          <a:xfrm>
            <a:off x="3634740" y="3383280"/>
            <a:ext cx="0" cy="438912"/>
          </a:xfrm>
          <a:prstGeom prst="line">
            <a:avLst/>
          </a:prstGeom>
          <a:noFill/>
          <a:ln w="15875">
            <a:solidFill>
              <a:srgbClr val="0B1A2E"/>
            </a:solidFill>
            <a:prstDash val="solid"/>
            <a:headEnd type="triangle"/>
            <a:tailEnd type="triangle"/>
          </a:ln>
        </p:spPr>
      </p:sp>
      <p:sp>
        <p:nvSpPr>
          <p:cNvPr id="35" name="Text 32"/>
          <p:cNvSpPr/>
          <p:nvPr/>
        </p:nvSpPr>
        <p:spPr>
          <a:xfrm>
            <a:off x="3707892" y="3511296"/>
            <a:ext cx="9144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exchange #1</a:t>
            </a:r>
            <a:endParaRPr lang="en-US" sz="900" dirty="0"/>
          </a:p>
        </p:txBody>
      </p:sp>
      <p:sp>
        <p:nvSpPr>
          <p:cNvPr id="36" name="Shape 33"/>
          <p:cNvSpPr/>
          <p:nvPr/>
        </p:nvSpPr>
        <p:spPr>
          <a:xfrm>
            <a:off x="5394960" y="3383280"/>
            <a:ext cx="0" cy="438912"/>
          </a:xfrm>
          <a:prstGeom prst="line">
            <a:avLst/>
          </a:prstGeom>
          <a:noFill/>
          <a:ln w="15875">
            <a:solidFill>
              <a:srgbClr val="0B1A2E"/>
            </a:solidFill>
            <a:prstDash val="solid"/>
            <a:headEnd type="triangle"/>
            <a:tailEnd type="triangle"/>
          </a:ln>
        </p:spPr>
      </p:sp>
      <p:sp>
        <p:nvSpPr>
          <p:cNvPr id="37" name="Text 34"/>
          <p:cNvSpPr/>
          <p:nvPr/>
        </p:nvSpPr>
        <p:spPr>
          <a:xfrm>
            <a:off x="5468112" y="3511296"/>
            <a:ext cx="9144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exchange #2</a:t>
            </a:r>
            <a:endParaRPr lang="en-US" sz="900" dirty="0"/>
          </a:p>
        </p:txBody>
      </p:sp>
      <p:sp>
        <p:nvSpPr>
          <p:cNvPr id="38" name="Text 35"/>
          <p:cNvSpPr/>
          <p:nvPr/>
        </p:nvSpPr>
        <p:spPr>
          <a:xfrm>
            <a:off x="6492240" y="3822192"/>
            <a:ext cx="2194560" cy="585216"/>
          </a:xfrm>
          <a:prstGeom prst="rect">
            <a:avLst/>
          </a:prstGeom>
          <a:noFill/>
          <a:ln/>
        </p:spPr>
        <p:txBody>
          <a:bodyPr wrap="square" lIns="0" tIns="0" rIns="0" bIns="0" rtlCol="0" anchor="ctr"/>
          <a:lstStyle/>
          <a:p>
            <a:pPr indent="0" marL="0">
              <a:buNone/>
            </a:pPr>
            <a:r>
              <a:rPr lang="en-US" sz="950" i="1" dirty="0">
                <a:solidFill>
                  <a:srgbClr val="4F5E71"/>
                </a:solidFill>
                <a:latin typeface="Calibri" pitchFamily="34" charset="0"/>
                <a:ea typeface="Calibri" pitchFamily="34" charset="-122"/>
                <a:cs typeface="Calibri" pitchFamily="34" charset="-120"/>
              </a:rPr>
              <a:t>Optional: PingOne Privilege AI Gateway in front of the agent gateway</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FOR DEVELOPERS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Where each service lives, and the port to find it on</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152144"/>
          <a:ext cx="8229600" cy="914400"/>
        </p:xfrm>
        <a:graphic>
          <a:graphicData uri="http://schemas.openxmlformats.org/drawingml/2006/table">
            <a:tbl>
              <a:tblPr/>
              <a:tblGrid>
                <a:gridCol w="2103120"/>
                <a:gridCol w="3520440"/>
                <a:gridCol w="777240"/>
                <a:gridCol w="1828800"/>
              </a:tblGrid>
              <a:tr h="224028">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Service</a:t>
                      </a:r>
                      <a:endParaRPr lang="en-US" sz="950" dirty="0">
                        <a:latin typeface="Montserrat" charset="0"/>
                        <a:ea typeface="Montserrat" charset="0"/>
                        <a:cs typeface="Montserrat"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Directory</a:t>
                      </a:r>
                      <a:endParaRPr lang="en-US" sz="950" dirty="0">
                        <a:latin typeface="Montserrat" charset="0"/>
                        <a:ea typeface="Montserrat" charset="0"/>
                        <a:cs typeface="Montserrat"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Port</a:t>
                      </a:r>
                      <a:endParaRPr lang="en-US" sz="950" dirty="0">
                        <a:latin typeface="Montserrat" charset="0"/>
                        <a:ea typeface="Montserrat" charset="0"/>
                        <a:cs typeface="Montserrat"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Stack</a:t>
                      </a:r>
                      <a:endParaRPr lang="en-US" sz="950" dirty="0">
                        <a:latin typeface="Montserrat" charset="0"/>
                        <a:ea typeface="Montserrat" charset="0"/>
                        <a:cs typeface="Montserrat"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BFF API</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demo_api_server/</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3001</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 · Express · jest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Web app</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demo_api_ui/</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4000</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React 19 · Vite 8 · vitest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Agent Gateway (PingGateway)</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ping-gateway/</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3036</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PingGateway</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Node MCP gateway (opt-in)</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demo_mcp_gateway/</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3005</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TypeScript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Banking MCP</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oauth-mcp/</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8080</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TypeScript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Invest MCP</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demo_mcp_resource_server/</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8081</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TypeScript · SQLite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Mortgage API</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demo_api_resource_server/</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8082</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MCP proxy</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demo_mcp_proxy/</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8895</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HITL service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demo_hitl_service/</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3009</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Authorize mock (opt-in)</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demo_authz_server/</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9001</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Agent service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demo_agent_service/</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3016</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TypeScript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LangChain agent</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langchain_agent/</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8888</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Python · LangGraph</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Other agents (opt-in)</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openai_agent/, mastra_agent/, pydantic_agent/</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8891–8893</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Python · 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2402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LLM proxy</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demo_llm_proxy/</a:t>
                      </a:r>
                      <a:endParaRPr lang="en-US" sz="950" dirty="0">
                        <a:latin typeface="Consolas" charset="0"/>
                        <a:ea typeface="Consolas" charset="0"/>
                        <a:cs typeface="Consolas"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C8102E"/>
                          </a:solidFill>
                          <a:latin typeface="Calibri" pitchFamily="34" charset="0"/>
                          <a:ea typeface="Calibri" pitchFamily="34" charset="-122"/>
                          <a:cs typeface="Calibri" pitchFamily="34" charset="-120"/>
                        </a:rPr>
                        <a:t>8090</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Node</a:t>
                      </a:r>
                      <a:endParaRPr lang="en-US" sz="950" dirty="0">
                        <a:latin typeface="Calibri" charset="0"/>
                        <a:ea typeface="Calibri" charset="0"/>
                        <a:cs typeface="Calibri" charset="0"/>
                      </a:endParaRPr>
                    </a:p>
                  </a:txBody>
                  <a:tcPr marL="91440"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BEFORE YOU FLIP A SWITCH</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A handful of flags change the story, and a few quietly remove the security</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444752"/>
          <a:ext cx="8229600" cy="914400"/>
        </p:xfrm>
        <a:graphic>
          <a:graphicData uri="http://schemas.openxmlformats.org/drawingml/2006/table">
            <a:tbl>
              <a:tblPr/>
              <a:tblGrid>
                <a:gridCol w="3246120"/>
                <a:gridCol w="777240"/>
                <a:gridCol w="4206240"/>
              </a:tblGrid>
              <a:tr h="320040">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Flag</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Default</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Flip it and…</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ff_mcp_gateway_pinggateway</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B1A2E"/>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OFF uses the Node gateway; start the demo-auth group first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ff_authorize_real</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algn="ctr" indent="0" marL="0">
                        <a:buNone/>
                      </a:pPr>
                      <a:r>
                        <a:rPr lang="en-US" sz="1050" b="1" dirty="0">
                          <a:solidFill>
                            <a:srgbClr val="0B1A2E"/>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OFF swaps PingOne Authorize for the local mock engine</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ff_hitl_enabled</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B1A2E"/>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OFF removes the consent moment from the demo</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ff_prompt_injection_guard</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algn="ctr" indent="0" marL="0">
                        <a:buNone/>
                      </a:pPr>
                      <a:r>
                        <a:rPr lang="en-US" sz="1050" b="1" dirty="0">
                          <a:solidFill>
                            <a:srgbClr val="0B1A2E"/>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OFF lets injection patterns reach the model</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ff_authorize_fail_open</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4F5E71"/>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ON lets calls through when Authorize fails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ff_skip_token_exchange</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algn="ctr" indent="0" marL="0">
                        <a:buNone/>
                      </a:pPr>
                      <a:r>
                        <a:rPr lang="en-US" sz="1050" b="1" dirty="0">
                          <a:solidFill>
                            <a:srgbClr val="4F5E71"/>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ON sends the raw user token: no act claim, no delegation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ff_local_fallback_on_exchange_failure</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4F5E71"/>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C8102E"/>
                          </a:solidFill>
                          <a:latin typeface="Calibri" pitchFamily="34" charset="0"/>
                          <a:ea typeface="Calibri" pitchFamily="34" charset="-122"/>
                          <a:cs typeface="Calibri" pitchFamily="34" charset="-120"/>
                        </a:rPr>
                        <a:t>ON runs tools without authorization if the exchange fails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20040">
                <a:tc>
                  <a:txBody>
                    <a:bodyPr/>
                    <a:lstStyle/>
                    <a:p>
                      <a:pPr indent="0" marL="0">
                        <a:buNone/>
                      </a:pPr>
                      <a:r>
                        <a:rPr lang="en-US" sz="950" dirty="0">
                          <a:solidFill>
                            <a:srgbClr val="0B1A2E"/>
                          </a:solidFill>
                          <a:latin typeface="Consolas" pitchFamily="34" charset="0"/>
                          <a:ea typeface="Consolas" pitchFamily="34" charset="-122"/>
                          <a:cs typeface="Consolas" pitchFamily="34" charset="-120"/>
                        </a:rPr>
                        <a:t>step_up_enabled · ciba_enabled · ff_rar</a:t>
                      </a:r>
                      <a:endParaRPr lang="en-US" sz="950" dirty="0">
                        <a:latin typeface="Consolas" charset="0"/>
                        <a:ea typeface="Consolas" charset="0"/>
                        <a:cs typeface="Consolas"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algn="ctr" indent="0" marL="0">
                        <a:buNone/>
                      </a:pPr>
                      <a:r>
                        <a:rPr lang="en-US" sz="1050" b="1" dirty="0">
                          <a:solidFill>
                            <a:srgbClr val="4F5E71"/>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Turn on for step-up MFA (UC7), CIBA (UC22), intent binding (UC14)</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
        <p:nvSpPr>
          <p:cNvPr id="8" name="Text 4"/>
          <p:cNvSpPr/>
          <p:nvPr/>
        </p:nvSpPr>
        <p:spPr>
          <a:xfrm>
            <a:off x="457200" y="4462272"/>
            <a:ext cx="7315200" cy="201168"/>
          </a:xfrm>
          <a:prstGeom prst="rect">
            <a:avLst/>
          </a:prstGeom>
          <a:noFill/>
          <a:ln/>
        </p:spPr>
        <p:txBody>
          <a:bodyPr wrap="square" lIns="0" tIns="0" rIns="0" bIns="0" rtlCol="0" anchor="ctr"/>
          <a:lstStyle/>
          <a:p>
            <a:pPr indent="0" marL="0">
              <a:buNone/>
            </a:pPr>
            <a:r>
              <a:rPr lang="en-US" sz="1000" i="1" dirty="0">
                <a:solidFill>
                  <a:srgbClr val="4F5E71"/>
                </a:solidFill>
                <a:latin typeface="Calibri" pitchFamily="34" charset="0"/>
                <a:ea typeface="Calibri" pitchFamily="34" charset="-122"/>
                <a:cs typeface="Calibri" pitchFamily="34" charset="-120"/>
              </a:rPr>
              <a:t>Red rows remove a security control. Never leave them on after a demo.</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WHEN SOMETHING BREAKS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Something broke? Open this PingOne app first</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840480"/>
                <a:gridCol w="4389120"/>
              </a:tblGrid>
              <a:tr h="265176">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You see</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PingOne app to open</a:t>
                      </a:r>
                      <a:endParaRPr lang="en-US" sz="1000" dirty="0">
                        <a:latin typeface="Montserrat" charset="0"/>
                        <a:ea typeface="Montserrat" charset="0"/>
                        <a:cs typeface="Montserrat"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Customer can't sign in, or loops back to sign-in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User Login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Admin can't sign 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Admin Login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Token exchange fails (invalid_client)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AI Agent Actor, then Token Exchanger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Gateway rejects the agent's token (401, inactive)</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Token Exchanger (the gateway introspects with it)</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Tool fails after the gateway hop (401 or 502)</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MCP Gateway; banking tools also Step 9 Exchanger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PingOne Authorize decisions fail, worker errors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Introspection Worker (the operator worker)</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CIBA approval won't start (UC22)</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Admin Login (the environment has no CIBA app)</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Agent-to-agent handoff 401, audience mismatch</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&lt;vertical&gt; Specialist Agent (11 apps)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Enterprise-managed MCP fails (UC25, UC39, UC40)</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Enterprise IdP Federation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DaVinci SDK login page fails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DaVinci SDK Login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Claude Code banking-gateway login fails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Claude Code - Banking Gateway</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0B1A2E"/>
                          </a:solidFill>
                          <a:latin typeface="Calibri" pitchFamily="34" charset="0"/>
                          <a:ea typeface="Calibri" pitchFamily="34" charset="-122"/>
                          <a:cs typeface="Calibri" pitchFamily="34" charset="-120"/>
                        </a:rPr>
                        <a:t>Grafana's PingOne sign-in fails</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1050" b="1" dirty="0">
                          <a:solidFill>
                            <a:srgbClr val="0B1A2E"/>
                          </a:solidFill>
                          <a:latin typeface="Calibri" pitchFamily="34" charset="0"/>
                          <a:ea typeface="Calibri" pitchFamily="34" charset="-122"/>
                          <a:cs typeface="Calibri" pitchFamily="34" charset="-120"/>
                        </a:rPr>
                        <a:t>Demo AI App - Grafana Login</a:t>
                      </a:r>
                      <a:endParaRPr lang="en-US" sz="1050" dirty="0">
                        <a:latin typeface="Calibri" charset="0"/>
                        <a:ea typeface="Calibri" charset="0"/>
                        <a:cs typeface="Calibri" charset="0"/>
                      </a:endParaRPr>
                    </a:p>
                  </a:txBody>
                  <a:tcPr marL="91440" marR="91440"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DEMO STEPS 1–12</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Every Demo Step, and the PingOne apps it touches</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51560"/>
                <a:gridCol w="2103120"/>
                <a:gridCol w="2377440"/>
                <a:gridCol w="2697480"/>
              </a:tblGrid>
              <a:tr h="242316">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Step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Demo Step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What it shows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PingOne apps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 · UC24</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Public catalog access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Public tool, no token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 · UC1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Delegated access with proof</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Two RFC 8693 exchanges + Authorize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3 · UC8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Human-in-the-loop consent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Authorize asks; one-time receipt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4 · UC7</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Step-up required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Authorize step-up, then PingOne MFA</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 + PingOne MFA</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5 · UC14b</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Intent verified (PAR + RAR)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Pushed intent within the cap</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AI Agent Actor (PAR) + Authorize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6 · UC14</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Intent violation (PAR + RAR)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Over the cap, Authorize denies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Token Exchanger + Introspection Worker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7 · UC12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Token theft / replay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Replayed token rejected at gateway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User Login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8 · UC6</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Authorization denied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Authorize denies a $2,500 transfer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9 · UC2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Agent-to-agent delegation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Nested act chain, two hops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AI Agent Actor + Specialist Agent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10 · UC2.5</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A2A orchestrator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Orchestrator picks a specialist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AI Agent Actor + Specialist Agent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11 · UC2.7</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A2A protocol + identity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Agent Card, then the UC2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 signed out; UC2 apps signed 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12 · UC22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CIBA approval</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Authorize step-up approved by phone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 + Admin Login (CIBA)</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
        <p:nvSpPr>
          <p:cNvPr id="8" name="Text 4"/>
          <p:cNvSpPr/>
          <p:nvPr/>
        </p:nvSpPr>
        <p:spPr>
          <a:xfrm>
            <a:off x="457200" y="4443984"/>
            <a:ext cx="82296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Standard chain: User Login, AI Agent Actor (exchange #1), Token Exchanger (exchange #2), MCP Gateway; Authorize via Introspection Worker.</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DEMO STEPS 13–24</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Attacks, third-party tools and the newest demos</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13</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51560"/>
                <a:gridCol w="2103120"/>
                <a:gridCol w="2377440"/>
                <a:gridCol w="2697480"/>
              </a:tblGrid>
              <a:tr h="242316">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Step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Demo Step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What it shows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PingOne apps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13 · UC5</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Insufficient scope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Read-only token, gateway 403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Token Exchanger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14 · UC10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Another user's account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Authorize denies on ownership</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15 · UC13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Confused-deputy actor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Rogue actor, Authorize denies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16 · UC11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Bad client at the gateway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Wrong audience, gateway 401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User Login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17 · UC20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Audit trail</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UC1 chip with evidence tags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18 · UC18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Rate-limit defense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Burst of calls, gateway 429</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Token Exchanger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19 · UC30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Third-party MCP permitted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PingGateway policy permits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20 · UC31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Third-party MCP denied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PingGateway policy denies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21 · UC32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Live-reconfigure the policy</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Admin setting read live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22 · UC40</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Enterprise-managed MCP</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Demo IdP grant (ID-JAG mocked)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Enterprise IdP Federation + worker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23 · UC38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Personal Agent Concierge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MFA, registered agent, exchange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User Login + Introspection Worker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242316">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24 · UC-TOOL1</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Protected RAG</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code:search exchange + Authorize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Standard chain</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bl>
          </a:graphicData>
        </a:graphic>
      </p:graphicFrame>
      <p:sp>
        <p:nvSpPr>
          <p:cNvPr id="8" name="Text 4"/>
          <p:cNvSpPr/>
          <p:nvPr/>
        </p:nvSpPr>
        <p:spPr>
          <a:xfrm>
            <a:off x="457200" y="4443984"/>
            <a:ext cx="8229600" cy="182880"/>
          </a:xfrm>
          <a:prstGeom prst="rect">
            <a:avLst/>
          </a:prstGeom>
          <a:noFill/>
          <a:ln/>
        </p:spPr>
        <p:txBody>
          <a:bodyPr wrap="square" lIns="0" tIns="0" rIns="0" bIns="0" rtlCol="0" anchor="ctr"/>
          <a:lstStyle/>
          <a:p>
            <a:pPr indent="0" marL="0">
              <a:buNone/>
            </a:pPr>
            <a:r>
              <a:rPr lang="en-US" sz="900" i="1" dirty="0">
                <a:solidFill>
                  <a:srgbClr val="4F5E71"/>
                </a:solidFill>
                <a:latin typeface="Calibri" pitchFamily="34" charset="0"/>
                <a:ea typeface="Calibri" pitchFamily="34" charset="-122"/>
                <a:cs typeface="Calibri" pitchFamily="34" charset="-120"/>
              </a:rPr>
              <a:t>Standard chain: User Login, AI Agent Actor (exchange #1), Token Exchanger (exchange #2), MCP Gateway; Authorize via Introspection Worker.</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7"/>
        </a:solidFill>
      </p:bgPr>
    </p:bg>
    <p:spTree>
      <p:nvGrpSpPr>
        <p:cNvPr id="1" name=""/>
        <p:cNvGrpSpPr/>
        <p:nvPr/>
      </p:nvGrpSpPr>
      <p:grpSpPr>
        <a:xfrm>
          <a:off x="0" y="0"/>
          <a:ext cx="0" cy="0"/>
          <a:chOff x="0" y="0"/>
          <a:chExt cx="0" cy="0"/>
        </a:xfrm>
      </p:grpSpPr>
      <p:sp>
        <p:nvSpPr>
          <p:cNvPr id="2" name="Shape 0"/>
          <p:cNvSpPr/>
          <p:nvPr/>
        </p:nvSpPr>
        <p:spPr>
          <a:xfrm>
            <a:off x="457200" y="384048"/>
            <a:ext cx="100584" cy="100584"/>
          </a:xfrm>
          <a:prstGeom prst="rect">
            <a:avLst/>
          </a:prstGeom>
          <a:solidFill>
            <a:srgbClr val="C8102E"/>
          </a:solidFill>
          <a:ln/>
        </p:spPr>
      </p:sp>
      <p:sp>
        <p:nvSpPr>
          <p:cNvPr id="3" name="Text 1"/>
          <p:cNvSpPr/>
          <p:nvPr/>
        </p:nvSpPr>
        <p:spPr>
          <a:xfrm>
            <a:off x="640080" y="301752"/>
            <a:ext cx="6400800" cy="274320"/>
          </a:xfrm>
          <a:prstGeom prst="rect">
            <a:avLst/>
          </a:prstGeom>
          <a:noFill/>
          <a:ln/>
        </p:spPr>
        <p:txBody>
          <a:bodyPr wrap="square" lIns="0" tIns="0" rIns="0" bIns="0" rtlCol="0" anchor="ctr"/>
          <a:lstStyle/>
          <a:p>
            <a:pPr indent="0" marL="0">
              <a:buNone/>
            </a:pPr>
            <a:r>
              <a:rPr lang="en-US" sz="1000" b="1" spc="300" kern="0" dirty="0">
                <a:solidFill>
                  <a:srgbClr val="4F5E71"/>
                </a:solidFill>
                <a:latin typeface="Montserrat" pitchFamily="34" charset="0"/>
                <a:ea typeface="Montserrat" pitchFamily="34" charset="-122"/>
                <a:cs typeface="Montserrat" pitchFamily="34" charset="-120"/>
              </a:rPr>
              <a:t>APPENDIX  ·  PINGONE ADMIN STEPS</a:t>
            </a:r>
            <a:endParaRPr lang="en-US" sz="1000" dirty="0"/>
          </a:p>
        </p:txBody>
      </p:sp>
      <p:sp>
        <p:nvSpPr>
          <p:cNvPr id="4" name="Text 2"/>
          <p:cNvSpPr/>
          <p:nvPr/>
        </p:nvSpPr>
        <p:spPr>
          <a:xfrm>
            <a:off x="457200" y="603504"/>
            <a:ext cx="8229600" cy="786384"/>
          </a:xfrm>
          <a:prstGeom prst="rect">
            <a:avLst/>
          </a:prstGeom>
          <a:noFill/>
          <a:ln/>
        </p:spPr>
        <p:txBody>
          <a:bodyPr wrap="square" lIns="0" tIns="0" rIns="0" bIns="0" rtlCol="0" anchor="t"/>
          <a:lstStyle/>
          <a:p>
            <a:pPr indent="0" marL="0">
              <a:buNone/>
            </a:pPr>
            <a:r>
              <a:rPr lang="en-US" sz="2100" b="1" dirty="0">
                <a:solidFill>
                  <a:srgbClr val="0B1A2E"/>
                </a:solidFill>
                <a:latin typeface="Montserrat" pitchFamily="34" charset="0"/>
                <a:ea typeface="Montserrat" pitchFamily="34" charset="-122"/>
                <a:cs typeface="Montserrat" pitchFamily="34" charset="-120"/>
              </a:rPr>
              <a:t>PingOne Admin steps call PingOne itself, not the bank</a:t>
            </a:r>
            <a:endParaRPr lang="en-US" sz="2100" dirty="0"/>
          </a:p>
        </p:txBody>
      </p:sp>
      <p:sp>
        <p:nvSpPr>
          <p:cNvPr id="5" name="Text 3"/>
          <p:cNvSpPr/>
          <p:nvPr/>
        </p:nvSpPr>
        <p:spPr>
          <a:xfrm>
            <a:off x="8229600" y="4846320"/>
            <a:ext cx="457200" cy="182880"/>
          </a:xfrm>
          <a:prstGeom prst="rect">
            <a:avLst/>
          </a:prstGeom>
          <a:noFill/>
          <a:ln/>
        </p:spPr>
        <p:txBody>
          <a:bodyPr wrap="square" lIns="0" tIns="0" rIns="0" bIns="0" rtlCol="0" anchor="ctr"/>
          <a:lstStyle/>
          <a:p>
            <a:pPr algn="r" indent="0" marL="0">
              <a:buNone/>
            </a:pPr>
            <a:r>
              <a:rPr lang="en-US" sz="900" dirty="0">
                <a:solidFill>
                  <a:srgbClr val="4F5E71"/>
                </a:solidFill>
                <a:latin typeface="Calibri" pitchFamily="34" charset="0"/>
                <a:ea typeface="Calibri" pitchFamily="34" charset="-122"/>
                <a:cs typeface="Calibri" pitchFamily="34" charset="-120"/>
              </a:rPr>
              <a:t>14</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97280"/>
                <a:gridCol w="2743200"/>
                <a:gridCol w="2011680"/>
                <a:gridCol w="2377440"/>
              </a:tblGrid>
              <a:tr h="384048">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Steps</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What they do</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Hosted PingOne MCP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Fallback app</a:t>
                      </a:r>
                      <a:endParaRPr lang="en-US" sz="950" dirty="0">
                        <a:latin typeface="Montserrat" charset="0"/>
                        <a:ea typeface="Montserrat" charset="0"/>
                        <a:cs typeface="Montserrat"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0B1A2E"/>
                    </a:solidFill>
                  </a:tcPr>
                </a:tc>
              </a:tr>
              <a:tr h="38404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ADMIN1–4, 9</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Apps, users, populations, environment, services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list / get tools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Introspection Worker (Management API)</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ADMIN5–6</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Search users or apps by name prefix</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Same tools, with a filter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Same as ADMIN1–2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8404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ADMIN7–8</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PingOne MCP tools; resources and scopes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Tool list; resources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Scopes via Introspection Worker</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ADMIN10–12</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DaVinci flows, applications, connectors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listDavinci tools</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4F5F7"/>
                    </a:solidFill>
                  </a:tcPr>
                </a:tc>
              </a:tr>
              <a:tr h="384048">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ADMIN13</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0B1A2E"/>
                          </a:solidFill>
                          <a:latin typeface="Calibri" pitchFamily="34" charset="0"/>
                          <a:ea typeface="Calibri" pitchFamily="34" charset="-122"/>
                          <a:cs typeface="Calibri" pitchFamily="34" charset="-120"/>
                        </a:rPr>
                        <a:t>Govern PingOne MCP with Privilege</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4F5E71"/>
                          </a:solidFill>
                          <a:latin typeface="Calibri" pitchFamily="34" charset="0"/>
                          <a:ea typeface="Calibri" pitchFamily="34" charset="-122"/>
                          <a:cs typeface="Calibri" pitchFamily="34" charset="-120"/>
                        </a:rPr>
                        <a:t>Link to /privilege-mcp-client</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b="1" dirty="0">
                          <a:solidFill>
                            <a:srgbClr val="0B1A2E"/>
                          </a:solidFill>
                          <a:latin typeface="Calibri" pitchFamily="34" charset="0"/>
                          <a:ea typeface="Calibri" pitchFamily="34" charset="-122"/>
                          <a:cs typeface="Calibri" pitchFamily="34" charset="-120"/>
                        </a:rPr>
                        <a:t>Not traced</a:t>
                      </a:r>
                      <a:endParaRPr lang="en-US" sz="950" dirty="0">
                        <a:latin typeface="Calibri" charset="0"/>
                        <a:ea typeface="Calibri" charset="0"/>
                        <a:cs typeface="Calibri" charset="0"/>
                      </a:endParaRPr>
                    </a:p>
                  </a:txBody>
                  <a:tcPr marL="73152" marR="73152" marT="0" marB="0"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FFFFF"/>
                    </a:solidFill>
                  </a:tcPr>
                </a:tc>
              </a:tr>
            </a:tbl>
          </a:graphicData>
        </a:graphic>
      </p:graphicFrame>
      <p:sp>
        <p:nvSpPr>
          <p:cNvPr id="8" name="Text 4"/>
          <p:cNvSpPr/>
          <p:nvPr/>
        </p:nvSpPr>
        <p:spPr>
          <a:xfrm>
            <a:off x="457200" y="3611880"/>
            <a:ext cx="8229600" cy="274320"/>
          </a:xfrm>
          <a:prstGeom prst="rect">
            <a:avLst/>
          </a:prstGeom>
          <a:noFill/>
          <a:ln/>
        </p:spPr>
        <p:txBody>
          <a:bodyPr wrap="square" lIns="0" tIns="0" rIns="0" bIns="0" rtlCol="0" anchor="ctr"/>
          <a:lstStyle/>
          <a:p>
            <a:pPr indent="0" marL="0">
              <a:buNone/>
            </a:pPr>
            <a:r>
              <a:rPr lang="en-US" sz="1050" i="1" dirty="0">
                <a:solidFill>
                  <a:srgbClr val="4F5E71"/>
                </a:solidFill>
                <a:latin typeface="Calibri" pitchFamily="34" charset="0"/>
                <a:ea typeface="Calibri" pitchFamily="34" charset="-122"/>
                <a:cs typeface="Calibri" pitchFamily="34" charset="-120"/>
              </a:rPr>
              <a:t>Sign-in for every ADMIN step: PingOne's built-in pingone-mcp-server client, which isn't an app in this environment.</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A2E"/>
        </a:solidFill>
      </p:bgPr>
    </p:bg>
    <p:spTree>
      <p:nvGrpSpPr>
        <p:cNvPr id="1" name=""/>
        <p:cNvGrpSpPr/>
        <p:nvPr/>
      </p:nvGrpSpPr>
      <p:grpSpPr>
        <a:xfrm>
          <a:off x="0" y="0"/>
          <a:ext cx="0" cy="0"/>
          <a:chOff x="0" y="0"/>
          <a:chExt cx="0" cy="0"/>
        </a:xfrm>
      </p:grpSpPr>
      <p:sp>
        <p:nvSpPr>
          <p:cNvPr id="2" name="Shape 0"/>
          <p:cNvSpPr/>
          <p:nvPr/>
        </p:nvSpPr>
        <p:spPr>
          <a:xfrm>
            <a:off x="502920" y="502920"/>
            <a:ext cx="457200" cy="0"/>
          </a:xfrm>
          <a:prstGeom prst="line">
            <a:avLst/>
          </a:prstGeom>
          <a:noFill/>
          <a:ln w="22225">
            <a:solidFill>
              <a:srgbClr val="C8102E"/>
            </a:solidFill>
            <a:prstDash val="solid"/>
          </a:ln>
        </p:spPr>
      </p:sp>
      <p:sp>
        <p:nvSpPr>
          <p:cNvPr id="3" name="Shape 1"/>
          <p:cNvSpPr/>
          <p:nvPr/>
        </p:nvSpPr>
        <p:spPr>
          <a:xfrm>
            <a:off x="502920" y="502920"/>
            <a:ext cx="0" cy="457200"/>
          </a:xfrm>
          <a:prstGeom prst="line">
            <a:avLst/>
          </a:prstGeom>
          <a:noFill/>
          <a:ln w="22225">
            <a:solidFill>
              <a:srgbClr val="C8102E"/>
            </a:solidFill>
            <a:prstDash val="solid"/>
          </a:ln>
        </p:spPr>
      </p:sp>
      <p:sp>
        <p:nvSpPr>
          <p:cNvPr id="4" name="Shape 2"/>
          <p:cNvSpPr/>
          <p:nvPr/>
        </p:nvSpPr>
        <p:spPr>
          <a:xfrm>
            <a:off x="8183880" y="4636008"/>
            <a:ext cx="457200" cy="0"/>
          </a:xfrm>
          <a:prstGeom prst="line">
            <a:avLst/>
          </a:prstGeom>
          <a:noFill/>
          <a:ln w="22225">
            <a:solidFill>
              <a:srgbClr val="C8102E"/>
            </a:solidFill>
            <a:prstDash val="solid"/>
          </a:ln>
        </p:spPr>
      </p:sp>
      <p:sp>
        <p:nvSpPr>
          <p:cNvPr id="5" name="Shape 3"/>
          <p:cNvSpPr/>
          <p:nvPr/>
        </p:nvSpPr>
        <p:spPr>
          <a:xfrm>
            <a:off x="8641080" y="4178808"/>
            <a:ext cx="0" cy="457200"/>
          </a:xfrm>
          <a:prstGeom prst="line">
            <a:avLst/>
          </a:prstGeom>
          <a:noFill/>
          <a:ln w="22225">
            <a:solidFill>
              <a:srgbClr val="C8102E"/>
            </a:solidFill>
            <a:prstDash val="solid"/>
          </a:ln>
        </p:spPr>
      </p:sp>
      <p:sp>
        <p:nvSpPr>
          <p:cNvPr id="6" name="Text 4"/>
          <p:cNvSpPr/>
          <p:nvPr/>
        </p:nvSpPr>
        <p:spPr>
          <a:xfrm>
            <a:off x="914400" y="1143000"/>
            <a:ext cx="7315200" cy="640080"/>
          </a:xfrm>
          <a:prstGeom prst="rect">
            <a:avLst/>
          </a:prstGeom>
          <a:noFill/>
          <a:ln/>
        </p:spPr>
        <p:txBody>
          <a:bodyPr wrap="square" lIns="0" tIns="0" rIns="0" bIns="0" rtlCol="0" anchor="ctr"/>
          <a:lstStyle/>
          <a:p>
            <a:pPr indent="0" marL="0">
              <a:buNone/>
            </a:pPr>
            <a:r>
              <a:rPr lang="en-US" sz="3200" b="1" dirty="0">
                <a:solidFill>
                  <a:srgbClr val="FFFFFF"/>
                </a:solidFill>
                <a:latin typeface="Montserrat" pitchFamily="34" charset="0"/>
                <a:ea typeface="Montserrat" pitchFamily="34" charset="-122"/>
                <a:cs typeface="Montserrat" pitchFamily="34" charset="-120"/>
              </a:rPr>
              <a:t>Go deeper</a:t>
            </a:r>
            <a:endParaRPr lang="en-US" sz="3200" dirty="0"/>
          </a:p>
        </p:txBody>
      </p:sp>
      <p:sp>
        <p:nvSpPr>
          <p:cNvPr id="7" name="Shape 5"/>
          <p:cNvSpPr/>
          <p:nvPr/>
        </p:nvSpPr>
        <p:spPr>
          <a:xfrm>
            <a:off x="914400" y="2103120"/>
            <a:ext cx="457200" cy="457200"/>
          </a:xfrm>
          <a:prstGeom prst="ellipse">
            <a:avLst/>
          </a:prstGeom>
          <a:solidFill>
            <a:srgbClr val="C8102E"/>
          </a:solidFill>
          <a:ln/>
        </p:spPr>
      </p:sp>
      <p:pic>
        <p:nvPicPr>
          <p:cNvPr id="8" name="Image 0" descr="preencoded.png">    </p:cNvPr>
          <p:cNvPicPr>
            <a:picLocks noChangeAspect="1"/>
          </p:cNvPicPr>
          <p:nvPr/>
        </p:nvPicPr>
        <p:blipFill>
          <a:blip r:embed="rId1"/>
          <a:stretch>
            <a:fillRect/>
          </a:stretch>
        </p:blipFill>
        <p:spPr>
          <a:xfrm>
            <a:off x="1037844" y="2226564"/>
            <a:ext cx="210312" cy="210312"/>
          </a:xfrm>
          <a:prstGeom prst="rect">
            <a:avLst/>
          </a:prstGeom>
        </p:spPr>
      </p:pic>
      <p:sp>
        <p:nvSpPr>
          <p:cNvPr id="9" name="Text 6"/>
          <p:cNvSpPr/>
          <p:nvPr/>
        </p:nvSpPr>
        <p:spPr>
          <a:xfrm>
            <a:off x="914400" y="2670048"/>
            <a:ext cx="2514600" cy="329184"/>
          </a:xfrm>
          <a:prstGeom prst="rect">
            <a:avLst/>
          </a:prstGeom>
          <a:noFill/>
          <a:ln/>
        </p:spPr>
        <p:txBody>
          <a:bodyPr wrap="square" lIns="0" tIns="0" rIns="0" bIns="0" rtlCol="0" anchor="ctr"/>
          <a:lstStyle/>
          <a:p>
            <a:pPr indent="0" marL="0">
              <a:buNone/>
            </a:pPr>
            <a:r>
              <a:rPr lang="en-US" sz="1400" b="1" dirty="0">
                <a:solidFill>
                  <a:srgbClr val="FFFFFF"/>
                </a:solidFill>
                <a:latin typeface="Montserrat" pitchFamily="34" charset="0"/>
                <a:ea typeface="Montserrat" pitchFamily="34" charset="-122"/>
                <a:cs typeface="Montserrat" pitchFamily="34" charset="-120"/>
              </a:rPr>
              <a:t>Run it</a:t>
            </a:r>
            <a:endParaRPr lang="en-US" sz="1400" dirty="0"/>
          </a:p>
        </p:txBody>
      </p:sp>
      <p:sp>
        <p:nvSpPr>
          <p:cNvPr id="10" name="Text 7"/>
          <p:cNvSpPr/>
          <p:nvPr/>
        </p:nvSpPr>
        <p:spPr>
          <a:xfrm>
            <a:off x="914400" y="3054096"/>
            <a:ext cx="2514600" cy="1005840"/>
          </a:xfrm>
          <a:prstGeom prst="rect">
            <a:avLst/>
          </a:prstGeom>
          <a:noFill/>
          <a:ln/>
        </p:spPr>
        <p:txBody>
          <a:bodyPr wrap="square" lIns="0" tIns="0" rIns="0" bIns="0" rtlCol="0" anchor="t"/>
          <a:lstStyle/>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docs/FAQ.md</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README.md</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docs/user-guide/getting-started.md</a:t>
            </a:r>
            <a:endParaRPr lang="en-US" sz="1050" dirty="0"/>
          </a:p>
        </p:txBody>
      </p:sp>
      <p:sp>
        <p:nvSpPr>
          <p:cNvPr id="11" name="Shape 8"/>
          <p:cNvSpPr/>
          <p:nvPr/>
        </p:nvSpPr>
        <p:spPr>
          <a:xfrm>
            <a:off x="3520440" y="2103120"/>
            <a:ext cx="457200" cy="457200"/>
          </a:xfrm>
          <a:prstGeom prst="ellipse">
            <a:avLst/>
          </a:prstGeom>
          <a:solidFill>
            <a:srgbClr val="C8102E"/>
          </a:solidFill>
          <a:ln/>
        </p:spPr>
      </p:sp>
      <p:pic>
        <p:nvPicPr>
          <p:cNvPr id="12" name="Image 1" descr="preencoded.png">    </p:cNvPr>
          <p:cNvPicPr>
            <a:picLocks noChangeAspect="1"/>
          </p:cNvPicPr>
          <p:nvPr/>
        </p:nvPicPr>
        <p:blipFill>
          <a:blip r:embed="rId2"/>
          <a:stretch>
            <a:fillRect/>
          </a:stretch>
        </p:blipFill>
        <p:spPr>
          <a:xfrm>
            <a:off x="3643884" y="2226564"/>
            <a:ext cx="210312" cy="210312"/>
          </a:xfrm>
          <a:prstGeom prst="rect">
            <a:avLst/>
          </a:prstGeom>
        </p:spPr>
      </p:pic>
      <p:sp>
        <p:nvSpPr>
          <p:cNvPr id="13" name="Text 9"/>
          <p:cNvSpPr/>
          <p:nvPr/>
        </p:nvSpPr>
        <p:spPr>
          <a:xfrm>
            <a:off x="3520440" y="2670048"/>
            <a:ext cx="2514600" cy="329184"/>
          </a:xfrm>
          <a:prstGeom prst="rect">
            <a:avLst/>
          </a:prstGeom>
          <a:noFill/>
          <a:ln/>
        </p:spPr>
        <p:txBody>
          <a:bodyPr wrap="square" lIns="0" tIns="0" rIns="0" bIns="0" rtlCol="0" anchor="ctr"/>
          <a:lstStyle/>
          <a:p>
            <a:pPr indent="0" marL="0">
              <a:buNone/>
            </a:pPr>
            <a:r>
              <a:rPr lang="en-US" sz="1400" b="1" dirty="0">
                <a:solidFill>
                  <a:srgbClr val="FFFFFF"/>
                </a:solidFill>
                <a:latin typeface="Montserrat" pitchFamily="34" charset="0"/>
                <a:ea typeface="Montserrat" pitchFamily="34" charset="-122"/>
                <a:cs typeface="Montserrat" pitchFamily="34" charset="-120"/>
              </a:rPr>
              <a:t>Know the rules</a:t>
            </a:r>
            <a:endParaRPr lang="en-US" sz="1400" dirty="0"/>
          </a:p>
        </p:txBody>
      </p:sp>
      <p:sp>
        <p:nvSpPr>
          <p:cNvPr id="14" name="Text 10"/>
          <p:cNvSpPr/>
          <p:nvPr/>
        </p:nvSpPr>
        <p:spPr>
          <a:xfrm>
            <a:off x="3520440" y="3054096"/>
            <a:ext cx="2514600" cy="1005840"/>
          </a:xfrm>
          <a:prstGeom prst="rect">
            <a:avLst/>
          </a:prstGeom>
          <a:noFill/>
          <a:ln/>
        </p:spPr>
        <p:txBody>
          <a:bodyPr wrap="square" lIns="0" tIns="0" rIns="0" bIns="0" rtlCol="0" anchor="t"/>
          <a:lstStyle/>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docs/ARCHITECTURE-TRUTHS.md</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REGRESSION_PLAN.md</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docs/use-cases/</a:t>
            </a:r>
            <a:endParaRPr lang="en-US" sz="1050" dirty="0"/>
          </a:p>
        </p:txBody>
      </p:sp>
      <p:sp>
        <p:nvSpPr>
          <p:cNvPr id="15" name="Shape 11"/>
          <p:cNvSpPr/>
          <p:nvPr/>
        </p:nvSpPr>
        <p:spPr>
          <a:xfrm>
            <a:off x="6126480" y="2103120"/>
            <a:ext cx="457200" cy="457200"/>
          </a:xfrm>
          <a:prstGeom prst="ellipse">
            <a:avLst/>
          </a:prstGeom>
          <a:solidFill>
            <a:srgbClr val="C8102E"/>
          </a:solidFill>
          <a:ln/>
        </p:spPr>
      </p:sp>
      <p:pic>
        <p:nvPicPr>
          <p:cNvPr id="16" name="Image 2" descr="preencoded.png">    </p:cNvPr>
          <p:cNvPicPr>
            <a:picLocks noChangeAspect="1"/>
          </p:cNvPicPr>
          <p:nvPr/>
        </p:nvPicPr>
        <p:blipFill>
          <a:blip r:embed="rId3"/>
          <a:stretch>
            <a:fillRect/>
          </a:stretch>
        </p:blipFill>
        <p:spPr>
          <a:xfrm>
            <a:off x="6249924" y="2226564"/>
            <a:ext cx="210312" cy="210312"/>
          </a:xfrm>
          <a:prstGeom prst="rect">
            <a:avLst/>
          </a:prstGeom>
        </p:spPr>
      </p:pic>
      <p:sp>
        <p:nvSpPr>
          <p:cNvPr id="17" name="Text 12"/>
          <p:cNvSpPr/>
          <p:nvPr/>
        </p:nvSpPr>
        <p:spPr>
          <a:xfrm>
            <a:off x="6126480" y="2670048"/>
            <a:ext cx="2514600" cy="329184"/>
          </a:xfrm>
          <a:prstGeom prst="rect">
            <a:avLst/>
          </a:prstGeom>
          <a:noFill/>
          <a:ln/>
        </p:spPr>
        <p:txBody>
          <a:bodyPr wrap="square" lIns="0" tIns="0" rIns="0" bIns="0" rtlCol="0" anchor="ctr"/>
          <a:lstStyle/>
          <a:p>
            <a:pPr indent="0" marL="0">
              <a:buNone/>
            </a:pPr>
            <a:r>
              <a:rPr lang="en-US" sz="1400" b="1" dirty="0">
                <a:solidFill>
                  <a:srgbClr val="FFFFFF"/>
                </a:solidFill>
                <a:latin typeface="Montserrat" pitchFamily="34" charset="0"/>
                <a:ea typeface="Montserrat" pitchFamily="34" charset="-122"/>
                <a:cs typeface="Montserrat" pitchFamily="34" charset="-120"/>
              </a:rPr>
              <a:t>Take the tools</a:t>
            </a:r>
            <a:endParaRPr lang="en-US" sz="1400" dirty="0"/>
          </a:p>
        </p:txBody>
      </p:sp>
      <p:sp>
        <p:nvSpPr>
          <p:cNvPr id="18" name="Text 13"/>
          <p:cNvSpPr/>
          <p:nvPr/>
        </p:nvSpPr>
        <p:spPr>
          <a:xfrm>
            <a:off x="6126480" y="3054096"/>
            <a:ext cx="2514600" cy="1005840"/>
          </a:xfrm>
          <a:prstGeom prst="rect">
            <a:avLst/>
          </a:prstGeom>
          <a:noFill/>
          <a:ln/>
        </p:spPr>
        <p:txBody>
          <a:bodyPr wrap="square" lIns="0" tIns="0" rIns="0" bIns="0" rtlCol="0" anchor="t"/>
          <a:lstStyle/>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github.com/curtismu7/ai-gateway-client</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github.com/curtismu7/mcp-inspector</a:t>
            </a:r>
            <a:endParaRPr lang="en-US" sz="1050" dirty="0"/>
          </a:p>
          <a:p>
            <a:pPr indent="0" marL="0">
              <a:spcAft>
                <a:spcPts val="400"/>
              </a:spcAft>
              <a:buNone/>
            </a:pPr>
            <a:r>
              <a:rPr lang="en-US" sz="1050" dirty="0">
                <a:solidFill>
                  <a:srgbClr val="B9C6D6"/>
                </a:solidFill>
                <a:latin typeface="Calibri" pitchFamily="34" charset="0"/>
                <a:ea typeface="Calibri" pitchFamily="34" charset="-122"/>
                <a:cs typeface="Calibri" pitchFamily="34" charset="-120"/>
              </a:rPr>
              <a:t>github.com/curtismu7/llm-gateway</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Super Banking AI Demo</dc:title>
  <dc:subject>PptxGenJS Presentation</dc:subject>
  <dc:creator>Curtis Muir</dc:creator>
  <cp:lastModifiedBy>Curtis Muir</cp:lastModifiedBy>
  <cp:revision>1</cp:revision>
  <dcterms:created xsi:type="dcterms:W3CDTF">2026-09-13T13:03:59Z</dcterms:created>
  <dcterms:modified xsi:type="dcterms:W3CDTF">2026-09-13T13:03:59Z</dcterms:modified>
</cp:coreProperties>
</file>