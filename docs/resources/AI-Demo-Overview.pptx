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isn't detected. Live probe, 2026-09-13: a create_transfer carrying injected [SYSTEM: ...] text got PingGateway's standard 428 consent challenge with real PingOne Authorize, no money moved, and nothing flagged the injected text. Approving would run it with the text intact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runs: one agentless AI Gateway (Helm release agentless-mcpgw, namespace ping-devops-curtismuir) on the Ping SE cluster, in PingOne tenant 0428ba4f, federated into the demo tenant. MCP doors: https://mcpgw.ai-demo.ping-devops.com/&lt;App&gt;/mcp; LLM lanes /llm/{openai,anthropic,google}/v1 on the same host (privilege/CURRENT-CONFIGURATION.md).
MCP gateway: a JSON-RPC POST gets a 401 pointing at RFC 9728 metadata; the client registers (POST /&lt;app&gt;/register) and runs PKCE. The gateway keeps registrations in memory, so a restart forgets them; the BFF re-registers via isDcrClientStillKnown (routes/privilegeMcpClient.js). Doors on /privilege-mcp-client: Direct (no Privilege), Privilege (policy enforced), Facade (same policy, client registered with the demo's own auth server).
Policy traps (privilege/LESSONS-LEARNED.md): policies union, so delete extras instead of editing; a new app denies everything; an expired policy looks like a missing one; clients only see a bare 403.
Privilege first: ff_mcp_gateway_privilege_first puts Privilege in front of the Agent Gateway, with the user token in X-Subject-Token (services/mcpGatewayTransport.js). ff_privilege_llm_first sends google and anthropic calls through Privilege virtual keys (services/llmProviderResolver.js, privilegeLlmProxyService.js).
Guardrails: prompt injection, jailbreak and hidden instructions scan the input; malicious content, PII and data exfiltration scan the output, so a model that refuses gives nothing to catch. Alert and Sanitize verdicts appear only on the gateway dashboard. Optional ML sidecar: demo_mcp_promptguard.
Also: PingOne Privilege PAM for just-in-time access to AWS, S3 and Kubernetes (UC-PAM-SETUP / UC-PAM-SCRIPT; the in-app tab links are stale, the demo runs in the Privilege console). ADMIN13 governs PingOne MCP with Privilege.
Not demo-ready: banking-mcp through the Privilege door (tools/call fails with token_not_found, a vendor issue). Demo risks: expired policies, gateway restarts, and privilege-first MCP needs a sign-in at /privilege-mcp-client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Simulator: demo_api_server/services/attackSimulatorService.js (sim IDs mapped to use cases at lines 54-65), run via POST /api/demo/attack-sim/run (routes/attackSimulator.js). The route returns 403 when NODE_ENV=production or ff_use_cases_launcher is false, and always answers HTTP 200 with the sim's real status in the body.
Only rogue-actor (UC13) and cross-owner-account (UC10) run the full BFF pipeline; the others probe the gateway perimeter. UC5 and UC18 always target the Node Demo Agent Gateway, even when PingGateway is active, so they need that container up.
Caveats: UC12 tests audience binding only, never DPoP, even though its flag is ff_dpop. UC14 needs ff_rar. UC16 returns 403 by design while the catalog still expects 401. The simulator leaves ff_mcp_rate_limit and ff_rar switched on afterwards.
AI layer: the BFF prompt guard (services/promptGuard.js, promptSanitizer.js, 7 regexes, default on) is keyword-based and easy to phrase around. The Privilege AI Gateway is the stronger layer: prompt injection and jailbreak return HTTP 400; PII and exfiltration are redacted in a 200. Malicious content, tool abuse, tool poisoning, schema violation and inter-agent abuse presets get no verdict there (demo_api_ui/src/config/guardrailAttackCatalog.js). The ML promptguard sidecar runs only in the SE cluster.
Red team, nothing blocks: argument-level tool poisoning (only the normal 428 approval gate, confirmed live on 2026-09-13 with nothing flagging the injected text; approving executes it, toolAttackCatalog.js), the hostile MCP server (standalone/hostile-mcp-server, deliberately not behind the gateway), and the ungoverned OpenCLI agent (UC-LEARN7, compose profile demo-attack). Present these as the contrast, not as blocked.
Framework mapping: every use case carries OWASP Agentic (ASI) threat tags; see OwaspLearnerPage.js. MITRE ATLAS and NIST labels appear only in Privilege's own verdict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sources and who can see what:
- Token chain panel: TokenChainContext plus /api/token-chain, scoped to the signed-in user.
- /transaction-trace: routes/transactionTrace.js reads the LMDB ledger (500 records); non-admins see only their own PingOne sub. Returns 403 when ff_transaction_ledger is off. A decision is labelled 'inferred' when the gateway guessed it from the HTTP status.
- Gateway decisions: ping-gateway/scripts/groovy/p1az-decision.groovy posts each decision trail to /internal/gateway-decision (needs BFF_TRANSACTION_HOP_URL and BFF_INTERNAL_SECRET) into a 50-entry in-memory buffer (services/agentGatewayDecisions.js). Shown on /agent-gateway-inspector below the inspector; scroll down.
- /audit (UC20): LMDB mcpAuditStore, fed by the Node gateway.
- /monitoring/p1az reads New Relic, not PingGateway; blank without New Relic.
- Grafana dashboards in monitoring/grafana/dashboards/: agent-gateway, agents, mcp-servers, p1az-decisions, pinggateway, pingone-webhook, server-events. Alertmanager's receiver is a no-op.
Gaps to know before showing it:
- The decision feed is lost on restart, has no correlation id (can't be joined to the trace), and only PingGateway posts to it; the Node gateway path leaves it empty.
- The raw log window on /agent-gateway-inspector is open to any signed-in user and not filtered by user.
- /api/app-events has no auth; /api/token-chain/events and /llm/guardrail-attempts are not filtered by user.
- The Grafana P1AZ dashboard counts only PERMIT and DENY, so INDETERMINATE is dropped.
- The trace page's Jaeger link points at a route that no longer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registries: oauth-mcp/src/tools/BankingToolRegistry.ts; demo_mcp_resource_server/src/tools/*Tools.ts; demo_mcp_gateway/src/router.ts (weather, Brave, audit). mcp-tool-schemas.json is the generated union of 252 tools (copy in ping-gateway/config/).
Gateways: PingGateway is the default (host :3036). Its main routes introspect tokens; the *-jwks.json twins are used when a request sends X-Token-Validation: jwks. Every route runs request validation, audit and the P1AZ decision script. The Node gateway (:3005, demo-auth group) validates with JWKS only. The Privilege AI Gateway runs as Agentic Apps on the SE cluster (local ping-mcpgw is the opt-in mcpgw group).
Transports: oauth-mcp speaks WebSocket and Streamable HTTP /mcp; Brave, Grafana and the PingOne bridge also answer the SSE handshake Privilege uses for discovery; weather and the PingOne bridge wrap stdio-only upstreams. MCP_MTLS_ON is unset in the root .env, so the gateway to oauth-mcp hop is plaintext.
Start-up: oauth-mcp, resource server, weather, Brave and the MCP proxy are core; code search is the rag group (on by default) and is plain REST, not MCP; jwt-verifier is demo-auth; opensearch is mcpgw; the hostile server runs with npm start, outside compose. mcp-audit has no compose profile but isn't in run-docker.sh's core list.
Also: the BFF MCP facade (:3002, routes/mcpFacade.js) is a recording proxy with doors for outside clients such as LM Studio and LibreChat. demo_mcp_proxy (:8895) turns REST calls into MCP calls for simple agents.
Stale docs: README still names demo_mcp_server and describes the Node gateway as the live path; docs/MCP_SERVER_EDUCATION.md still shows WebSocket on :3001.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Widget (/davinci-login-guide, DavinciLoginGuidePage.jsx; routes/davinciLogin.js): the BFF's /sdk-token posts to orchestrate-api.pingone.com/v1/company/{id}/sdktoken with the DaVinci API key (read from configStore and the vault), keeps nonce, state and PKCE verifier in the session, and the page loads assets.pingone.com/davinci/latest/davinci.js to render DaVinci's screens. Config keys: PINGONE_DAVINCI_LOGIN_COMPANY_ID, PINGONE_DAVINCI_LOGIN_POLICY_ID_V1/_V2, PINGONE_DAVINCI_API_KEY; config davinci_login_flow_version. Gotcha: successCallback gets whatever the flow's last node returns, not an authorization code. Open PR #3245 replaces today's hand-off (a DV-ST cookie plus an /authorize hop that doesn't sign the user in unless a PingOne session already exists) with POST /api/davinci-login/widget-session, which verifies the flow's returned tokens; widget sessions will then end when the access token expires.
Orchestration SDK (/davinci-sdk-login, DavinciSdkLoginPage.jsx, lib/davinciSdkClient.js, routes/davinciSdkLogin.js): @forgerock/davinci-client calls /as/authorize with response_mode=pi.flow and gets JSON nodes; the page renders collectors (Text, Password, Submit, Flow) and calls next(); the code comes back in the JSON body and the BFF exchanges it as a public client with PKCE, no secret. Key: PINGONE_DAVINCI_LOGIN_APP_ID. Request the Demo API scopes: OIDC-only scopes gave a token for api.pingone.com and every later call 401'd (#3224). An existing PingOne session shows a 'reused' panel (#3228). The flow policy must be assigned to the app, or /as/authorize returns 500. UC-LEARN10 points at the static /orchestration-sdk explainer.
Transaction step-up (ff_davinci_orchestration, off): routes/transactions.js calls confirmChallengeViaDaVinci (services/transactionConsentChallenge.js). Errors fall back to the built-in OTP/MFA path, but a non-PERMIT decision returns 403 davinci_denied. Not demo-ready: services/davinciFlowClient.js sends clientId:clientSecret as the bearer, a placeholder that will 401 against a real tenant. Mid-flow callbacks hit POST /webhook/davinci, unauthenticated by design (the same accepted trade-off as the PingOne webhook). Flow exports: docs/Super_Banking_Transaction_Authorization_DaVinci.json, docs/Super_Banking_MCP_Tool_Authorization_DaVinci.json.
Also: Verified Trust (UC37, ff_verified_trust_a2a, off) starts a DaVinci flow by API key; there is no flow for it on the tenant yet. 'Demo AI App - CIBA (DaVinci)' exists only as manual setup steps. ADMIN10–12 use the hosted PingOne MCP, with no offline mock data.
In flight: PR #3245 (widget), and another session is building a shared lesson layout so the widget and SDK lessons look alike. Stale: docs/DAVINCI_ORCHESTRATION_STATUS.md describes pages that no longer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Diagrams: SequenceReelDiagram.jsx draws the live sequence diagram from the token-chain trace (tokenChainTraceStore, deriveLifelineSteps.js); lane names repeat at the foot (#3231) and it draws only steps that ran. Pages: /transaction-trace, /architecture/* (token-flow, token-chain, system). Sources: docs/diagrams/*.mmd built by npm run build:diagrams; 24 drawio files in docs/.
Secret rotation: /secret-rotation (pages/SecretRotationPage.jsx, routes/secretRotation.js) runs scripts/rotate-app-secret.js detached: regenerate in PingOne, write the vault, then .env; the page prints the k8s step rather than patching k8s itself. PingOne keeps no previous secret, so the old one dies at once. The worker app is refused; 20 apps are rotatable (refresh-service-envs.js). The API is gated at user level, not admin (a recorded owner decision). Never rotate 'PingOne Privilege' (a6219652): nothing in code blocks it by hand. Recreate containers after .env changes; a restart keeps the old value.
Light/dark: THEMING.md; dark is :root[data-theme="dark"], never prefers-color-scheme. ThemeContext.js stores ba_dark_mode; the toggle is in TopNav. themingRatchet.test.js caps unthemed stylesheets at 136 of 314. /sdk-login and the Protocol Playground keep their own themes.
Sessions: LMDB session store (services/lmdb/sessionStore.js), not Redis, despite leftover connect-redis dependencies and k8s docs. Cookie connect.sid, httpOnly, 24h, no cookie domain (single host). Tokens refresh within 5 minutes of expiry (middleware/tokenRefresh.js). Logout revokes tokens (RFC 7009), ends PingOne SSO and clears auth cookies. Kill switch: services/killSwitchService.js, shown at /ai-control-plane, resets after 10 minutes. Known issue: a long request can overwrite concurrent session saves (TECH_DEBT.md).
User login: Demo AI App - User Login, PKCE-only since 2026-08-24 (routes/oauthUser.js). Passkeys via routes/mfa.js; step-up on a 428. Pages: /davinci-login-guide (widget), /davinci-sdk-login (Orchestration SDK), /sdk-login (OIDC SDK, tokens in the browser). The passkey rp.id needs a public TLD, hence local.ping-devops.com:4000.
Admin login: Demo AI App - Admin Login. Admin is granted at login by any of four checks (username allowlist, population, custom claim, role-claim resolver; routes/oauthUser.js:565-607) and re-checked per request via the token's azp or session role (middleware/auth.js). auth-requirements.json marks 18 routes and 14 use cases admin; npm run authz:verify keeps App.js guards in line. Note: a failed login lands on the saved page or / with ?error=, not the login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VAULT. secrets.vault at the repo root is homegrown code, not sops, age or HashiCorp Vault: Argon2id key derivation (argon2 npm package, demo_api_server/lib/vault/crypto.js), AES-256-GCM per entry (Node crypto), an HMAC over the whole file, a seq counter against the audit log, atomic saves. Gitignored (.gitignore:195-209), mode 0600; two old encrypted copies remain in git history (docs/incident-response/vault-history-exposure.md).
Flow: npm run vault:set NAME reads the value from stdin. VAULT_PASSWORD comes from demo_api_server/.env; the BFF exits if the vault exists but the password is missing, loads entries into configStore memory, then deletes VAULT_PASSWORD from the process. configStore reads .env first, then the vault, then LMDB (BFF_INTERNAL_SECRET and INTENT_TOKEN_SECRET are forced from the vault). refresh-service-envs.js writes per-service .env files; k8s/create-secrets.sh ships vault values and aborts on drift. /secret-rotation runs scripts/rotate-app-secret.js, which regenerates in PingOne and writes the vault back.
Traps: a stale .env line silently overrides the vault. dotenvx is replacing the vault service by service (docs/superpowers/plans/2026-08-18-vault-dotenvx-full-replace.md). Commands: vault:create, vault:get, vault:set, vault:list, vault:delete, vault:rotate (demo_api_server/package.json). Docs: docs/vault.md (partly stale).
OPEN SOURCE. Agents: LangChain/LangGraph, OpenAI Agents SDK, Pydantic AI, Mastra (with Vercel AI SDK), LlamaIndex, Guardrails AI. Protocols: @modelcontextprotocol/sdk, FastMCP, @a2a-js/sdk, AG-UI, weather-mcp, OpenSearch MCP. Models and runtime: llama.cpp, oMLX/mlx_lm, Phi-4-mini-instruct, gpt-oss-20b, nomic-embed-text-v1.5, ProtectAI DeBERTa prompt-injection classifier. Data and security: Weaviate, LMDB, SQLite, argon2, jose, dotenvx, Sealed Secrets. Observability and test: Prometheus, Alertmanager, Grafana, Loki, Alloy, Jaeger, OpenTelemetry, promptfoo, Playwright, Jest, Vitest. Web and infra: React, Vite, Express, Mermaid, React Flow, Docker Compose, Kubernetes, Helm, nginx, mkcert, LibreChat, OpenCLI, ForgeRock davinci-client.
Our spin-outs: github.com/curtismu7/llm-gateway, mcp-inspector, ai-gateway-client.
Not open source, though easy to mistake: the PingGateway image, the Privilege gateway images and chart, PingOne and Helix, New Relic's service, OrbStack, LM Studio, the Brave Search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apps are in the main demo environment (01d89b06) unless noted. App names verified against the live app list on 2026-09-13.
Full table, with the config keys each app is read from and which services use it: docs/FAQ.md, section 'Which PingOne app does what'.
Two traps:
- The live environment has no dedicated 'Demo AI App - CIBA' app, so CIBA falls back to the Admin Login app.
- Management API calls try PINGONE_MGMT_* and PINGONE_MANAGEMENT_* first, then the Admin Login app, and only then the worker (services/configStore.js). A Management API failure can therefore be the Admin Login app.
Privilege AI Gateway sign-in uses a client in the Privilege tenant (0428ba4f), not this environment; its secret lives in the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 Demo Steps are the same for all 11 customer verticals (demo_api_ui/src/config/demoUseCaseSteps.js); details come from demo_api_server/config/useCases.js.
- UC7: the PingOne MFA client used for step-up wasn't traced.
- UC14b: the PAR push uses the AI Agent Actor app (routes/intentBinding.js). UC14 sends the actor and admin client IDs in the context header; Authorize applies the RarMaxAmount rule.
- UC12: the simulation replays a token at the gateway; it doesn't send a DPoP proof.
- UC2 / UC2.5: the second agent is that vertical's Specialist Agent app (banking = Demo AI App - Investment Advisor Agent). Authorize checks the act chain depth.
- UC22: CIBA uses PINGONE_CIBA_CLIENT_ID if set; the environment has no CIBA app, so it falls back to Admin Login, then to simulated CIBA.
Symptom-to-app lookup and the full app inventory: docs/FAQ.md, 'Which PingOne app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UC11: the exchange client oauthService uses by default wasn't traced.
- UC5 and UC18 run against the Node Demo Agent Gateway.
- UC30–UC32: the PingGateway weather route has no OAuth filter, so no PingOne app is involved.
- UC40: PingOne doesn't issue native ID-JAG yet; routes/enterpriseIdp.js signs the grant after a PingOne group check done with the worker. Needs ff_enterprise_managed_mcp_auth, which Demo Steps doesn't auto-arm for public steps.
- UC38: the worker creates the agent app through the Management API (agentBuilderService.js); the exchange client wasn't traced. Only airlines gets the chip.
- The other 38 catalog use cases aren't Demo Steps; most of them run the standard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ADMIN1–13 are admin-gated and pass through neither the gateway nor Authorize (demo_api_server/config/admin/demoSteps.js, pingone-admin/tools.js).
They sign in with PingOne's built-in pingone-mcp-server client over a loopback redirect and call https://mcp.pingone.&lt;region&gt;/admin/&lt;envId&gt;/mcp. When that fails, most fall back to the Management API with the worker, then to a mock.
ADMIN13 links to /privilege-mcp-client; what that page calls wasn't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standalone repos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PingGateway, default</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PingOne Authorize</a:t>
            </a:r>
            <a:pPr indent="0" marL="0">
              <a:buNone/>
            </a:pPr>
            <a:r>
              <a:rPr lang="en-US" sz="950" b="1" dirty="0">
                <a:solidFill>
                  <a:srgbClr val="C8102E"/>
                </a:solidFill>
                <a:latin typeface="Calibri" pitchFamily="34" charset="0"/>
                <a:ea typeface="Calibri" pitchFamily="34" charset="-122"/>
                <a:cs typeface="Calibri" pitchFamily="34" charset="-120"/>
              </a:rPr>
              <a:t>  cloud</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policy decisions, default</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gateway, opt-in</a:t>
            </a:r>
            <a:endParaRPr lang="en-US" sz="950" dirty="0"/>
          </a:p>
        </p:txBody>
      </p:sp>
      <p:sp>
        <p:nvSpPr>
          <p:cNvPr id="27" name="Text 22"/>
          <p:cNvSpPr/>
          <p:nvPr/>
        </p:nvSpPr>
        <p:spPr>
          <a:xfrm>
            <a:off x="270891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8" name="Text 23"/>
          <p:cNvSpPr/>
          <p:nvPr/>
        </p:nvSpPr>
        <p:spPr>
          <a:xfrm>
            <a:off x="270891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Authorize, opt-in</a:t>
            </a:r>
            <a:endParaRPr lang="en-US" sz="950" dirty="0"/>
          </a:p>
        </p:txBody>
      </p:sp>
      <p:sp>
        <p:nvSpPr>
          <p:cNvPr id="29" name="Shape 24"/>
          <p:cNvSpPr/>
          <p:nvPr/>
        </p:nvSpPr>
        <p:spPr>
          <a:xfrm>
            <a:off x="4686300" y="1481328"/>
            <a:ext cx="1885950" cy="2670048"/>
          </a:xfrm>
          <a:prstGeom prst="rect">
            <a:avLst/>
          </a:prstGeom>
          <a:solidFill>
            <a:srgbClr val="FFFFFF"/>
          </a:solidFill>
          <a:ln w="9525">
            <a:solidFill>
              <a:srgbClr val="D5DBE3"/>
            </a:solidFill>
            <a:prstDash val="solid"/>
          </a:ln>
        </p:spPr>
      </p:sp>
      <p:sp>
        <p:nvSpPr>
          <p:cNvPr id="30" name="Shape 25"/>
          <p:cNvSpPr/>
          <p:nvPr/>
        </p:nvSpPr>
        <p:spPr>
          <a:xfrm>
            <a:off x="4823460" y="1591056"/>
            <a:ext cx="365760" cy="365760"/>
          </a:xfrm>
          <a:prstGeom prst="ellipse">
            <a:avLst/>
          </a:prstGeom>
          <a:solidFill>
            <a:srgbClr val="0B1A2E"/>
          </a:solidFill>
          <a:ln/>
        </p:spPr>
      </p:sp>
      <p:pic>
        <p:nvPicPr>
          <p:cNvPr id="31"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2" name="Text 26"/>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3" name="Text 27"/>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4" name="Text 28"/>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5" name="Text 29"/>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6" name="Text 30"/>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7" name="Text 31"/>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8" name="Text 32"/>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9" name="Text 33"/>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40" name="Text 34"/>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41" name="Text 35"/>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2" name="Text 36"/>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3" name="Shape 37"/>
          <p:cNvSpPr/>
          <p:nvPr/>
        </p:nvSpPr>
        <p:spPr>
          <a:xfrm>
            <a:off x="6800850" y="1481328"/>
            <a:ext cx="1885950" cy="2670048"/>
          </a:xfrm>
          <a:prstGeom prst="rect">
            <a:avLst/>
          </a:prstGeom>
          <a:solidFill>
            <a:srgbClr val="FFFFFF"/>
          </a:solidFill>
          <a:ln w="9525">
            <a:solidFill>
              <a:srgbClr val="D5DBE3"/>
            </a:solidFill>
            <a:prstDash val="solid"/>
          </a:ln>
        </p:spPr>
      </p:sp>
      <p:sp>
        <p:nvSpPr>
          <p:cNvPr id="44" name="Shape 38"/>
          <p:cNvSpPr/>
          <p:nvPr/>
        </p:nvSpPr>
        <p:spPr>
          <a:xfrm>
            <a:off x="6938010" y="1591056"/>
            <a:ext cx="365760" cy="365760"/>
          </a:xfrm>
          <a:prstGeom prst="ellipse">
            <a:avLst/>
          </a:prstGeom>
          <a:solidFill>
            <a:srgbClr val="0B1A2E"/>
          </a:solidFill>
          <a:ln/>
        </p:spPr>
      </p:sp>
      <p:pic>
        <p:nvPicPr>
          <p:cNvPr id="45"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6" name="Text 39"/>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7" name="Text 40"/>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8" name="Text 41"/>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9" name="Text 42"/>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50" name="Text 43"/>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51" name="Text 44"/>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2" name="Text 45"/>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3" name="Text 46"/>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4" name="Text 47"/>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5" name="Shape 48"/>
          <p:cNvSpPr/>
          <p:nvPr/>
        </p:nvSpPr>
        <p:spPr>
          <a:xfrm>
            <a:off x="457200" y="4352544"/>
            <a:ext cx="8229600" cy="329184"/>
          </a:xfrm>
          <a:prstGeom prst="rect">
            <a:avLst/>
          </a:prstGeom>
          <a:solidFill>
            <a:srgbClr val="E8ECF2"/>
          </a:solidFill>
          <a:ln w="9525">
            <a:solidFill>
              <a:srgbClr val="D5DBE3"/>
            </a:solidFill>
            <a:prstDash val="solid"/>
          </a:ln>
        </p:spPr>
      </p:sp>
      <p:sp>
        <p:nvSpPr>
          <p:cNvPr id="56" name="Text 49"/>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7  ·  PINGONE PRIVILEGE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Privilege governs the AI traffic: policy on every tool call, guardrails on every model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457200" y="1481328"/>
            <a:ext cx="3977640" cy="2423160"/>
          </a:xfrm>
          <a:prstGeom prst="rect">
            <a:avLst/>
          </a:prstGeom>
          <a:solidFill>
            <a:srgbClr val="FFFFFF"/>
          </a:solidFill>
          <a:ln w="9525">
            <a:solidFill>
              <a:srgbClr val="D5DBE3"/>
            </a:solidFill>
            <a:prstDash val="solid"/>
          </a:ln>
        </p:spPr>
      </p:sp>
      <p:sp>
        <p:nvSpPr>
          <p:cNvPr id="8" name="Shape 5"/>
          <p:cNvSpPr/>
          <p:nvPr/>
        </p:nvSpPr>
        <p:spPr>
          <a:xfrm>
            <a:off x="640080" y="1645920"/>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53648" y="1759488"/>
            <a:ext cx="193487" cy="193487"/>
          </a:xfrm>
          <a:prstGeom prst="rect">
            <a:avLst/>
          </a:prstGeom>
        </p:spPr>
      </p:pic>
      <p:sp>
        <p:nvSpPr>
          <p:cNvPr id="10" name="Text 6"/>
          <p:cNvSpPr/>
          <p:nvPr/>
        </p:nvSpPr>
        <p:spPr>
          <a:xfrm>
            <a:off x="117043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AI Gateway for MCP tools</a:t>
            </a:r>
            <a:endParaRPr lang="en-US" sz="1300" dirty="0"/>
          </a:p>
        </p:txBody>
      </p:sp>
      <p:sp>
        <p:nvSpPr>
          <p:cNvPr id="11" name="Text 7"/>
          <p:cNvSpPr/>
          <p:nvPr/>
        </p:nvSpPr>
        <p:spPr>
          <a:xfrm>
            <a:off x="65836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Fronts OpenSearch, Brave, Grafana, PingOne admin</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Clients discover, self-register (DCR), use PKCE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Policy per app; new apps deny everything</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Privilege first: gate 1 before the Agent Gateway</a:t>
            </a:r>
            <a:endParaRPr lang="en-US" sz="1100" dirty="0"/>
          </a:p>
        </p:txBody>
      </p:sp>
      <p:sp>
        <p:nvSpPr>
          <p:cNvPr id="12" name="Shape 8"/>
          <p:cNvSpPr/>
          <p:nvPr/>
        </p:nvSpPr>
        <p:spPr>
          <a:xfrm>
            <a:off x="658368" y="3447288"/>
            <a:ext cx="3575304" cy="0"/>
          </a:xfrm>
          <a:prstGeom prst="line">
            <a:avLst/>
          </a:prstGeom>
          <a:noFill/>
          <a:ln w="9525">
            <a:solidFill>
              <a:srgbClr val="D5DBE3"/>
            </a:solidFill>
            <a:prstDash val="solid"/>
          </a:ln>
        </p:spPr>
      </p:sp>
      <p:sp>
        <p:nvSpPr>
          <p:cNvPr id="13" name="Text 9"/>
          <p:cNvSpPr/>
          <p:nvPr/>
        </p:nvSpPr>
        <p:spPr>
          <a:xfrm>
            <a:off x="65836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/privilege-mcp-client, the same call through three doors</a:t>
            </a:r>
            <a:endParaRPr lang="en-US" sz="950" dirty="0"/>
          </a:p>
        </p:txBody>
      </p:sp>
      <p:sp>
        <p:nvSpPr>
          <p:cNvPr id="14" name="Shape 10"/>
          <p:cNvSpPr/>
          <p:nvPr/>
        </p:nvSpPr>
        <p:spPr>
          <a:xfrm>
            <a:off x="4709160" y="1481328"/>
            <a:ext cx="3977640" cy="2423160"/>
          </a:xfrm>
          <a:prstGeom prst="rect">
            <a:avLst/>
          </a:prstGeom>
          <a:solidFill>
            <a:srgbClr val="FFFFFF"/>
          </a:solidFill>
          <a:ln w="9525">
            <a:solidFill>
              <a:srgbClr val="D5DBE3"/>
            </a:solidFill>
            <a:prstDash val="solid"/>
          </a:ln>
        </p:spPr>
      </p:sp>
      <p:sp>
        <p:nvSpPr>
          <p:cNvPr id="15" name="Shape 11"/>
          <p:cNvSpPr/>
          <p:nvPr/>
        </p:nvSpPr>
        <p:spPr>
          <a:xfrm>
            <a:off x="4892040" y="1645920"/>
            <a:ext cx="420624" cy="42062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5005608" y="1759488"/>
            <a:ext cx="193487" cy="193487"/>
          </a:xfrm>
          <a:prstGeom prst="rect">
            <a:avLst/>
          </a:prstGeom>
        </p:spPr>
      </p:pic>
      <p:sp>
        <p:nvSpPr>
          <p:cNvPr id="17" name="Text 12"/>
          <p:cNvSpPr/>
          <p:nvPr/>
        </p:nvSpPr>
        <p:spPr>
          <a:xfrm>
            <a:off x="542239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LLM Gateway for model calls</a:t>
            </a:r>
            <a:endParaRPr lang="en-US" sz="1300" dirty="0"/>
          </a:p>
        </p:txBody>
      </p:sp>
      <p:sp>
        <p:nvSpPr>
          <p:cNvPr id="18" name="Text 13"/>
          <p:cNvSpPr/>
          <p:nvPr/>
        </p:nvSpPr>
        <p:spPr>
          <a:xfrm>
            <a:off x="491032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Virtual keys; provider keys stay in Privilege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Every prompt: Allow, Alert, Sanitize or Block</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Only Block reaches the caller (HTTP 400)</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Local proxy (:8090) has no policy or guardrails</a:t>
            </a:r>
            <a:endParaRPr lang="en-US" sz="1100" dirty="0"/>
          </a:p>
        </p:txBody>
      </p:sp>
      <p:sp>
        <p:nvSpPr>
          <p:cNvPr id="19" name="Shape 14"/>
          <p:cNvSpPr/>
          <p:nvPr/>
        </p:nvSpPr>
        <p:spPr>
          <a:xfrm>
            <a:off x="4910328" y="3447288"/>
            <a:ext cx="3575304" cy="0"/>
          </a:xfrm>
          <a:prstGeom prst="line">
            <a:avLst/>
          </a:prstGeom>
          <a:noFill/>
          <a:ln w="9525">
            <a:solidFill>
              <a:srgbClr val="D5DBE3"/>
            </a:solidFill>
            <a:prstDash val="solid"/>
          </a:ln>
        </p:spPr>
      </p:sp>
      <p:sp>
        <p:nvSpPr>
          <p:cNvPr id="20" name="Text 15"/>
          <p:cNvSpPr/>
          <p:nvPr/>
        </p:nvSpPr>
        <p:spPr>
          <a:xfrm>
            <a:off x="491032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/llm-gateway (UC-TOOL3), /llm-test, LibreChat</a:t>
            </a:r>
            <a:endParaRPr lang="en-US" sz="950" dirty="0"/>
          </a:p>
        </p:txBody>
      </p:sp>
      <p:sp>
        <p:nvSpPr>
          <p:cNvPr id="21" name="Shape 16"/>
          <p:cNvSpPr/>
          <p:nvPr/>
        </p:nvSpPr>
        <p:spPr>
          <a:xfrm>
            <a:off x="457200" y="4279392"/>
            <a:ext cx="8229600" cy="329184"/>
          </a:xfrm>
          <a:prstGeom prst="rect">
            <a:avLst/>
          </a:prstGeom>
          <a:solidFill>
            <a:srgbClr val="E8ECF2"/>
          </a:solidFill>
          <a:ln w="9525">
            <a:solidFill>
              <a:srgbClr val="D5DBE3"/>
            </a:solidFill>
            <a:prstDash val="solid"/>
          </a:ln>
        </p:spPr>
      </p:sp>
      <p:sp>
        <p:nvSpPr>
          <p:cNvPr id="22" name="Text 17"/>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PingOne Privilege PAM for just-in-time access to AWS, S3 and Kubernetes (UC-PAM). The MCP gateway runs on the Ping SE cluster.</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8  ·  ATTACKS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demo attacks itself, and shows what stops each attack and what doesn't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514600"/>
                <a:gridCol w="3108960"/>
                <a:gridCol w="1097280"/>
                <a:gridCol w="1508760"/>
              </a:tblGrid>
              <a:tr h="205740">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Attack</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Stopped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Result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Use case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scope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Wrong audience or replayed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Gateway audience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UC11,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(resource owner)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Rogue actor (confused deputy)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(actor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Transfer over the approved intent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(RAR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Impersonation, no act claim</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Burst of calls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rate limit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Fake consent ("already approved")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requires a real approval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Out-of-scope third-party tool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DENY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UC31, UC42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Prompt injection or jailbreak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prompt guard; Privilege LLM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PII in the model's answer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LLM Gateway redacts 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200, redacted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Poisoned tool arguments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the approval gate still applies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Tester page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ungoverned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by design: the before picture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UC-LEARN7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4480560"/>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Not demo-ready: UC15 tampered intent token (needs build); UC29 introspection outage (returns 501 here).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9  ·  WHAT YOU CAN SEE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decision leaves a visible trail: in the chat, the trace, the gateway feed and Grafana</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240280"/>
                <a:gridCol w="4069080"/>
                <a:gridCol w="1920240"/>
              </a:tblGrid>
              <a:tr h="24688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Where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you see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Who sees it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chat token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cards, the Authorize decision, the UC26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/transaction-trace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hop, identity, decision and a PASS or FAIL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Dashboard sequence view</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Lifelines for the steps that actually ran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/agent-gateway-inspector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PERMIT, DENY or HELD, with the policy statement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/audit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MCP tool call, stored durably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UC35 "Why was that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agent explains the last denial in plain words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chat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Run a test decision and read its statements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/monitoring/p1az</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Authorize decision stream, latency, fail-open counts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 (needs New Relic)</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Dashboards for the gateway, Authorize decisions, MCP servers, agents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Whoever can reach 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Not in the app:  </a:t>
            </a:r>
            <a:pPr indent="0" marL="0">
              <a:buNone/>
            </a:pPr>
            <a:r>
              <a:rPr lang="en-US" sz="1050" dirty="0">
                <a:solidFill>
                  <a:srgbClr val="0B1A2E"/>
                </a:solidFill>
                <a:latin typeface="Calibri" pitchFamily="34" charset="0"/>
                <a:ea typeface="Calibri" pitchFamily="34" charset="-122"/>
                <a:cs typeface="Calibri" pitchFamily="34" charset="-120"/>
              </a:rPr>
              <a:t>Privilege Alert verdicts (gateway dashboard only). Sanitize is inferred from [REDACTED] markers.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10  ·  MCP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dozen MCP servers, mostly behind PingGateway, from banking tools to a deliberately hostile one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148840"/>
                <a:gridCol w="3154680"/>
                <a:gridCol w="685800"/>
                <a:gridCol w="2240280"/>
              </a:tblGrid>
              <a:tr h="233172">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Server</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does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Tools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Fronted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  :8080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Accounts, transfers, mortgage, code search</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Resource server  :8081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Investments and 10 verticals over SQLite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(token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Weather  :8896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weather, with a state-scoped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Brave Search  :8897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news search, with a crypto blocklist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facade,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JWT verifier  :8083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Decode and verify JWTs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audit  :8898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Read-only PingOne audit log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OpenSearch  :9900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sample backend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admin bridge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admin tools under Privilege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 (SE)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Hosted PingOne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ADMIN steps: apps, users, populations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by role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Direct from the BFF (PKCE)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:8899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Poisoned tool descriptions, for red-teaming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None, by design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Front doors:  </a:t>
            </a:r>
            <a:pPr indent="0" marL="0">
              <a:buNone/>
            </a:pPr>
            <a:r>
              <a:rPr lang="en-US" sz="1050" dirty="0">
                <a:solidFill>
                  <a:srgbClr val="0B1A2E"/>
                </a:solidFill>
                <a:latin typeface="Calibri" pitchFamily="34" charset="0"/>
                <a:ea typeface="Calibri" pitchFamily="34" charset="-122"/>
                <a:cs typeface="Calibri" pitchFamily="34" charset="-120"/>
              </a:rPr>
              <a:t>PingGateway (default) · Node gateway (opt-in) · Privilege AI Gateway (SE) · BFF facade for outside MCP clients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11  ·  DAVINCI</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Three ways to run a DaVinci flow: the hosted widget, the Orchestration SDK, and server-side step-up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457200" y="1481328"/>
            <a:ext cx="2590800" cy="2514600"/>
          </a:xfrm>
          <a:prstGeom prst="rect">
            <a:avLst/>
          </a:prstGeom>
          <a:solidFill>
            <a:srgbClr val="FFFFFF"/>
          </a:solidFill>
          <a:ln w="9525">
            <a:solidFill>
              <a:srgbClr val="D5DBE3"/>
            </a:solidFill>
            <a:prstDash val="solid"/>
          </a:ln>
        </p:spPr>
      </p:sp>
      <p:sp>
        <p:nvSpPr>
          <p:cNvPr id="8" name="Shape 5"/>
          <p:cNvSpPr/>
          <p:nvPr/>
        </p:nvSpPr>
        <p:spPr>
          <a:xfrm>
            <a:off x="603504" y="1627632"/>
            <a:ext cx="384048" cy="384048"/>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07197" y="1731325"/>
            <a:ext cx="176662" cy="176662"/>
          </a:xfrm>
          <a:prstGeom prst="rect">
            <a:avLst/>
          </a:prstGeom>
        </p:spPr>
      </p:pic>
      <p:sp>
        <p:nvSpPr>
          <p:cNvPr id="10" name="Text 6"/>
          <p:cNvSpPr/>
          <p:nvPr/>
        </p:nvSpPr>
        <p:spPr>
          <a:xfrm>
            <a:off x="10789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Hosted widget</a:t>
            </a:r>
            <a:endParaRPr lang="en-US" sz="1200" dirty="0"/>
          </a:p>
        </p:txBody>
      </p:sp>
      <p:sp>
        <p:nvSpPr>
          <p:cNvPr id="11" name="Shape 7"/>
          <p:cNvSpPr/>
          <p:nvPr/>
        </p:nvSpPr>
        <p:spPr>
          <a:xfrm>
            <a:off x="603504" y="2139696"/>
            <a:ext cx="1481328" cy="237744"/>
          </a:xfrm>
          <a:prstGeom prst="roundRect">
            <a:avLst>
              <a:gd name="adj" fmla="val 50000"/>
            </a:avLst>
          </a:prstGeom>
          <a:solidFill>
            <a:srgbClr val="E8ECF2"/>
          </a:solidFill>
          <a:ln/>
        </p:spPr>
      </p:sp>
      <p:sp>
        <p:nvSpPr>
          <p:cNvPr id="12" name="Text 8"/>
          <p:cNvSpPr/>
          <p:nvPr/>
        </p:nvSpPr>
        <p:spPr>
          <a:xfrm>
            <a:off x="603504" y="2139696"/>
            <a:ext cx="1481328"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Changing in PR #3245</a:t>
            </a:r>
            <a:endParaRPr lang="en-US" sz="850" dirty="0"/>
          </a:p>
        </p:txBody>
      </p:sp>
      <p:sp>
        <p:nvSpPr>
          <p:cNvPr id="13" name="Text 9"/>
          <p:cNvSpPr/>
          <p:nvPr/>
        </p:nvSpPr>
        <p:spPr>
          <a:xfrm>
            <a:off x="6035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DaVinci's own screens, in our page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The BFF mints a DaVinci SDK token</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Needs company, policy and API key</a:t>
            </a:r>
            <a:endParaRPr lang="en-US" sz="1000" dirty="0"/>
          </a:p>
        </p:txBody>
      </p:sp>
      <p:sp>
        <p:nvSpPr>
          <p:cNvPr id="14" name="Shape 10"/>
          <p:cNvSpPr/>
          <p:nvPr/>
        </p:nvSpPr>
        <p:spPr>
          <a:xfrm>
            <a:off x="603504" y="3575304"/>
            <a:ext cx="2298192" cy="0"/>
          </a:xfrm>
          <a:prstGeom prst="line">
            <a:avLst/>
          </a:prstGeom>
          <a:noFill/>
          <a:ln w="9525">
            <a:solidFill>
              <a:srgbClr val="D5DBE3"/>
            </a:solidFill>
            <a:prstDash val="solid"/>
          </a:ln>
        </p:spPr>
      </p:sp>
      <p:sp>
        <p:nvSpPr>
          <p:cNvPr id="15" name="Text 11"/>
          <p:cNvSpPr/>
          <p:nvPr/>
        </p:nvSpPr>
        <p:spPr>
          <a:xfrm>
            <a:off x="6035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/davinci-login-guide</a:t>
            </a:r>
            <a:endParaRPr lang="en-US" sz="850" dirty="0"/>
          </a:p>
        </p:txBody>
      </p:sp>
      <p:sp>
        <p:nvSpPr>
          <p:cNvPr id="16" name="Shape 12"/>
          <p:cNvSpPr/>
          <p:nvPr/>
        </p:nvSpPr>
        <p:spPr>
          <a:xfrm>
            <a:off x="3276600" y="1481328"/>
            <a:ext cx="2590800" cy="2514600"/>
          </a:xfrm>
          <a:prstGeom prst="rect">
            <a:avLst/>
          </a:prstGeom>
          <a:solidFill>
            <a:srgbClr val="FFFFFF"/>
          </a:solidFill>
          <a:ln w="9525">
            <a:solidFill>
              <a:srgbClr val="D5DBE3"/>
            </a:solidFill>
            <a:prstDash val="solid"/>
          </a:ln>
        </p:spPr>
      </p:sp>
      <p:sp>
        <p:nvSpPr>
          <p:cNvPr id="17" name="Shape 13"/>
          <p:cNvSpPr/>
          <p:nvPr/>
        </p:nvSpPr>
        <p:spPr>
          <a:xfrm>
            <a:off x="3422904" y="1627632"/>
            <a:ext cx="384048" cy="384048"/>
          </a:xfrm>
          <a:prstGeom prst="ellipse">
            <a:avLst/>
          </a:prstGeom>
          <a:solidFill>
            <a:srgbClr val="0B1A2E"/>
          </a:solidFill>
          <a:ln/>
        </p:spPr>
      </p:sp>
      <p:pic>
        <p:nvPicPr>
          <p:cNvPr id="18" name="Image 1" descr="preencoded.png">    </p:cNvPr>
          <p:cNvPicPr>
            <a:picLocks noChangeAspect="1"/>
          </p:cNvPicPr>
          <p:nvPr/>
        </p:nvPicPr>
        <p:blipFill>
          <a:blip r:embed="rId2"/>
          <a:stretch>
            <a:fillRect/>
          </a:stretch>
        </p:blipFill>
        <p:spPr>
          <a:xfrm>
            <a:off x="3526597" y="1731325"/>
            <a:ext cx="176662" cy="176662"/>
          </a:xfrm>
          <a:prstGeom prst="rect">
            <a:avLst/>
          </a:prstGeom>
        </p:spPr>
      </p:pic>
      <p:sp>
        <p:nvSpPr>
          <p:cNvPr id="19" name="Text 14"/>
          <p:cNvSpPr/>
          <p:nvPr/>
        </p:nvSpPr>
        <p:spPr>
          <a:xfrm>
            <a:off x="38983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Orchestration SDK</a:t>
            </a:r>
            <a:endParaRPr lang="en-US" sz="1200" dirty="0"/>
          </a:p>
        </p:txBody>
      </p:sp>
      <p:sp>
        <p:nvSpPr>
          <p:cNvPr id="20" name="Shape 15"/>
          <p:cNvSpPr/>
          <p:nvPr/>
        </p:nvSpPr>
        <p:spPr>
          <a:xfrm>
            <a:off x="3422904" y="2139696"/>
            <a:ext cx="515722" cy="237744"/>
          </a:xfrm>
          <a:prstGeom prst="roundRect">
            <a:avLst>
              <a:gd name="adj" fmla="val 50000"/>
            </a:avLst>
          </a:prstGeom>
          <a:solidFill>
            <a:srgbClr val="E8ECF2"/>
          </a:solidFill>
          <a:ln/>
        </p:spPr>
      </p:sp>
      <p:sp>
        <p:nvSpPr>
          <p:cNvPr id="21" name="Text 16"/>
          <p:cNvSpPr/>
          <p:nvPr/>
        </p:nvSpPr>
        <p:spPr>
          <a:xfrm>
            <a:off x="3422904" y="2139696"/>
            <a:ext cx="515722"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Live</a:t>
            </a:r>
            <a:endParaRPr lang="en-US" sz="850" dirty="0"/>
          </a:p>
        </p:txBody>
      </p:sp>
      <p:sp>
        <p:nvSpPr>
          <p:cNvPr id="22" name="Text 17"/>
          <p:cNvSpPr/>
          <p:nvPr/>
        </p:nvSpPr>
        <p:spPr>
          <a:xfrm>
            <a:off x="34229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Your own form, built from collectors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pi.flow returns JSON, not redirects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Public PKCE client, no secret</a:t>
            </a:r>
            <a:endParaRPr lang="en-US" sz="1000" dirty="0"/>
          </a:p>
        </p:txBody>
      </p:sp>
      <p:sp>
        <p:nvSpPr>
          <p:cNvPr id="23" name="Shape 18"/>
          <p:cNvSpPr/>
          <p:nvPr/>
        </p:nvSpPr>
        <p:spPr>
          <a:xfrm>
            <a:off x="3422904" y="3575304"/>
            <a:ext cx="2298192" cy="0"/>
          </a:xfrm>
          <a:prstGeom prst="line">
            <a:avLst/>
          </a:prstGeom>
          <a:noFill/>
          <a:ln w="9525">
            <a:solidFill>
              <a:srgbClr val="D5DBE3"/>
            </a:solidFill>
            <a:prstDash val="solid"/>
          </a:ln>
        </p:spPr>
      </p:sp>
      <p:sp>
        <p:nvSpPr>
          <p:cNvPr id="24" name="Text 19"/>
          <p:cNvSpPr/>
          <p:nvPr/>
        </p:nvSpPr>
        <p:spPr>
          <a:xfrm>
            <a:off x="34229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/davinci-sdk-login · /orchestration-sdk</a:t>
            </a:r>
            <a:endParaRPr lang="en-US" sz="850" dirty="0"/>
          </a:p>
        </p:txBody>
      </p:sp>
      <p:sp>
        <p:nvSpPr>
          <p:cNvPr id="25" name="Shape 20"/>
          <p:cNvSpPr/>
          <p:nvPr/>
        </p:nvSpPr>
        <p:spPr>
          <a:xfrm>
            <a:off x="6096000" y="1481328"/>
            <a:ext cx="2590800" cy="2514600"/>
          </a:xfrm>
          <a:prstGeom prst="rect">
            <a:avLst/>
          </a:prstGeom>
          <a:solidFill>
            <a:srgbClr val="FFFFFF"/>
          </a:solidFill>
          <a:ln w="9525">
            <a:solidFill>
              <a:srgbClr val="D5DBE3"/>
            </a:solidFill>
            <a:prstDash val="solid"/>
          </a:ln>
        </p:spPr>
      </p:sp>
      <p:sp>
        <p:nvSpPr>
          <p:cNvPr id="26" name="Shape 21"/>
          <p:cNvSpPr/>
          <p:nvPr/>
        </p:nvSpPr>
        <p:spPr>
          <a:xfrm>
            <a:off x="6242304" y="1627632"/>
            <a:ext cx="384048" cy="384048"/>
          </a:xfrm>
          <a:prstGeom prst="ellipse">
            <a:avLst/>
          </a:prstGeom>
          <a:solidFill>
            <a:srgbClr val="0B1A2E"/>
          </a:solidFill>
          <a:ln/>
        </p:spPr>
      </p:sp>
      <p:pic>
        <p:nvPicPr>
          <p:cNvPr id="27" name="Image 2" descr="preencoded.png">    </p:cNvPr>
          <p:cNvPicPr>
            <a:picLocks noChangeAspect="1"/>
          </p:cNvPicPr>
          <p:nvPr/>
        </p:nvPicPr>
        <p:blipFill>
          <a:blip r:embed="rId3"/>
          <a:stretch>
            <a:fillRect/>
          </a:stretch>
        </p:blipFill>
        <p:spPr>
          <a:xfrm>
            <a:off x="6345997" y="1731325"/>
            <a:ext cx="176662" cy="176662"/>
          </a:xfrm>
          <a:prstGeom prst="rect">
            <a:avLst/>
          </a:prstGeom>
        </p:spPr>
      </p:pic>
      <p:sp>
        <p:nvSpPr>
          <p:cNvPr id="28" name="Text 22"/>
          <p:cNvSpPr/>
          <p:nvPr/>
        </p:nvSpPr>
        <p:spPr>
          <a:xfrm>
            <a:off x="67177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Transaction step-up</a:t>
            </a:r>
            <a:endParaRPr lang="en-US" sz="1200" dirty="0"/>
          </a:p>
        </p:txBody>
      </p:sp>
      <p:sp>
        <p:nvSpPr>
          <p:cNvPr id="29" name="Shape 23"/>
          <p:cNvSpPr/>
          <p:nvPr/>
        </p:nvSpPr>
        <p:spPr>
          <a:xfrm>
            <a:off x="6242304" y="2139696"/>
            <a:ext cx="1119226" cy="237744"/>
          </a:xfrm>
          <a:prstGeom prst="roundRect">
            <a:avLst>
              <a:gd name="adj" fmla="val 50000"/>
            </a:avLst>
          </a:prstGeom>
          <a:solidFill>
            <a:srgbClr val="E8ECF2"/>
          </a:solidFill>
          <a:ln/>
        </p:spPr>
      </p:sp>
      <p:sp>
        <p:nvSpPr>
          <p:cNvPr id="30" name="Text 24"/>
          <p:cNvSpPr/>
          <p:nvPr/>
        </p:nvSpPr>
        <p:spPr>
          <a:xfrm>
            <a:off x="6242304" y="2139696"/>
            <a:ext cx="1119226" cy="237744"/>
          </a:xfrm>
          <a:prstGeom prst="rect">
            <a:avLst/>
          </a:prstGeom>
          <a:noFill/>
          <a:ln/>
        </p:spPr>
        <p:txBody>
          <a:bodyPr wrap="square" lIns="0" tIns="0" rIns="0" bIns="0" rtlCol="0" anchor="ctr"/>
          <a:lstStyle/>
          <a:p>
            <a:pPr algn="ctr" indent="0" marL="0">
              <a:buNone/>
            </a:pPr>
            <a:r>
              <a:rPr lang="en-US" sz="850" b="1" dirty="0">
                <a:solidFill>
                  <a:srgbClr val="C8102E"/>
                </a:solidFill>
                <a:latin typeface="Montserrat" pitchFamily="34" charset="0"/>
                <a:ea typeface="Montserrat" pitchFamily="34" charset="-122"/>
                <a:cs typeface="Montserrat" pitchFamily="34" charset="-120"/>
              </a:rPr>
              <a:t>Off by default</a:t>
            </a:r>
            <a:endParaRPr lang="en-US" sz="850" dirty="0"/>
          </a:p>
        </p:txBody>
      </p:sp>
      <p:sp>
        <p:nvSpPr>
          <p:cNvPr id="31" name="Text 25"/>
          <p:cNvSpPr/>
          <p:nvPr/>
        </p:nvSpPr>
        <p:spPr>
          <a:xfrm>
            <a:off x="62423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Payment step-up runs a DaVinci flow</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SSO, Protect risk, MFA, Authorize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Falls back to the built-in OTP/MFA</a:t>
            </a:r>
            <a:endParaRPr lang="en-US" sz="1000" dirty="0"/>
          </a:p>
        </p:txBody>
      </p:sp>
      <p:sp>
        <p:nvSpPr>
          <p:cNvPr id="32" name="Shape 26"/>
          <p:cNvSpPr/>
          <p:nvPr/>
        </p:nvSpPr>
        <p:spPr>
          <a:xfrm>
            <a:off x="6242304" y="3575304"/>
            <a:ext cx="2298192" cy="0"/>
          </a:xfrm>
          <a:prstGeom prst="line">
            <a:avLst/>
          </a:prstGeom>
          <a:noFill/>
          <a:ln w="9525">
            <a:solidFill>
              <a:srgbClr val="D5DBE3"/>
            </a:solidFill>
            <a:prstDash val="solid"/>
          </a:ln>
        </p:spPr>
      </p:sp>
      <p:sp>
        <p:nvSpPr>
          <p:cNvPr id="33" name="Text 27"/>
          <p:cNvSpPr/>
          <p:nvPr/>
        </p:nvSpPr>
        <p:spPr>
          <a:xfrm>
            <a:off x="62423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/davinci-orchestration (flag off)</a:t>
            </a:r>
            <a:endParaRPr lang="en-US" sz="850" dirty="0"/>
          </a:p>
        </p:txBody>
      </p:sp>
      <p:sp>
        <p:nvSpPr>
          <p:cNvPr id="34" name="Shape 28"/>
          <p:cNvSpPr/>
          <p:nvPr/>
        </p:nvSpPr>
        <p:spPr>
          <a:xfrm>
            <a:off x="457200" y="4315968"/>
            <a:ext cx="8229600" cy="329184"/>
          </a:xfrm>
          <a:prstGeom prst="rect">
            <a:avLst/>
          </a:prstGeom>
          <a:solidFill>
            <a:srgbClr val="E8ECF2"/>
          </a:solidFill>
          <a:ln w="9525">
            <a:solidFill>
              <a:srgbClr val="D5DBE3"/>
            </a:solidFill>
            <a:prstDash val="solid"/>
          </a:ln>
        </p:spPr>
      </p:sp>
      <p:sp>
        <p:nvSpPr>
          <p:cNvPr id="35" name="Text 29"/>
          <p:cNvSpPr/>
          <p:nvPr/>
        </p:nvSpPr>
        <p:spPr>
          <a:xfrm>
            <a:off x="594360" y="4315968"/>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Verified Trust (UC37) can add a DaVinci-issued credential to agent handoffs; ADMIN10–12 list DaVinci flows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12  ·  PLATFORM EXTRAS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Beyond the demo flows: diagrams, secret rotation, theming, sessions and sign-in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457200" y="1481328"/>
            <a:ext cx="2590800" cy="1417320"/>
          </a:xfrm>
          <a:prstGeom prst="rect">
            <a:avLst/>
          </a:prstGeom>
          <a:solidFill>
            <a:srgbClr val="FFFFFF"/>
          </a:solidFill>
          <a:ln w="9525">
            <a:solidFill>
              <a:srgbClr val="D5DBE3"/>
            </a:solidFill>
            <a:prstDash val="solid"/>
          </a:ln>
        </p:spPr>
      </p:sp>
      <p:sp>
        <p:nvSpPr>
          <p:cNvPr id="8" name="Shape 5"/>
          <p:cNvSpPr/>
          <p:nvPr/>
        </p:nvSpPr>
        <p:spPr>
          <a:xfrm>
            <a:off x="585216" y="1591056"/>
            <a:ext cx="329184" cy="32918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74096" y="1679936"/>
            <a:ext cx="151425" cy="151425"/>
          </a:xfrm>
          <a:prstGeom prst="rect">
            <a:avLst/>
          </a:prstGeom>
        </p:spPr>
      </p:pic>
      <p:sp>
        <p:nvSpPr>
          <p:cNvPr id="10" name="Text 6"/>
          <p:cNvSpPr/>
          <p:nvPr/>
        </p:nvSpPr>
        <p:spPr>
          <a:xfrm>
            <a:off x="10058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Diagrams</a:t>
            </a:r>
            <a:endParaRPr lang="en-US" sz="1150" dirty="0"/>
          </a:p>
        </p:txBody>
      </p:sp>
      <p:sp>
        <p:nvSpPr>
          <p:cNvPr id="11" name="Text 7"/>
          <p:cNvSpPr/>
          <p:nvPr/>
        </p:nvSpPr>
        <p:spPr>
          <a:xfrm>
            <a:off x="5852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Live sequence diagram of each run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Lane names repeat at the foot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Architecture pages under /architecture</a:t>
            </a:r>
            <a:endParaRPr lang="en-US" sz="950" dirty="0"/>
          </a:p>
        </p:txBody>
      </p:sp>
      <p:sp>
        <p:nvSpPr>
          <p:cNvPr id="12" name="Shape 8"/>
          <p:cNvSpPr/>
          <p:nvPr/>
        </p:nvSpPr>
        <p:spPr>
          <a:xfrm>
            <a:off x="585216" y="2606040"/>
            <a:ext cx="2334768" cy="0"/>
          </a:xfrm>
          <a:prstGeom prst="line">
            <a:avLst/>
          </a:prstGeom>
          <a:noFill/>
          <a:ln w="9525">
            <a:solidFill>
              <a:srgbClr val="D5DBE3"/>
            </a:solidFill>
            <a:prstDash val="solid"/>
          </a:ln>
        </p:spPr>
      </p:sp>
      <p:sp>
        <p:nvSpPr>
          <p:cNvPr id="13" name="Text 9"/>
          <p:cNvSpPr/>
          <p:nvPr/>
        </p:nvSpPr>
        <p:spPr>
          <a:xfrm>
            <a:off x="5852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/transaction-trace · token-flow page</a:t>
            </a:r>
            <a:endParaRPr lang="en-US" sz="850" dirty="0"/>
          </a:p>
        </p:txBody>
      </p:sp>
      <p:sp>
        <p:nvSpPr>
          <p:cNvPr id="14" name="Shape 10"/>
          <p:cNvSpPr/>
          <p:nvPr/>
        </p:nvSpPr>
        <p:spPr>
          <a:xfrm>
            <a:off x="3276600" y="1481328"/>
            <a:ext cx="2590800" cy="1417320"/>
          </a:xfrm>
          <a:prstGeom prst="rect">
            <a:avLst/>
          </a:prstGeom>
          <a:solidFill>
            <a:srgbClr val="FFFFFF"/>
          </a:solidFill>
          <a:ln w="9525">
            <a:solidFill>
              <a:srgbClr val="D5DBE3"/>
            </a:solidFill>
            <a:prstDash val="solid"/>
          </a:ln>
        </p:spPr>
      </p:sp>
      <p:sp>
        <p:nvSpPr>
          <p:cNvPr id="15" name="Shape 11"/>
          <p:cNvSpPr/>
          <p:nvPr/>
        </p:nvSpPr>
        <p:spPr>
          <a:xfrm>
            <a:off x="3404616" y="1591056"/>
            <a:ext cx="329184" cy="32918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3493496" y="1679936"/>
            <a:ext cx="151425" cy="151425"/>
          </a:xfrm>
          <a:prstGeom prst="rect">
            <a:avLst/>
          </a:prstGeom>
        </p:spPr>
      </p:pic>
      <p:sp>
        <p:nvSpPr>
          <p:cNvPr id="17" name="Text 12"/>
          <p:cNvSpPr/>
          <p:nvPr/>
        </p:nvSpPr>
        <p:spPr>
          <a:xfrm>
            <a:off x="38252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Secret rotation</a:t>
            </a:r>
            <a:endParaRPr lang="en-US" sz="1150" dirty="0"/>
          </a:p>
        </p:txBody>
      </p:sp>
      <p:sp>
        <p:nvSpPr>
          <p:cNvPr id="18" name="Text 13"/>
          <p:cNvSpPr/>
          <p:nvPr/>
        </p:nvSpPr>
        <p:spPr>
          <a:xfrm>
            <a:off x="34046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/secret-rotation regenerates a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Writes the vault and .env</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Old secret dies at once, no overlap</a:t>
            </a:r>
            <a:endParaRPr lang="en-US" sz="950" dirty="0"/>
          </a:p>
        </p:txBody>
      </p:sp>
      <p:sp>
        <p:nvSpPr>
          <p:cNvPr id="19" name="Shape 14"/>
          <p:cNvSpPr/>
          <p:nvPr/>
        </p:nvSpPr>
        <p:spPr>
          <a:xfrm>
            <a:off x="3404616" y="2606040"/>
            <a:ext cx="2334768" cy="0"/>
          </a:xfrm>
          <a:prstGeom prst="line">
            <a:avLst/>
          </a:prstGeom>
          <a:noFill/>
          <a:ln w="9525">
            <a:solidFill>
              <a:srgbClr val="D5DBE3"/>
            </a:solidFill>
            <a:prstDash val="solid"/>
          </a:ln>
        </p:spPr>
      </p:sp>
      <p:sp>
        <p:nvSpPr>
          <p:cNvPr id="20" name="Text 15"/>
          <p:cNvSpPr/>
          <p:nvPr/>
        </p:nvSpPr>
        <p:spPr>
          <a:xfrm>
            <a:off x="3404616" y="2633472"/>
            <a:ext cx="2334768" cy="201168"/>
          </a:xfrm>
          <a:prstGeom prst="rect">
            <a:avLst/>
          </a:prstGeom>
          <a:noFill/>
          <a:ln/>
        </p:spPr>
        <p:txBody>
          <a:bodyPr wrap="square" lIns="0" tIns="0" rIns="0" bIns="0" rtlCol="0" anchor="ctr"/>
          <a:lstStyle/>
          <a:p>
            <a:pPr indent="0" marL="0">
              <a:buNone/>
            </a:pPr>
            <a:r>
              <a:rPr lang="en-US" sz="850" b="1" dirty="0">
                <a:solidFill>
                  <a:srgbClr val="C8102E"/>
                </a:solidFill>
                <a:latin typeface="Calibri" pitchFamily="34" charset="0"/>
                <a:ea typeface="Calibri" pitchFamily="34" charset="-122"/>
                <a:cs typeface="Calibri" pitchFamily="34" charset="-120"/>
              </a:rPr>
              <a:t>Never rotate the PingOne Privilege app</a:t>
            </a:r>
            <a:endParaRPr lang="en-US" sz="850" dirty="0"/>
          </a:p>
        </p:txBody>
      </p:sp>
      <p:sp>
        <p:nvSpPr>
          <p:cNvPr id="21" name="Shape 16"/>
          <p:cNvSpPr/>
          <p:nvPr/>
        </p:nvSpPr>
        <p:spPr>
          <a:xfrm>
            <a:off x="6096000" y="1481328"/>
            <a:ext cx="2590800" cy="1417320"/>
          </a:xfrm>
          <a:prstGeom prst="rect">
            <a:avLst/>
          </a:prstGeom>
          <a:solidFill>
            <a:srgbClr val="FFFFFF"/>
          </a:solidFill>
          <a:ln w="9525">
            <a:solidFill>
              <a:srgbClr val="D5DBE3"/>
            </a:solidFill>
            <a:prstDash val="solid"/>
          </a:ln>
        </p:spPr>
      </p:sp>
      <p:sp>
        <p:nvSpPr>
          <p:cNvPr id="22" name="Shape 17"/>
          <p:cNvSpPr/>
          <p:nvPr/>
        </p:nvSpPr>
        <p:spPr>
          <a:xfrm>
            <a:off x="6224016" y="1591056"/>
            <a:ext cx="329184" cy="329184"/>
          </a:xfrm>
          <a:prstGeom prst="ellipse">
            <a:avLst/>
          </a:prstGeom>
          <a:solidFill>
            <a:srgbClr val="0B1A2E"/>
          </a:solidFill>
          <a:ln/>
        </p:spPr>
      </p:sp>
      <p:pic>
        <p:nvPicPr>
          <p:cNvPr id="23" name="Image 2" descr="preencoded.png">    </p:cNvPr>
          <p:cNvPicPr>
            <a:picLocks noChangeAspect="1"/>
          </p:cNvPicPr>
          <p:nvPr/>
        </p:nvPicPr>
        <p:blipFill>
          <a:blip r:embed="rId3"/>
          <a:stretch>
            <a:fillRect/>
          </a:stretch>
        </p:blipFill>
        <p:spPr>
          <a:xfrm>
            <a:off x="6312896" y="1679936"/>
            <a:ext cx="151425" cy="151425"/>
          </a:xfrm>
          <a:prstGeom prst="rect">
            <a:avLst/>
          </a:prstGeom>
        </p:spPr>
      </p:pic>
      <p:sp>
        <p:nvSpPr>
          <p:cNvPr id="24" name="Text 18"/>
          <p:cNvSpPr/>
          <p:nvPr/>
        </p:nvSpPr>
        <p:spPr>
          <a:xfrm>
            <a:off x="66446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Light and dark mode</a:t>
            </a:r>
            <a:endParaRPr lang="en-US" sz="1150" dirty="0"/>
          </a:p>
        </p:txBody>
      </p:sp>
      <p:sp>
        <p:nvSpPr>
          <p:cNvPr id="25" name="Text 19"/>
          <p:cNvSpPr/>
          <p:nvPr/>
        </p:nvSpPr>
        <p:spPr>
          <a:xfrm>
            <a:off x="62240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App-wide toggle, saved per browser</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Theme tokens; ignores the OS setting</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Ratchet test stops new light-only CSS</a:t>
            </a:r>
            <a:endParaRPr lang="en-US" sz="950" dirty="0"/>
          </a:p>
        </p:txBody>
      </p:sp>
      <p:sp>
        <p:nvSpPr>
          <p:cNvPr id="26" name="Shape 20"/>
          <p:cNvSpPr/>
          <p:nvPr/>
        </p:nvSpPr>
        <p:spPr>
          <a:xfrm>
            <a:off x="6224016" y="2606040"/>
            <a:ext cx="2334768" cy="0"/>
          </a:xfrm>
          <a:prstGeom prst="line">
            <a:avLst/>
          </a:prstGeom>
          <a:noFill/>
          <a:ln w="9525">
            <a:solidFill>
              <a:srgbClr val="D5DBE3"/>
            </a:solidFill>
            <a:prstDash val="solid"/>
          </a:ln>
        </p:spPr>
      </p:sp>
      <p:sp>
        <p:nvSpPr>
          <p:cNvPr id="27" name="Text 21"/>
          <p:cNvSpPr/>
          <p:nvPr/>
        </p:nvSpPr>
        <p:spPr>
          <a:xfrm>
            <a:off x="62240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Rules: THEMING.md (H1–H3)</a:t>
            </a:r>
            <a:endParaRPr lang="en-US" sz="850" dirty="0"/>
          </a:p>
        </p:txBody>
      </p:sp>
      <p:sp>
        <p:nvSpPr>
          <p:cNvPr id="28" name="Shape 22"/>
          <p:cNvSpPr/>
          <p:nvPr/>
        </p:nvSpPr>
        <p:spPr>
          <a:xfrm>
            <a:off x="457200" y="3081528"/>
            <a:ext cx="2590800" cy="1417320"/>
          </a:xfrm>
          <a:prstGeom prst="rect">
            <a:avLst/>
          </a:prstGeom>
          <a:solidFill>
            <a:srgbClr val="FFFFFF"/>
          </a:solidFill>
          <a:ln w="9525">
            <a:solidFill>
              <a:srgbClr val="D5DBE3"/>
            </a:solidFill>
            <a:prstDash val="solid"/>
          </a:ln>
        </p:spPr>
      </p:sp>
      <p:sp>
        <p:nvSpPr>
          <p:cNvPr id="29" name="Shape 23"/>
          <p:cNvSpPr/>
          <p:nvPr/>
        </p:nvSpPr>
        <p:spPr>
          <a:xfrm>
            <a:off x="585216" y="3191256"/>
            <a:ext cx="329184" cy="329184"/>
          </a:xfrm>
          <a:prstGeom prst="ellipse">
            <a:avLst/>
          </a:prstGeom>
          <a:solidFill>
            <a:srgbClr val="0B1A2E"/>
          </a:solidFill>
          <a:ln/>
        </p:spPr>
      </p:sp>
      <p:pic>
        <p:nvPicPr>
          <p:cNvPr id="30" name="Image 3" descr="preencoded.png">    </p:cNvPr>
          <p:cNvPicPr>
            <a:picLocks noChangeAspect="1"/>
          </p:cNvPicPr>
          <p:nvPr/>
        </p:nvPicPr>
        <p:blipFill>
          <a:blip r:embed="rId4"/>
          <a:stretch>
            <a:fillRect/>
          </a:stretch>
        </p:blipFill>
        <p:spPr>
          <a:xfrm>
            <a:off x="674096" y="3280136"/>
            <a:ext cx="151425" cy="151425"/>
          </a:xfrm>
          <a:prstGeom prst="rect">
            <a:avLst/>
          </a:prstGeom>
        </p:spPr>
      </p:pic>
      <p:sp>
        <p:nvSpPr>
          <p:cNvPr id="31" name="Text 24"/>
          <p:cNvSpPr/>
          <p:nvPr/>
        </p:nvSpPr>
        <p:spPr>
          <a:xfrm>
            <a:off x="10058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Sessions</a:t>
            </a:r>
            <a:endParaRPr lang="en-US" sz="1150" dirty="0"/>
          </a:p>
        </p:txBody>
      </p:sp>
      <p:sp>
        <p:nvSpPr>
          <p:cNvPr id="32" name="Text 25"/>
          <p:cNvSpPr/>
          <p:nvPr/>
        </p:nvSpPr>
        <p:spPr>
          <a:xfrm>
            <a:off x="5852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Browser holds an httpOnly cookie only</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Tokens refresh near expiry, in the BFF</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Logout revokes tokens and PingOne SSO</a:t>
            </a:r>
            <a:endParaRPr lang="en-US" sz="950" dirty="0"/>
          </a:p>
        </p:txBody>
      </p:sp>
      <p:sp>
        <p:nvSpPr>
          <p:cNvPr id="33" name="Shape 26"/>
          <p:cNvSpPr/>
          <p:nvPr/>
        </p:nvSpPr>
        <p:spPr>
          <a:xfrm>
            <a:off x="585216" y="4206240"/>
            <a:ext cx="2334768" cy="0"/>
          </a:xfrm>
          <a:prstGeom prst="line">
            <a:avLst/>
          </a:prstGeom>
          <a:noFill/>
          <a:ln w="9525">
            <a:solidFill>
              <a:srgbClr val="D5DBE3"/>
            </a:solidFill>
            <a:prstDash val="solid"/>
          </a:ln>
        </p:spPr>
      </p:sp>
      <p:sp>
        <p:nvSpPr>
          <p:cNvPr id="34" name="Text 27"/>
          <p:cNvSpPr/>
          <p:nvPr/>
        </p:nvSpPr>
        <p:spPr>
          <a:xfrm>
            <a:off x="5852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Kill switch: /ai-control-plane</a:t>
            </a:r>
            <a:endParaRPr lang="en-US" sz="850" dirty="0"/>
          </a:p>
        </p:txBody>
      </p:sp>
      <p:sp>
        <p:nvSpPr>
          <p:cNvPr id="35" name="Shape 28"/>
          <p:cNvSpPr/>
          <p:nvPr/>
        </p:nvSpPr>
        <p:spPr>
          <a:xfrm>
            <a:off x="3276600" y="3081528"/>
            <a:ext cx="2590800" cy="1417320"/>
          </a:xfrm>
          <a:prstGeom prst="rect">
            <a:avLst/>
          </a:prstGeom>
          <a:solidFill>
            <a:srgbClr val="FFFFFF"/>
          </a:solidFill>
          <a:ln w="9525">
            <a:solidFill>
              <a:srgbClr val="D5DBE3"/>
            </a:solidFill>
            <a:prstDash val="solid"/>
          </a:ln>
        </p:spPr>
      </p:sp>
      <p:sp>
        <p:nvSpPr>
          <p:cNvPr id="36" name="Shape 29"/>
          <p:cNvSpPr/>
          <p:nvPr/>
        </p:nvSpPr>
        <p:spPr>
          <a:xfrm>
            <a:off x="3404616" y="3191256"/>
            <a:ext cx="329184" cy="329184"/>
          </a:xfrm>
          <a:prstGeom prst="ellipse">
            <a:avLst/>
          </a:prstGeom>
          <a:solidFill>
            <a:srgbClr val="0B1A2E"/>
          </a:solidFill>
          <a:ln/>
        </p:spPr>
      </p:sp>
      <p:pic>
        <p:nvPicPr>
          <p:cNvPr id="37" name="Image 4" descr="preencoded.png">    </p:cNvPr>
          <p:cNvPicPr>
            <a:picLocks noChangeAspect="1"/>
          </p:cNvPicPr>
          <p:nvPr/>
        </p:nvPicPr>
        <p:blipFill>
          <a:blip r:embed="rId5"/>
          <a:stretch>
            <a:fillRect/>
          </a:stretch>
        </p:blipFill>
        <p:spPr>
          <a:xfrm>
            <a:off x="3493496" y="3280136"/>
            <a:ext cx="151425" cy="151425"/>
          </a:xfrm>
          <a:prstGeom prst="rect">
            <a:avLst/>
          </a:prstGeom>
        </p:spPr>
      </p:pic>
      <p:sp>
        <p:nvSpPr>
          <p:cNvPr id="38" name="Text 30"/>
          <p:cNvSpPr/>
          <p:nvPr/>
        </p:nvSpPr>
        <p:spPr>
          <a:xfrm>
            <a:off x="38252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User login</a:t>
            </a:r>
            <a:endParaRPr lang="en-US" sz="1150" dirty="0"/>
          </a:p>
        </p:txBody>
      </p:sp>
      <p:sp>
        <p:nvSpPr>
          <p:cNvPr id="39" name="Text 31"/>
          <p:cNvSpPr/>
          <p:nvPr/>
        </p:nvSpPr>
        <p:spPr>
          <a:xfrm>
            <a:off x="34046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PKCE-only public client, no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Passkeys, plus MFA step-up on 428</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Widget, DaVinci SDK and OIDC SDK pages</a:t>
            </a:r>
            <a:endParaRPr lang="en-US" sz="950" dirty="0"/>
          </a:p>
        </p:txBody>
      </p:sp>
      <p:sp>
        <p:nvSpPr>
          <p:cNvPr id="40" name="Shape 32"/>
          <p:cNvSpPr/>
          <p:nvPr/>
        </p:nvSpPr>
        <p:spPr>
          <a:xfrm>
            <a:off x="3404616" y="4206240"/>
            <a:ext cx="2334768" cy="0"/>
          </a:xfrm>
          <a:prstGeom prst="line">
            <a:avLst/>
          </a:prstGeom>
          <a:noFill/>
          <a:ln w="9525">
            <a:solidFill>
              <a:srgbClr val="D5DBE3"/>
            </a:solidFill>
            <a:prstDash val="solid"/>
          </a:ln>
        </p:spPr>
      </p:sp>
      <p:sp>
        <p:nvSpPr>
          <p:cNvPr id="41" name="Text 33"/>
          <p:cNvSpPr/>
          <p:nvPr/>
        </p:nvSpPr>
        <p:spPr>
          <a:xfrm>
            <a:off x="34046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Only on local.ping-devops.com:4000</a:t>
            </a:r>
            <a:endParaRPr lang="en-US" sz="850" dirty="0"/>
          </a:p>
        </p:txBody>
      </p:sp>
      <p:sp>
        <p:nvSpPr>
          <p:cNvPr id="42" name="Shape 34"/>
          <p:cNvSpPr/>
          <p:nvPr/>
        </p:nvSpPr>
        <p:spPr>
          <a:xfrm>
            <a:off x="6096000" y="3081528"/>
            <a:ext cx="2590800" cy="1417320"/>
          </a:xfrm>
          <a:prstGeom prst="rect">
            <a:avLst/>
          </a:prstGeom>
          <a:solidFill>
            <a:srgbClr val="FFFFFF"/>
          </a:solidFill>
          <a:ln w="9525">
            <a:solidFill>
              <a:srgbClr val="D5DBE3"/>
            </a:solidFill>
            <a:prstDash val="solid"/>
          </a:ln>
        </p:spPr>
      </p:sp>
      <p:sp>
        <p:nvSpPr>
          <p:cNvPr id="43" name="Shape 35"/>
          <p:cNvSpPr/>
          <p:nvPr/>
        </p:nvSpPr>
        <p:spPr>
          <a:xfrm>
            <a:off x="6224016" y="3191256"/>
            <a:ext cx="329184" cy="329184"/>
          </a:xfrm>
          <a:prstGeom prst="ellipse">
            <a:avLst/>
          </a:prstGeom>
          <a:solidFill>
            <a:srgbClr val="0B1A2E"/>
          </a:solidFill>
          <a:ln/>
        </p:spPr>
      </p:sp>
      <p:pic>
        <p:nvPicPr>
          <p:cNvPr id="44" name="Image 5" descr="preencoded.png">    </p:cNvPr>
          <p:cNvPicPr>
            <a:picLocks noChangeAspect="1"/>
          </p:cNvPicPr>
          <p:nvPr/>
        </p:nvPicPr>
        <p:blipFill>
          <a:blip r:embed="rId6"/>
          <a:stretch>
            <a:fillRect/>
          </a:stretch>
        </p:blipFill>
        <p:spPr>
          <a:xfrm>
            <a:off x="6312896" y="3280136"/>
            <a:ext cx="151425" cy="151425"/>
          </a:xfrm>
          <a:prstGeom prst="rect">
            <a:avLst/>
          </a:prstGeom>
        </p:spPr>
      </p:pic>
      <p:sp>
        <p:nvSpPr>
          <p:cNvPr id="45" name="Text 36"/>
          <p:cNvSpPr/>
          <p:nvPr/>
        </p:nvSpPr>
        <p:spPr>
          <a:xfrm>
            <a:off x="66446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Admin login</a:t>
            </a:r>
            <a:endParaRPr lang="en-US" sz="1150" dirty="0"/>
          </a:p>
        </p:txBody>
      </p:sp>
      <p:sp>
        <p:nvSpPr>
          <p:cNvPr id="46" name="Text 37"/>
          <p:cNvSpPr/>
          <p:nvPr/>
        </p:nvSpPr>
        <p:spPr>
          <a:xfrm>
            <a:off x="62240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Own app: Demo AI App - Admin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Admin role re-checked at every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Flags, config, audit, ADMIN steps</a:t>
            </a:r>
            <a:endParaRPr lang="en-US" sz="950" dirty="0"/>
          </a:p>
        </p:txBody>
      </p:sp>
      <p:sp>
        <p:nvSpPr>
          <p:cNvPr id="47" name="Shape 38"/>
          <p:cNvSpPr/>
          <p:nvPr/>
        </p:nvSpPr>
        <p:spPr>
          <a:xfrm>
            <a:off x="6224016" y="4206240"/>
            <a:ext cx="2334768" cy="0"/>
          </a:xfrm>
          <a:prstGeom prst="line">
            <a:avLst/>
          </a:prstGeom>
          <a:noFill/>
          <a:ln w="9525">
            <a:solidFill>
              <a:srgbClr val="D5DBE3"/>
            </a:solidFill>
            <a:prstDash val="solid"/>
          </a:ln>
        </p:spPr>
      </p:sp>
      <p:sp>
        <p:nvSpPr>
          <p:cNvPr id="48" name="Text 39"/>
          <p:cNvSpPr/>
          <p:nvPr/>
        </p:nvSpPr>
        <p:spPr>
          <a:xfrm>
            <a:off x="62240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Gates: auth-requirements.json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13  ·  VAULT AND OPEN SOURCE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Secrets sit in one encrypted vault, and the AI stack around it is mostly open source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15</a:t>
            </a:r>
            <a:endParaRPr lang="en-US" sz="900" dirty="0"/>
          </a:p>
        </p:txBody>
      </p:sp>
      <p:sp>
        <p:nvSpPr>
          <p:cNvPr id="7" name="Shape 4"/>
          <p:cNvSpPr/>
          <p:nvPr/>
        </p:nvSpPr>
        <p:spPr>
          <a:xfrm>
            <a:off x="457200" y="1481328"/>
            <a:ext cx="3886200" cy="3017520"/>
          </a:xfrm>
          <a:prstGeom prst="rect">
            <a:avLst/>
          </a:prstGeom>
          <a:solidFill>
            <a:srgbClr val="FFFFFF"/>
          </a:solidFill>
          <a:ln w="9525">
            <a:solidFill>
              <a:srgbClr val="D5DBE3"/>
            </a:solidFill>
            <a:prstDash val="solid"/>
          </a:ln>
        </p:spPr>
      </p:sp>
      <p:sp>
        <p:nvSpPr>
          <p:cNvPr id="8" name="Text 5"/>
          <p:cNvSpPr/>
          <p:nvPr/>
        </p:nvSpPr>
        <p:spPr>
          <a:xfrm>
            <a:off x="658368" y="1627632"/>
            <a:ext cx="3566160" cy="201168"/>
          </a:xfrm>
          <a:prstGeom prst="rect">
            <a:avLst/>
          </a:prstGeom>
          <a:noFill/>
          <a:ln/>
        </p:spPr>
        <p:txBody>
          <a:bodyPr wrap="square" lIns="0" tIns="0" rIns="0" bIns="0" rtlCol="0" anchor="t"/>
          <a:lstStyle/>
          <a:p>
            <a:pPr indent="0" marL="0">
              <a:buNone/>
            </a:pPr>
            <a:r>
              <a:rPr lang="en-US" sz="900" b="1" spc="200" kern="0" dirty="0">
                <a:solidFill>
                  <a:srgbClr val="4F5E71"/>
                </a:solidFill>
                <a:latin typeface="Montserrat" pitchFamily="34" charset="0"/>
                <a:ea typeface="Montserrat" pitchFamily="34" charset="-122"/>
                <a:cs typeface="Montserrat" pitchFamily="34" charset="-120"/>
              </a:rPr>
              <a:t>SECRETS VAULT</a:t>
            </a:r>
            <a:endParaRPr lang="en-US" sz="900" dirty="0"/>
          </a:p>
        </p:txBody>
      </p:sp>
      <p:sp>
        <p:nvSpPr>
          <p:cNvPr id="9" name="Shape 6"/>
          <p:cNvSpPr/>
          <p:nvPr/>
        </p:nvSpPr>
        <p:spPr>
          <a:xfrm>
            <a:off x="658368" y="1947672"/>
            <a:ext cx="201168" cy="201168"/>
          </a:xfrm>
          <a:prstGeom prst="ellipse">
            <a:avLst/>
          </a:prstGeom>
          <a:solidFill>
            <a:srgbClr val="C8102E"/>
          </a:solidFill>
          <a:ln/>
        </p:spPr>
      </p:sp>
      <p:sp>
        <p:nvSpPr>
          <p:cNvPr id="10" name="Text 7"/>
          <p:cNvSpPr/>
          <p:nvPr/>
        </p:nvSpPr>
        <p:spPr>
          <a:xfrm>
            <a:off x="658368" y="194767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1</a:t>
            </a:r>
            <a:endParaRPr lang="en-US" sz="800" dirty="0"/>
          </a:p>
        </p:txBody>
      </p:sp>
      <p:sp>
        <p:nvSpPr>
          <p:cNvPr id="11" name="Text 8"/>
          <p:cNvSpPr/>
          <p:nvPr/>
        </p:nvSpPr>
        <p:spPr>
          <a:xfrm>
            <a:off x="950976" y="1920240"/>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Store</a:t>
            </a:r>
            <a:endParaRPr lang="en-US" sz="1000" dirty="0"/>
          </a:p>
        </p:txBody>
      </p:sp>
      <p:sp>
        <p:nvSpPr>
          <p:cNvPr id="12" name="Text 9"/>
          <p:cNvSpPr/>
          <p:nvPr/>
        </p:nvSpPr>
        <p:spPr>
          <a:xfrm>
            <a:off x="1664208" y="1920240"/>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vault:set writes secrets.vault</a:t>
            </a:r>
            <a:endParaRPr lang="en-US" sz="1000" dirty="0"/>
          </a:p>
        </p:txBody>
      </p:sp>
      <p:sp>
        <p:nvSpPr>
          <p:cNvPr id="13" name="Shape 10"/>
          <p:cNvSpPr/>
          <p:nvPr/>
        </p:nvSpPr>
        <p:spPr>
          <a:xfrm>
            <a:off x="658368" y="2286000"/>
            <a:ext cx="201168" cy="201168"/>
          </a:xfrm>
          <a:prstGeom prst="ellipse">
            <a:avLst/>
          </a:prstGeom>
          <a:solidFill>
            <a:srgbClr val="C8102E"/>
          </a:solidFill>
          <a:ln/>
        </p:spPr>
      </p:sp>
      <p:sp>
        <p:nvSpPr>
          <p:cNvPr id="14" name="Text 11"/>
          <p:cNvSpPr/>
          <p:nvPr/>
        </p:nvSpPr>
        <p:spPr>
          <a:xfrm>
            <a:off x="658368" y="228600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2</a:t>
            </a:r>
            <a:endParaRPr lang="en-US" sz="800" dirty="0"/>
          </a:p>
        </p:txBody>
      </p:sp>
      <p:sp>
        <p:nvSpPr>
          <p:cNvPr id="15" name="Text 12"/>
          <p:cNvSpPr/>
          <p:nvPr/>
        </p:nvSpPr>
        <p:spPr>
          <a:xfrm>
            <a:off x="950976" y="2258568"/>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Unlock</a:t>
            </a:r>
            <a:endParaRPr lang="en-US" sz="1000" dirty="0"/>
          </a:p>
        </p:txBody>
      </p:sp>
      <p:sp>
        <p:nvSpPr>
          <p:cNvPr id="16" name="Text 13"/>
          <p:cNvSpPr/>
          <p:nvPr/>
        </p:nvSpPr>
        <p:spPr>
          <a:xfrm>
            <a:off x="1664208" y="2258568"/>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VAULT_PASSWORD from the BFF .env</a:t>
            </a:r>
            <a:endParaRPr lang="en-US" sz="1000" dirty="0"/>
          </a:p>
        </p:txBody>
      </p:sp>
      <p:sp>
        <p:nvSpPr>
          <p:cNvPr id="17" name="Shape 14"/>
          <p:cNvSpPr/>
          <p:nvPr/>
        </p:nvSpPr>
        <p:spPr>
          <a:xfrm>
            <a:off x="658368" y="2624328"/>
            <a:ext cx="201168" cy="201168"/>
          </a:xfrm>
          <a:prstGeom prst="ellipse">
            <a:avLst/>
          </a:prstGeom>
          <a:solidFill>
            <a:srgbClr val="C8102E"/>
          </a:solidFill>
          <a:ln/>
        </p:spPr>
      </p:sp>
      <p:sp>
        <p:nvSpPr>
          <p:cNvPr id="18" name="Text 15"/>
          <p:cNvSpPr/>
          <p:nvPr/>
        </p:nvSpPr>
        <p:spPr>
          <a:xfrm>
            <a:off x="658368" y="262432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3</a:t>
            </a:r>
            <a:endParaRPr lang="en-US" sz="800" dirty="0"/>
          </a:p>
        </p:txBody>
      </p:sp>
      <p:sp>
        <p:nvSpPr>
          <p:cNvPr id="19" name="Text 16"/>
          <p:cNvSpPr/>
          <p:nvPr/>
        </p:nvSpPr>
        <p:spPr>
          <a:xfrm>
            <a:off x="950976" y="2596896"/>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Boot</a:t>
            </a:r>
            <a:endParaRPr lang="en-US" sz="1000" dirty="0"/>
          </a:p>
        </p:txBody>
      </p:sp>
      <p:sp>
        <p:nvSpPr>
          <p:cNvPr id="20" name="Text 17"/>
          <p:cNvSpPr/>
          <p:nvPr/>
        </p:nvSpPr>
        <p:spPr>
          <a:xfrm>
            <a:off x="1664208" y="2596896"/>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loaded into memory, password dropped</a:t>
            </a:r>
            <a:endParaRPr lang="en-US" sz="1000" dirty="0"/>
          </a:p>
        </p:txBody>
      </p:sp>
      <p:sp>
        <p:nvSpPr>
          <p:cNvPr id="21" name="Shape 18"/>
          <p:cNvSpPr/>
          <p:nvPr/>
        </p:nvSpPr>
        <p:spPr>
          <a:xfrm>
            <a:off x="658368" y="2962656"/>
            <a:ext cx="201168" cy="201168"/>
          </a:xfrm>
          <a:prstGeom prst="ellipse">
            <a:avLst/>
          </a:prstGeom>
          <a:solidFill>
            <a:srgbClr val="C8102E"/>
          </a:solidFill>
          <a:ln/>
        </p:spPr>
      </p:sp>
      <p:sp>
        <p:nvSpPr>
          <p:cNvPr id="22" name="Text 19"/>
          <p:cNvSpPr/>
          <p:nvPr/>
        </p:nvSpPr>
        <p:spPr>
          <a:xfrm>
            <a:off x="658368" y="296265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4</a:t>
            </a:r>
            <a:endParaRPr lang="en-US" sz="800" dirty="0"/>
          </a:p>
        </p:txBody>
      </p:sp>
      <p:sp>
        <p:nvSpPr>
          <p:cNvPr id="23" name="Text 20"/>
          <p:cNvSpPr/>
          <p:nvPr/>
        </p:nvSpPr>
        <p:spPr>
          <a:xfrm>
            <a:off x="950976" y="2935224"/>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Resolve</a:t>
            </a:r>
            <a:endParaRPr lang="en-US" sz="1000" dirty="0"/>
          </a:p>
        </p:txBody>
      </p:sp>
      <p:sp>
        <p:nvSpPr>
          <p:cNvPr id="24" name="Text 21"/>
          <p:cNvSpPr/>
          <p:nvPr/>
        </p:nvSpPr>
        <p:spPr>
          <a:xfrm>
            <a:off x="1664208" y="2935224"/>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.env wins over the vault</a:t>
            </a:r>
            <a:endParaRPr lang="en-US" sz="1000" dirty="0"/>
          </a:p>
        </p:txBody>
      </p:sp>
      <p:sp>
        <p:nvSpPr>
          <p:cNvPr id="25" name="Shape 22"/>
          <p:cNvSpPr/>
          <p:nvPr/>
        </p:nvSpPr>
        <p:spPr>
          <a:xfrm>
            <a:off x="658368" y="3300984"/>
            <a:ext cx="201168" cy="201168"/>
          </a:xfrm>
          <a:prstGeom prst="ellipse">
            <a:avLst/>
          </a:prstGeom>
          <a:solidFill>
            <a:srgbClr val="C8102E"/>
          </a:solidFill>
          <a:ln/>
        </p:spPr>
      </p:sp>
      <p:sp>
        <p:nvSpPr>
          <p:cNvPr id="26" name="Text 23"/>
          <p:cNvSpPr/>
          <p:nvPr/>
        </p:nvSpPr>
        <p:spPr>
          <a:xfrm>
            <a:off x="658368" y="33009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5</a:t>
            </a:r>
            <a:endParaRPr lang="en-US" sz="800" dirty="0"/>
          </a:p>
        </p:txBody>
      </p:sp>
      <p:sp>
        <p:nvSpPr>
          <p:cNvPr id="27" name="Text 24"/>
          <p:cNvSpPr/>
          <p:nvPr/>
        </p:nvSpPr>
        <p:spPr>
          <a:xfrm>
            <a:off x="950976" y="3273552"/>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Fan out</a:t>
            </a:r>
            <a:endParaRPr lang="en-US" sz="1000" dirty="0"/>
          </a:p>
        </p:txBody>
      </p:sp>
      <p:sp>
        <p:nvSpPr>
          <p:cNvPr id="28" name="Text 25"/>
          <p:cNvSpPr/>
          <p:nvPr/>
        </p:nvSpPr>
        <p:spPr>
          <a:xfrm>
            <a:off x="1664208" y="3273552"/>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service .env files and k8s secrets</a:t>
            </a:r>
            <a:endParaRPr lang="en-US" sz="1000" dirty="0"/>
          </a:p>
        </p:txBody>
      </p:sp>
      <p:sp>
        <p:nvSpPr>
          <p:cNvPr id="29" name="Shape 26"/>
          <p:cNvSpPr/>
          <p:nvPr/>
        </p:nvSpPr>
        <p:spPr>
          <a:xfrm>
            <a:off x="658368" y="3639312"/>
            <a:ext cx="201168" cy="201168"/>
          </a:xfrm>
          <a:prstGeom prst="ellipse">
            <a:avLst/>
          </a:prstGeom>
          <a:solidFill>
            <a:srgbClr val="C8102E"/>
          </a:solidFill>
          <a:ln/>
        </p:spPr>
      </p:sp>
      <p:sp>
        <p:nvSpPr>
          <p:cNvPr id="30" name="Text 27"/>
          <p:cNvSpPr/>
          <p:nvPr/>
        </p:nvSpPr>
        <p:spPr>
          <a:xfrm>
            <a:off x="658368" y="363931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6</a:t>
            </a:r>
            <a:endParaRPr lang="en-US" sz="800" dirty="0"/>
          </a:p>
        </p:txBody>
      </p:sp>
      <p:sp>
        <p:nvSpPr>
          <p:cNvPr id="31" name="Text 28"/>
          <p:cNvSpPr/>
          <p:nvPr/>
        </p:nvSpPr>
        <p:spPr>
          <a:xfrm>
            <a:off x="950976" y="3611880"/>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Rotate</a:t>
            </a:r>
            <a:endParaRPr lang="en-US" sz="1000" dirty="0"/>
          </a:p>
        </p:txBody>
      </p:sp>
      <p:sp>
        <p:nvSpPr>
          <p:cNvPr id="32" name="Text 29"/>
          <p:cNvSpPr/>
          <p:nvPr/>
        </p:nvSpPr>
        <p:spPr>
          <a:xfrm>
            <a:off x="1664208" y="3611880"/>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/secret-rotation writes it back</a:t>
            </a:r>
            <a:endParaRPr lang="en-US" sz="1000" dirty="0"/>
          </a:p>
        </p:txBody>
      </p:sp>
      <p:sp>
        <p:nvSpPr>
          <p:cNvPr id="33" name="Shape 30"/>
          <p:cNvSpPr/>
          <p:nvPr/>
        </p:nvSpPr>
        <p:spPr>
          <a:xfrm>
            <a:off x="658368" y="4023360"/>
            <a:ext cx="3493008" cy="0"/>
          </a:xfrm>
          <a:prstGeom prst="line">
            <a:avLst/>
          </a:prstGeom>
          <a:noFill/>
          <a:ln w="9525">
            <a:solidFill>
              <a:srgbClr val="D5DBE3"/>
            </a:solidFill>
            <a:prstDash val="solid"/>
          </a:ln>
        </p:spPr>
      </p:sp>
      <p:sp>
        <p:nvSpPr>
          <p:cNvPr id="34" name="Text 31"/>
          <p:cNvSpPr/>
          <p:nvPr/>
        </p:nvSpPr>
        <p:spPr>
          <a:xfrm>
            <a:off x="658368" y="4078224"/>
            <a:ext cx="3566160" cy="27432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Argon2id + AES-256-GCM · homegrown · dotenvx is replacing it</a:t>
            </a:r>
            <a:endParaRPr lang="en-US" sz="900" dirty="0"/>
          </a:p>
        </p:txBody>
      </p:sp>
      <p:sp>
        <p:nvSpPr>
          <p:cNvPr id="35" name="Shape 32"/>
          <p:cNvSpPr/>
          <p:nvPr/>
        </p:nvSpPr>
        <p:spPr>
          <a:xfrm>
            <a:off x="4572000" y="1481328"/>
            <a:ext cx="4114800" cy="3017520"/>
          </a:xfrm>
          <a:prstGeom prst="rect">
            <a:avLst/>
          </a:prstGeom>
          <a:solidFill>
            <a:srgbClr val="FFFFFF"/>
          </a:solidFill>
          <a:ln w="9525">
            <a:solidFill>
              <a:srgbClr val="D5DBE3"/>
            </a:solidFill>
            <a:prstDash val="solid"/>
          </a:ln>
        </p:spPr>
      </p:sp>
      <p:sp>
        <p:nvSpPr>
          <p:cNvPr id="36" name="Text 33"/>
          <p:cNvSpPr/>
          <p:nvPr/>
        </p:nvSpPr>
        <p:spPr>
          <a:xfrm>
            <a:off x="4773168" y="1627632"/>
            <a:ext cx="3749040" cy="201168"/>
          </a:xfrm>
          <a:prstGeom prst="rect">
            <a:avLst/>
          </a:prstGeom>
          <a:noFill/>
          <a:ln/>
        </p:spPr>
        <p:txBody>
          <a:bodyPr wrap="square" lIns="0" tIns="0" rIns="0" bIns="0" rtlCol="0" anchor="t"/>
          <a:lstStyle/>
          <a:p>
            <a:pPr indent="0" marL="0">
              <a:buNone/>
            </a:pPr>
            <a:r>
              <a:rPr lang="en-US" sz="900" b="1" spc="200" kern="0" dirty="0">
                <a:solidFill>
                  <a:srgbClr val="4F5E71"/>
                </a:solidFill>
                <a:latin typeface="Montserrat" pitchFamily="34" charset="0"/>
                <a:ea typeface="Montserrat" pitchFamily="34" charset="-122"/>
                <a:cs typeface="Montserrat" pitchFamily="34" charset="-120"/>
              </a:rPr>
              <a:t>OPEN SOURCE WE BUILD ON</a:t>
            </a:r>
            <a:endParaRPr lang="en-US" sz="900" dirty="0"/>
          </a:p>
        </p:txBody>
      </p:sp>
      <p:sp>
        <p:nvSpPr>
          <p:cNvPr id="37" name="Text 34"/>
          <p:cNvSpPr/>
          <p:nvPr/>
        </p:nvSpPr>
        <p:spPr>
          <a:xfrm>
            <a:off x="4773168" y="1920240"/>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Agents</a:t>
            </a:r>
            <a:endParaRPr lang="en-US" sz="950" dirty="0"/>
          </a:p>
        </p:txBody>
      </p:sp>
      <p:sp>
        <p:nvSpPr>
          <p:cNvPr id="38" name="Text 35"/>
          <p:cNvSpPr/>
          <p:nvPr/>
        </p:nvSpPr>
        <p:spPr>
          <a:xfrm>
            <a:off x="5824728" y="1920240"/>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LangGraph · OpenAI SDK · Pydantic AI · Mastra</a:t>
            </a:r>
            <a:endParaRPr lang="en-US" sz="900" dirty="0"/>
          </a:p>
        </p:txBody>
      </p:sp>
      <p:sp>
        <p:nvSpPr>
          <p:cNvPr id="39" name="Text 36"/>
          <p:cNvSpPr/>
          <p:nvPr/>
        </p:nvSpPr>
        <p:spPr>
          <a:xfrm>
            <a:off x="4773168" y="2258568"/>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Protocols</a:t>
            </a:r>
            <a:endParaRPr lang="en-US" sz="950" dirty="0"/>
          </a:p>
        </p:txBody>
      </p:sp>
      <p:sp>
        <p:nvSpPr>
          <p:cNvPr id="40" name="Text 37"/>
          <p:cNvSpPr/>
          <p:nvPr/>
        </p:nvSpPr>
        <p:spPr>
          <a:xfrm>
            <a:off x="5824728" y="2258568"/>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MCP SDK · FastMCP · A2A JS SDK · AG-UI</a:t>
            </a:r>
            <a:endParaRPr lang="en-US" sz="900" dirty="0"/>
          </a:p>
        </p:txBody>
      </p:sp>
      <p:sp>
        <p:nvSpPr>
          <p:cNvPr id="41" name="Text 38"/>
          <p:cNvSpPr/>
          <p:nvPr/>
        </p:nvSpPr>
        <p:spPr>
          <a:xfrm>
            <a:off x="4773168" y="2596896"/>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Models</a:t>
            </a:r>
            <a:endParaRPr lang="en-US" sz="950" dirty="0"/>
          </a:p>
        </p:txBody>
      </p:sp>
      <p:sp>
        <p:nvSpPr>
          <p:cNvPr id="42" name="Text 39"/>
          <p:cNvSpPr/>
          <p:nvPr/>
        </p:nvSpPr>
        <p:spPr>
          <a:xfrm>
            <a:off x="5824728" y="2596896"/>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llama.cpp · oMLX · Phi-4-mini · gpt-oss-20b · DeBERTa</a:t>
            </a:r>
            <a:endParaRPr lang="en-US" sz="900" dirty="0"/>
          </a:p>
        </p:txBody>
      </p:sp>
      <p:sp>
        <p:nvSpPr>
          <p:cNvPr id="43" name="Text 40"/>
          <p:cNvSpPr/>
          <p:nvPr/>
        </p:nvSpPr>
        <p:spPr>
          <a:xfrm>
            <a:off x="4773168" y="2935224"/>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Data</a:t>
            </a:r>
            <a:endParaRPr lang="en-US" sz="950" dirty="0"/>
          </a:p>
        </p:txBody>
      </p:sp>
      <p:sp>
        <p:nvSpPr>
          <p:cNvPr id="44" name="Text 41"/>
          <p:cNvSpPr/>
          <p:nvPr/>
        </p:nvSpPr>
        <p:spPr>
          <a:xfrm>
            <a:off x="5824728" y="2935224"/>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Weaviate · LMDB · SQLite · argon2 · dotenvx</a:t>
            </a:r>
            <a:endParaRPr lang="en-US" sz="900" dirty="0"/>
          </a:p>
        </p:txBody>
      </p:sp>
      <p:sp>
        <p:nvSpPr>
          <p:cNvPr id="45" name="Text 42"/>
          <p:cNvSpPr/>
          <p:nvPr/>
        </p:nvSpPr>
        <p:spPr>
          <a:xfrm>
            <a:off x="4773168" y="3273552"/>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Observability</a:t>
            </a:r>
            <a:endParaRPr lang="en-US" sz="950" dirty="0"/>
          </a:p>
        </p:txBody>
      </p:sp>
      <p:sp>
        <p:nvSpPr>
          <p:cNvPr id="46" name="Text 43"/>
          <p:cNvSpPr/>
          <p:nvPr/>
        </p:nvSpPr>
        <p:spPr>
          <a:xfrm>
            <a:off x="5824728" y="3273552"/>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Prometheus · Grafana · Loki · Jaeger · OpenTelemetry</a:t>
            </a:r>
            <a:endParaRPr lang="en-US" sz="900" dirty="0"/>
          </a:p>
        </p:txBody>
      </p:sp>
      <p:sp>
        <p:nvSpPr>
          <p:cNvPr id="47" name="Text 44"/>
          <p:cNvSpPr/>
          <p:nvPr/>
        </p:nvSpPr>
        <p:spPr>
          <a:xfrm>
            <a:off x="4773168" y="3611880"/>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Web and infra</a:t>
            </a:r>
            <a:endParaRPr lang="en-US" sz="950" dirty="0"/>
          </a:p>
        </p:txBody>
      </p:sp>
      <p:sp>
        <p:nvSpPr>
          <p:cNvPr id="48" name="Text 45"/>
          <p:cNvSpPr/>
          <p:nvPr/>
        </p:nvSpPr>
        <p:spPr>
          <a:xfrm>
            <a:off x="5824728" y="3611880"/>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React · Vite · Express · Kubernetes · Helm · LibreChat</a:t>
            </a:r>
            <a:endParaRPr lang="en-US" sz="900" dirty="0"/>
          </a:p>
        </p:txBody>
      </p:sp>
      <p:sp>
        <p:nvSpPr>
          <p:cNvPr id="49" name="Shape 46"/>
          <p:cNvSpPr/>
          <p:nvPr/>
        </p:nvSpPr>
        <p:spPr>
          <a:xfrm>
            <a:off x="4773168" y="4023360"/>
            <a:ext cx="3712464" cy="0"/>
          </a:xfrm>
          <a:prstGeom prst="line">
            <a:avLst/>
          </a:prstGeom>
          <a:noFill/>
          <a:ln w="9525">
            <a:solidFill>
              <a:srgbClr val="D5DBE3"/>
            </a:solidFill>
            <a:prstDash val="solid"/>
          </a:ln>
        </p:spPr>
      </p:sp>
      <p:sp>
        <p:nvSpPr>
          <p:cNvPr id="50" name="Text 47"/>
          <p:cNvSpPr/>
          <p:nvPr/>
        </p:nvSpPr>
        <p:spPr>
          <a:xfrm>
            <a:off x="4773168" y="4078224"/>
            <a:ext cx="3749040" cy="27432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Ours: llm-gateway · mcp-inspector · ai-gateway-client</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Gateway (PingGateway)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WHEN SOMETHING BREAKS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Something broke? Open this PingOne app first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840480"/>
                <a:gridCol w="4389120"/>
              </a:tblGrid>
              <a:tr h="265176">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You see</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PingOne app to open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Customer can't sign in, or loops back to sign-in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User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Admin can't sign 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Token exchange fails (invalid_client)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AI Agent Actor, then Token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Gateway rejects the agent's token (401, inactive)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Token Exchanger (the gateway introspects with it)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Tool fails after the gateway hop (401 or 502)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MCP Gateway; banking tools also Step 9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Authorize decisions fail, worker errors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Introspection Worker (the operator worker)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CIBA approval won't start (UC22)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 (the environment has no CIBA app)</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Agent-to-agent handoff 401, audience mismatch</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&lt;vertical&gt; Specialist Agent (11 apps)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Enterprise-managed MCP fails (UC25, UC39, UC40)</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Enterprise IdP Federation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DaVinci SDK login page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DaVinci SDK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Claude Code banking-gateway login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 Banking Gateway</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Grafana's PingOne sign-in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Grafana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1–12</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Demo Step, and the PingOne apps it touches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 · UC24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Public catalog access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Public tool, no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 · UC1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Delegated access with proof</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Two RFC 8693 exchanges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 · UC8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Human-in-the-loop consent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asks; one-time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 · UC7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Step-up required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then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 · UC14b</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verified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Pushed intent within the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(PAR)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6 · 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violation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Over the cap,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7 ·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theft / replay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Replayed token rejected at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 · UC6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Authorization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a $2,500 transfer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9 · UC2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Agent-to-agent delegation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Nested act chain, two hops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10 · UC2.5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orchestrator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Orchestrator picks a specialist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11 · 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protocol + identity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Agent Card, then the UC2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 signed out; UC2 apps signed 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12 · UC22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CIBA approval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approved by phone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Admin Login (CIBA)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13–24</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Attacks, third-party tools and the newest demos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13 · 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Read-only token, gateway 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14 · 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on ownership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15 · 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Confused-deputy actor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Rogue actor,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16 · UC11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Bad client at the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Wrong audience, gateway 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17 ·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Audit trail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 chip with evidence tags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18 · 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Rate-limit defense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Burst of calls, gateway 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19 · UC30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permitted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permits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 · UC31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21 · UC32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Live-reconfigure the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 setting read live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22 · UC40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Enterprise-managed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Demo IdP grant (ID-JAG mocked)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Enterprise IdP Federation +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23 · UC38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Personal Agent Concierge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MFA, registered agent,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24 · UC-TOOL1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Protected RAG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code:search exchange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PINGONE ADMIN STEPS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PingOne Admin steps call PingOne itself, not the bank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2011680"/>
                <a:gridCol w="2377440"/>
              </a:tblGrid>
              <a:tr h="38404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they do</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Hosted PingOne MCP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Fallback app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ADMIN1–4, 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Apps, users, populations, environment, services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 / get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Introspection Worker (Management API)</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ADMIN5–6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Search users or apps by name prefix</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Same tools, with a filter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Same as ADMIN1–2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ADMIN7–8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MCP tools; resources and scopes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Tool list; resources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Scopes via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ADMIN10–12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DaVinci flows, applications, connectors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listDavinci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Govern PingOne MCP with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Link to /privilege-mcp-client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Not traced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3611880"/>
            <a:ext cx="8229600" cy="274320"/>
          </a:xfrm>
          <a:prstGeom prst="rect">
            <a:avLst/>
          </a:prstGeom>
          <a:noFill/>
          <a:ln/>
        </p:spPr>
        <p:txBody>
          <a:bodyPr wrap="square" lIns="0" tIns="0" rIns="0" bIns="0" rtlCol="0" anchor="ctr"/>
          <a:lstStyle/>
          <a:p>
            <a:pPr indent="0" marL="0">
              <a:buNone/>
            </a:pPr>
            <a:r>
              <a:rPr lang="en-US" sz="1050" i="1" dirty="0">
                <a:solidFill>
                  <a:srgbClr val="4F5E71"/>
                </a:solidFill>
                <a:latin typeface="Calibri" pitchFamily="34" charset="0"/>
                <a:ea typeface="Calibri" pitchFamily="34" charset="-122"/>
                <a:cs typeface="Calibri" pitchFamily="34" charset="-120"/>
              </a:rPr>
              <a:t>Sign-in for every ADMIN step: PingOne's built-in pingone-mcp-server client, which isn't an app in this environment.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11430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Go deeper</a:t>
            </a:r>
            <a:endParaRPr lang="en-US" sz="3200" dirty="0"/>
          </a:p>
        </p:txBody>
      </p:sp>
      <p:sp>
        <p:nvSpPr>
          <p:cNvPr id="7" name="Shape 5"/>
          <p:cNvSpPr/>
          <p:nvPr/>
        </p:nvSpPr>
        <p:spPr>
          <a:xfrm>
            <a:off x="914400" y="2103120"/>
            <a:ext cx="457200" cy="457200"/>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37844" y="2226564"/>
            <a:ext cx="210312" cy="210312"/>
          </a:xfrm>
          <a:prstGeom prst="rect">
            <a:avLst/>
          </a:prstGeom>
        </p:spPr>
      </p:pic>
      <p:sp>
        <p:nvSpPr>
          <p:cNvPr id="9" name="Text 6"/>
          <p:cNvSpPr/>
          <p:nvPr/>
        </p:nvSpPr>
        <p:spPr>
          <a:xfrm>
            <a:off x="91440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Run it</a:t>
            </a:r>
            <a:endParaRPr lang="en-US" sz="1400" dirty="0"/>
          </a:p>
        </p:txBody>
      </p:sp>
      <p:sp>
        <p:nvSpPr>
          <p:cNvPr id="10" name="Text 7"/>
          <p:cNvSpPr/>
          <p:nvPr/>
        </p:nvSpPr>
        <p:spPr>
          <a:xfrm>
            <a:off x="91440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docs/FAQ.md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README.md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docs/user-guide/getting-started.md</a:t>
            </a:r>
            <a:endParaRPr lang="en-US" sz="1050" dirty="0"/>
          </a:p>
        </p:txBody>
      </p:sp>
      <p:sp>
        <p:nvSpPr>
          <p:cNvPr id="11" name="Shape 8"/>
          <p:cNvSpPr/>
          <p:nvPr/>
        </p:nvSpPr>
        <p:spPr>
          <a:xfrm>
            <a:off x="3520440" y="2103120"/>
            <a:ext cx="457200" cy="45720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643884" y="2226564"/>
            <a:ext cx="210312" cy="210312"/>
          </a:xfrm>
          <a:prstGeom prst="rect">
            <a:avLst/>
          </a:prstGeom>
        </p:spPr>
      </p:pic>
      <p:sp>
        <p:nvSpPr>
          <p:cNvPr id="13" name="Text 9"/>
          <p:cNvSpPr/>
          <p:nvPr/>
        </p:nvSpPr>
        <p:spPr>
          <a:xfrm>
            <a:off x="352044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Know the rules</a:t>
            </a:r>
            <a:endParaRPr lang="en-US" sz="1400" dirty="0"/>
          </a:p>
        </p:txBody>
      </p:sp>
      <p:sp>
        <p:nvSpPr>
          <p:cNvPr id="14" name="Text 10"/>
          <p:cNvSpPr/>
          <p:nvPr/>
        </p:nvSpPr>
        <p:spPr>
          <a:xfrm>
            <a:off x="352044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docs/ARCHITECTURE-TRUTHS.md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REGRESSION_PLAN.md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docs/use-cases/</a:t>
            </a:r>
            <a:endParaRPr lang="en-US" sz="1050" dirty="0"/>
          </a:p>
        </p:txBody>
      </p:sp>
      <p:sp>
        <p:nvSpPr>
          <p:cNvPr id="15" name="Shape 11"/>
          <p:cNvSpPr/>
          <p:nvPr/>
        </p:nvSpPr>
        <p:spPr>
          <a:xfrm>
            <a:off x="6126480" y="2103120"/>
            <a:ext cx="457200" cy="4572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6249924" y="2226564"/>
            <a:ext cx="210312" cy="210312"/>
          </a:xfrm>
          <a:prstGeom prst="rect">
            <a:avLst/>
          </a:prstGeom>
        </p:spPr>
      </p:pic>
      <p:sp>
        <p:nvSpPr>
          <p:cNvPr id="17" name="Text 12"/>
          <p:cNvSpPr/>
          <p:nvPr/>
        </p:nvSpPr>
        <p:spPr>
          <a:xfrm>
            <a:off x="612648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Take the tools</a:t>
            </a:r>
            <a:endParaRPr lang="en-US" sz="1400" dirty="0"/>
          </a:p>
        </p:txBody>
      </p:sp>
      <p:sp>
        <p:nvSpPr>
          <p:cNvPr id="18" name="Text 13"/>
          <p:cNvSpPr/>
          <p:nvPr/>
        </p:nvSpPr>
        <p:spPr>
          <a:xfrm>
            <a:off x="612648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github.com/curtismu7/ai-gateway-client</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github.com/curtismu7/mcp-inspector</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github.com/curtismu7/llm-gateway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2026-09-13T14:00:13Z</dcterms:created>
  <dcterms:modified xsi:type="dcterms:W3CDTF">2026-09-13T14:00:13Z</dcterms:modified>
</cp:coreProperties>
</file>